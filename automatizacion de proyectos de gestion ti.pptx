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 id="276" r:id="rId7"/>
    <p:sldId id="258" r:id="rId8"/>
    <p:sldId id="259" r:id="rId9"/>
    <p:sldId id="269" r:id="rId10"/>
    <p:sldId id="260" r:id="rId11"/>
    <p:sldId id="271" r:id="rId12"/>
    <p:sldId id="270" r:id="rId13"/>
    <p:sldId id="261" r:id="rId14"/>
    <p:sldId id="262" r:id="rId15"/>
    <p:sldId id="263" r:id="rId16"/>
    <p:sldId id="265" r:id="rId17"/>
    <p:sldId id="266" r:id="rId18"/>
    <p:sldId id="267" r:id="rId19"/>
    <p:sldId id="272" r:id="rId20"/>
    <p:sldId id="273" r:id="rId21"/>
    <p:sldId id="274" r:id="rId22"/>
    <p:sldId id="275" r:id="rId23"/>
  </p:sldIdLst>
  <p:sldSz cx="18288000" cy="10287000"/>
  <p:notesSz cx="6858000" cy="9144000"/>
  <p:embeddedFontLst>
    <p:embeddedFont>
      <p:font typeface="Raleway Bold" pitchFamily="2" charset="0"/>
      <p:regular r:id="rId24"/>
      <p:bold r:id="rId25"/>
    </p:embeddedFont>
    <p:embeddedFont>
      <p:font typeface="Raleway Light" pitchFamily="2" charset="0"/>
      <p:regular r:id="rId26"/>
      <p: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EAD37A-492D-0327-02A7-A6052D4D06FC}" v="132" dt="2025-09-05T20:19:35.591"/>
    <p1510:client id="{FA6BE63B-B74D-A1E9-A2AF-82AACA996650}" v="450" dt="2025-09-04T21:43:55.7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18" autoAdjust="0"/>
    <p:restoredTop sz="94622" autoAdjust="0"/>
  </p:normalViewPr>
  <p:slideViewPr>
    <p:cSldViewPr>
      <p:cViewPr varScale="1">
        <p:scale>
          <a:sx n="44" d="100"/>
          <a:sy n="44" d="100"/>
        </p:scale>
        <p:origin x="834"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asana.com/id/product/ai/project-management" TargetMode="External"/><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hyperlink" Target="https://www.wrike.com/features/work-intelligence" TargetMode="External"/><Relationship Id="rId4" Type="http://schemas.openxmlformats.org/officeDocument/2006/relationships/hyperlink" Target="https://www.axios.com/2024/06/05/asana-ai-teammates-generative-ai-genai-chatbot"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help.clickup.com/hc/en-us/articles/12578085238039-Intro-to-ClickUp-Brain" TargetMode="External"/><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hyperlink" Target="https://www.easyredmine.com/documentation-of-easy-redmine/article/easy-ai" TargetMode="External"/><Relationship Id="rId4" Type="http://schemas.openxmlformats.org/officeDocument/2006/relationships/hyperlink" Target="https://www.easyredmine.com/product/easy-ai"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monday.com/blog/product/work-os" TargetMode="External"/><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hyperlink" Target="https://www.airtable.com/platform/app-building" TargetMode="External"/><Relationship Id="rId4" Type="http://schemas.openxmlformats.org/officeDocument/2006/relationships/hyperlink" Target="https://www.airtable.com/platform/ai"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doi.org/10.23881/idupbo.023.2-9e" TargetMode="External"/><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hyperlink" Target="https://doi.org/10.1109/BotSE52550.2021.00011"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doi.org/10.1109/ICSSP-ICGSE52873.2021.00014" TargetMode="External"/><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hyperlink" Target="https://doi.org/10.1109/msr66628.2025.00112"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a:spLocks noGrp="1" noRot="1" noMove="1" noResize="1" noEditPoints="1" noAdjustHandles="1" noChangeArrowheads="1" noChangeShapeType="1"/>
          </p:cNvSpPr>
          <p:nvPr/>
        </p:nvSpPr>
        <p:spPr>
          <a:xfrm>
            <a:off x="0" y="-419100"/>
            <a:ext cx="18288000" cy="10706100"/>
          </a:xfrm>
          <a:custGeom>
            <a:avLst/>
            <a:gdLst/>
            <a:ahLst/>
            <a:cxnLst/>
            <a:rect l="l" t="t" r="r" b="b"/>
            <a:pathLst>
              <a:path w="13716000" h="10287000">
                <a:moveTo>
                  <a:pt x="0" y="0"/>
                </a:moveTo>
                <a:lnTo>
                  <a:pt x="13716000" y="0"/>
                </a:lnTo>
                <a:lnTo>
                  <a:pt x="13716000" y="10287000"/>
                </a:lnTo>
                <a:lnTo>
                  <a:pt x="0" y="10287000"/>
                </a:lnTo>
                <a:lnTo>
                  <a:pt x="0" y="0"/>
                </a:lnTo>
                <a:close/>
              </a:path>
            </a:pathLst>
          </a:custGeom>
          <a:blipFill>
            <a:blip r:embed="rId2"/>
            <a:stretch>
              <a:fillRect/>
            </a:stretch>
          </a:blipFill>
        </p:spPr>
        <p:txBody>
          <a:bodyPr/>
          <a:lstStyle/>
          <a:p>
            <a:endParaRPr lang="es-CO"/>
          </a:p>
        </p:txBody>
      </p:sp>
      <p:sp>
        <p:nvSpPr>
          <p:cNvPr id="3" name="TextBox 3"/>
          <p:cNvSpPr txBox="1"/>
          <p:nvPr/>
        </p:nvSpPr>
        <p:spPr>
          <a:xfrm>
            <a:off x="8653872" y="2655727"/>
            <a:ext cx="7292298" cy="4965142"/>
          </a:xfrm>
          <a:prstGeom prst="rect">
            <a:avLst/>
          </a:prstGeom>
        </p:spPr>
        <p:txBody>
          <a:bodyPr wrap="square" lIns="0" tIns="0" rIns="0" bIns="0" rtlCol="0" anchor="t">
            <a:spAutoFit/>
          </a:bodyPr>
          <a:lstStyle/>
          <a:p>
            <a:pPr algn="ctr">
              <a:lnSpc>
                <a:spcPts val="4319"/>
              </a:lnSpc>
            </a:pPr>
            <a:r>
              <a:rPr lang="en-US" sz="4800" b="1" dirty="0" err="1">
                <a:solidFill>
                  <a:srgbClr val="FFC000"/>
                </a:solidFill>
                <a:latin typeface="Arial"/>
                <a:ea typeface="Arial Bold"/>
                <a:cs typeface="Arial"/>
                <a:sym typeface="Arial Bold"/>
              </a:rPr>
              <a:t>Aplicativo</a:t>
            </a:r>
            <a:r>
              <a:rPr lang="en-US" sz="4800" b="1" dirty="0">
                <a:solidFill>
                  <a:srgbClr val="FFC000"/>
                </a:solidFill>
                <a:latin typeface="Arial"/>
                <a:ea typeface="Arial Bold"/>
                <a:cs typeface="Arial"/>
                <a:sym typeface="Arial Bold"/>
              </a:rPr>
              <a:t> web para la Automatization de la </a:t>
            </a:r>
            <a:r>
              <a:rPr lang="en-US" sz="4800" b="1" dirty="0" err="1">
                <a:solidFill>
                  <a:srgbClr val="FFC000"/>
                </a:solidFill>
                <a:latin typeface="Arial"/>
                <a:ea typeface="Arial Bold"/>
                <a:cs typeface="Arial"/>
                <a:sym typeface="Arial Bold"/>
              </a:rPr>
              <a:t>Gestión</a:t>
            </a:r>
            <a:r>
              <a:rPr lang="en-US" sz="4800" b="1" dirty="0">
                <a:solidFill>
                  <a:srgbClr val="FFC000"/>
                </a:solidFill>
                <a:latin typeface="Arial"/>
                <a:ea typeface="Arial Bold"/>
                <a:cs typeface="Arial"/>
                <a:sym typeface="Arial Bold"/>
              </a:rPr>
              <a:t> de Proyectos TI con Asistentes de IA</a:t>
            </a:r>
            <a:endParaRPr lang="en-US" sz="4800" b="1" dirty="0">
              <a:solidFill>
                <a:srgbClr val="FFC000"/>
              </a:solidFill>
              <a:latin typeface="Arial"/>
              <a:ea typeface="Arial Bold"/>
              <a:cs typeface="Arial"/>
            </a:endParaRPr>
          </a:p>
          <a:p>
            <a:pPr algn="ctr">
              <a:lnSpc>
                <a:spcPts val="4319"/>
              </a:lnSpc>
            </a:pPr>
            <a:endParaRPr lang="en-US" sz="4800" b="1" dirty="0">
              <a:solidFill>
                <a:srgbClr val="FFC000"/>
              </a:solidFill>
              <a:latin typeface="Arial" panose="020B0604020202020204" pitchFamily="34" charset="0"/>
              <a:ea typeface="Arial Bold"/>
              <a:cs typeface="Arial" panose="020B0604020202020204" pitchFamily="34" charset="0"/>
            </a:endParaRPr>
          </a:p>
          <a:p>
            <a:pPr algn="ctr">
              <a:lnSpc>
                <a:spcPts val="4319"/>
              </a:lnSpc>
            </a:pPr>
            <a:endParaRPr lang="en-US" sz="4800" b="1" dirty="0">
              <a:solidFill>
                <a:srgbClr val="FFC000"/>
              </a:solidFill>
              <a:latin typeface="Arial"/>
              <a:ea typeface="Arial Bold"/>
              <a:cs typeface="Arial"/>
              <a:sym typeface="Arial Bold"/>
            </a:endParaRPr>
          </a:p>
          <a:p>
            <a:pPr algn="ctr">
              <a:lnSpc>
                <a:spcPts val="4319"/>
              </a:lnSpc>
            </a:pPr>
            <a:endParaRPr lang="en-US" sz="4800" b="1" dirty="0">
              <a:solidFill>
                <a:srgbClr val="FFC000"/>
              </a:solidFill>
              <a:latin typeface="Arial"/>
              <a:ea typeface="Arial Bold"/>
              <a:cs typeface="Arial"/>
              <a:sym typeface="Arial Bold"/>
            </a:endParaRPr>
          </a:p>
          <a:p>
            <a:pPr algn="ctr">
              <a:lnSpc>
                <a:spcPts val="4319"/>
              </a:lnSpc>
            </a:pPr>
            <a:r>
              <a:rPr lang="en-US" sz="4800" b="1" dirty="0">
                <a:solidFill>
                  <a:srgbClr val="FFC000"/>
                </a:solidFill>
                <a:latin typeface="Arial"/>
                <a:ea typeface="Arial Bold"/>
                <a:cs typeface="Arial"/>
                <a:sym typeface="Arial Bold"/>
              </a:rPr>
              <a:t>Grupo #4</a:t>
            </a:r>
            <a:endParaRPr lang="en-US" sz="4800" b="1" dirty="0">
              <a:solidFill>
                <a:srgbClr val="FFC000"/>
              </a:solidFill>
              <a:latin typeface="Arial"/>
              <a:ea typeface="Arial Bold"/>
              <a:cs typeface="Arial"/>
            </a:endParaRPr>
          </a:p>
          <a:p>
            <a:pPr algn="ctr">
              <a:lnSpc>
                <a:spcPts val="4319"/>
              </a:lnSpc>
            </a:pPr>
            <a:r>
              <a:rPr lang="en-US" sz="4800" b="1" dirty="0">
                <a:solidFill>
                  <a:srgbClr val="FFC000"/>
                </a:solidFill>
                <a:latin typeface="Arial"/>
                <a:ea typeface="Arial Bold"/>
                <a:cs typeface="Arial"/>
                <a:sym typeface="Arial Bold"/>
              </a:rPr>
              <a:t>Gestion de proyecto TI</a:t>
            </a:r>
            <a:endParaRPr lang="en-US" sz="4800" b="1" dirty="0">
              <a:solidFill>
                <a:srgbClr val="FFC000"/>
              </a:solidFill>
              <a:latin typeface="Arial"/>
              <a:ea typeface="Arial Bold"/>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a:spLocks noGrp="1" noRot="1" noMove="1" noResize="1" noEditPoints="1" noAdjustHandles="1" noChangeArrowheads="1" noChangeShapeType="1"/>
          </p:cNvSpPr>
          <p:nvPr/>
        </p:nvSpPr>
        <p:spPr>
          <a:xfrm>
            <a:off x="0" y="0"/>
            <a:ext cx="18288000" cy="10287000"/>
          </a:xfrm>
          <a:custGeom>
            <a:avLst/>
            <a:gdLst/>
            <a:ahLst/>
            <a:cxnLst/>
            <a:rect l="l" t="t" r="r" b="b"/>
            <a:pathLst>
              <a:path w="13716000" h="10287000">
                <a:moveTo>
                  <a:pt x="0" y="0"/>
                </a:moveTo>
                <a:lnTo>
                  <a:pt x="13716000" y="0"/>
                </a:lnTo>
                <a:lnTo>
                  <a:pt x="13716000" y="10287000"/>
                </a:lnTo>
                <a:lnTo>
                  <a:pt x="0" y="10287000"/>
                </a:lnTo>
                <a:lnTo>
                  <a:pt x="0" y="0"/>
                </a:lnTo>
                <a:close/>
              </a:path>
            </a:pathLst>
          </a:custGeom>
          <a:blipFill>
            <a:blip r:embed="rId2"/>
            <a:stretch>
              <a:fillRect/>
            </a:stretch>
          </a:blipFill>
        </p:spPr>
        <p:txBody>
          <a:bodyPr/>
          <a:lstStyle/>
          <a:p>
            <a:endParaRPr lang="es-CO"/>
          </a:p>
        </p:txBody>
      </p:sp>
      <p:sp>
        <p:nvSpPr>
          <p:cNvPr id="3" name="TextBox 3"/>
          <p:cNvSpPr txBox="1"/>
          <p:nvPr/>
        </p:nvSpPr>
        <p:spPr>
          <a:xfrm>
            <a:off x="3314700" y="2223977"/>
            <a:ext cx="11658600" cy="6947479"/>
          </a:xfrm>
          <a:prstGeom prst="rect">
            <a:avLst/>
          </a:prstGeom>
        </p:spPr>
        <p:txBody>
          <a:bodyPr lIns="0" tIns="0" rIns="0" bIns="0" rtlCol="0" anchor="t">
            <a:spAutoFit/>
          </a:bodyPr>
          <a:lstStyle/>
          <a:p>
            <a:pPr algn="just">
              <a:lnSpc>
                <a:spcPts val="3925"/>
              </a:lnSpc>
            </a:pPr>
            <a:r>
              <a:rPr lang="en-US" sz="2400" dirty="0">
                <a:solidFill>
                  <a:srgbClr val="000000"/>
                </a:solidFill>
                <a:latin typeface="Arial"/>
                <a:ea typeface="Raleway Light"/>
                <a:cs typeface="Arial"/>
                <a:sym typeface="Raleway Light"/>
              </a:rPr>
              <a:t>La gestion de </a:t>
            </a:r>
            <a:r>
              <a:rPr lang="en-US" sz="2400" err="1">
                <a:solidFill>
                  <a:srgbClr val="000000"/>
                </a:solidFill>
                <a:latin typeface="Arial"/>
                <a:ea typeface="Raleway Light"/>
                <a:cs typeface="Arial"/>
                <a:sym typeface="Raleway Light"/>
              </a:rPr>
              <a:t>proyectos</a:t>
            </a:r>
            <a:r>
              <a:rPr lang="en-US" sz="2400" dirty="0">
                <a:solidFill>
                  <a:srgbClr val="000000"/>
                </a:solidFill>
                <a:latin typeface="Arial"/>
                <a:ea typeface="Raleway Light"/>
                <a:cs typeface="Arial"/>
                <a:sym typeface="Raleway Light"/>
              </a:rPr>
              <a:t> de Tecnologias de la Informacion (TI) </a:t>
            </a:r>
            <a:r>
              <a:rPr lang="en-US" sz="2400" err="1">
                <a:solidFill>
                  <a:srgbClr val="000000"/>
                </a:solidFill>
                <a:latin typeface="Arial"/>
                <a:ea typeface="Raleway Light"/>
                <a:cs typeface="Arial"/>
                <a:sym typeface="Raleway Light"/>
              </a:rPr>
              <a:t>enfrenta</a:t>
            </a:r>
            <a:r>
              <a:rPr lang="en-US" sz="2400" dirty="0">
                <a:solidFill>
                  <a:srgbClr val="000000"/>
                </a:solidFill>
                <a:latin typeface="Arial"/>
                <a:ea typeface="Raleway Light"/>
                <a:cs typeface="Arial"/>
                <a:sym typeface="Raleway Light"/>
              </a:rPr>
              <a:t> </a:t>
            </a:r>
            <a:r>
              <a:rPr lang="en-US" sz="2400" err="1">
                <a:solidFill>
                  <a:srgbClr val="000000"/>
                </a:solidFill>
                <a:latin typeface="Arial"/>
                <a:ea typeface="Raleway Light"/>
                <a:cs typeface="Arial"/>
                <a:sym typeface="Raleway Light"/>
              </a:rPr>
              <a:t>retos</a:t>
            </a:r>
            <a:r>
              <a:rPr lang="en-US" sz="2400" dirty="0">
                <a:solidFill>
                  <a:srgbClr val="000000"/>
                </a:solidFill>
                <a:latin typeface="Arial"/>
                <a:ea typeface="Raleway Light"/>
                <a:cs typeface="Arial"/>
                <a:sym typeface="Raleway Light"/>
              </a:rPr>
              <a:t> </a:t>
            </a:r>
            <a:r>
              <a:rPr lang="en-US" sz="2400" err="1">
                <a:solidFill>
                  <a:srgbClr val="000000"/>
                </a:solidFill>
                <a:latin typeface="Arial"/>
                <a:ea typeface="Raleway Light"/>
                <a:cs typeface="Arial"/>
                <a:sym typeface="Raleway Light"/>
              </a:rPr>
              <a:t>habituales</a:t>
            </a:r>
            <a:r>
              <a:rPr lang="en-US" sz="2400" dirty="0">
                <a:solidFill>
                  <a:srgbClr val="000000"/>
                </a:solidFill>
                <a:latin typeface="Arial"/>
                <a:ea typeface="Raleway Light"/>
                <a:cs typeface="Arial"/>
                <a:sym typeface="Raleway Light"/>
              </a:rPr>
              <a:t>, tales como: la </a:t>
            </a:r>
            <a:r>
              <a:rPr lang="en-US" sz="2400" err="1">
                <a:solidFill>
                  <a:srgbClr val="000000"/>
                </a:solidFill>
                <a:latin typeface="Arial"/>
                <a:ea typeface="Raleway Light"/>
                <a:cs typeface="Arial"/>
                <a:sym typeface="Raleway Light"/>
              </a:rPr>
              <a:t>trazabilidad</a:t>
            </a:r>
            <a:r>
              <a:rPr lang="en-US" sz="2400" dirty="0">
                <a:solidFill>
                  <a:srgbClr val="000000"/>
                </a:solidFill>
                <a:latin typeface="Arial"/>
                <a:ea typeface="Raleway Light"/>
                <a:cs typeface="Arial"/>
                <a:sym typeface="Raleway Light"/>
              </a:rPr>
              <a:t>, </a:t>
            </a:r>
            <a:r>
              <a:rPr lang="en-US" sz="2400" err="1">
                <a:solidFill>
                  <a:srgbClr val="000000"/>
                </a:solidFill>
                <a:latin typeface="Arial"/>
                <a:ea typeface="Raleway Light"/>
                <a:cs typeface="Arial"/>
                <a:sym typeface="Raleway Light"/>
              </a:rPr>
              <a:t>incompetencia</a:t>
            </a:r>
            <a:r>
              <a:rPr lang="en-US" sz="2400" dirty="0">
                <a:solidFill>
                  <a:srgbClr val="000000"/>
                </a:solidFill>
                <a:latin typeface="Arial"/>
                <a:ea typeface="Raleway Light"/>
                <a:cs typeface="Arial"/>
                <a:sym typeface="Raleway Light"/>
              </a:rPr>
              <a:t> del </a:t>
            </a:r>
            <a:r>
              <a:rPr lang="en-US" sz="2400" err="1">
                <a:solidFill>
                  <a:srgbClr val="000000"/>
                </a:solidFill>
                <a:latin typeface="Arial"/>
                <a:ea typeface="Raleway Light"/>
                <a:cs typeface="Arial"/>
                <a:sym typeface="Raleway Light"/>
              </a:rPr>
              <a:t>trabajo</a:t>
            </a:r>
            <a:r>
              <a:rPr lang="en-US" sz="2400" dirty="0">
                <a:solidFill>
                  <a:srgbClr val="000000"/>
                </a:solidFill>
                <a:latin typeface="Arial"/>
                <a:ea typeface="Raleway Light"/>
                <a:cs typeface="Arial"/>
                <a:sym typeface="Raleway Light"/>
              </a:rPr>
              <a:t>, </a:t>
            </a:r>
            <a:r>
              <a:rPr lang="en-US" sz="2400" err="1">
                <a:solidFill>
                  <a:srgbClr val="000000"/>
                </a:solidFill>
                <a:latin typeface="Arial"/>
                <a:ea typeface="Raleway Light"/>
                <a:cs typeface="Arial"/>
                <a:sym typeface="Raleway Light"/>
              </a:rPr>
              <a:t>coordinacion</a:t>
            </a:r>
            <a:r>
              <a:rPr lang="en-US" sz="2400" dirty="0">
                <a:solidFill>
                  <a:srgbClr val="000000"/>
                </a:solidFill>
                <a:latin typeface="Arial"/>
                <a:ea typeface="Raleway Light"/>
                <a:cs typeface="Arial"/>
                <a:sym typeface="Raleway Light"/>
              </a:rPr>
              <a:t> deficient entre roles, </a:t>
            </a:r>
            <a:r>
              <a:rPr lang="en-US" sz="2400" err="1">
                <a:solidFill>
                  <a:srgbClr val="000000"/>
                </a:solidFill>
                <a:latin typeface="Arial"/>
                <a:ea typeface="Raleway Light"/>
                <a:cs typeface="Arial"/>
                <a:sym typeface="Raleway Light"/>
              </a:rPr>
              <a:t>visbilidad</a:t>
            </a:r>
            <a:r>
              <a:rPr lang="en-US" sz="2400" dirty="0">
                <a:solidFill>
                  <a:srgbClr val="000000"/>
                </a:solidFill>
                <a:latin typeface="Arial"/>
                <a:ea typeface="Raleway Light"/>
                <a:cs typeface="Arial"/>
                <a:sym typeface="Raleway Light"/>
              </a:rPr>
              <a:t> </a:t>
            </a:r>
            <a:r>
              <a:rPr lang="en-US" sz="2400" err="1">
                <a:solidFill>
                  <a:srgbClr val="000000"/>
                </a:solidFill>
                <a:latin typeface="Arial"/>
                <a:ea typeface="Raleway Light"/>
                <a:cs typeface="Arial"/>
                <a:sym typeface="Raleway Light"/>
              </a:rPr>
              <a:t>limitada</a:t>
            </a:r>
            <a:r>
              <a:rPr lang="en-US" sz="2400" dirty="0">
                <a:solidFill>
                  <a:srgbClr val="000000"/>
                </a:solidFill>
                <a:latin typeface="Arial"/>
                <a:ea typeface="Raleway Light"/>
                <a:cs typeface="Arial"/>
                <a:sym typeface="Raleway Light"/>
              </a:rPr>
              <a:t> y </a:t>
            </a:r>
            <a:r>
              <a:rPr lang="en-US" sz="2400" err="1">
                <a:solidFill>
                  <a:srgbClr val="000000"/>
                </a:solidFill>
                <a:latin typeface="Arial"/>
                <a:ea typeface="Raleway Light"/>
                <a:cs typeface="Arial"/>
                <a:sym typeface="Raleway Light"/>
              </a:rPr>
              <a:t>dificultades</a:t>
            </a:r>
            <a:r>
              <a:rPr lang="en-US" sz="2400" dirty="0">
                <a:solidFill>
                  <a:srgbClr val="000000"/>
                </a:solidFill>
                <a:latin typeface="Arial"/>
                <a:ea typeface="Raleway Light"/>
                <a:cs typeface="Arial"/>
                <a:sym typeface="Raleway Light"/>
              </a:rPr>
              <a:t> para </a:t>
            </a:r>
            <a:r>
              <a:rPr lang="en-US" sz="2400" err="1">
                <a:solidFill>
                  <a:srgbClr val="000000"/>
                </a:solidFill>
                <a:latin typeface="Arial"/>
                <a:ea typeface="Raleway Light"/>
                <a:cs typeface="Arial"/>
                <a:sym typeface="Raleway Light"/>
              </a:rPr>
              <a:t>aplicar</a:t>
            </a:r>
            <a:r>
              <a:rPr lang="en-US" sz="2400" dirty="0">
                <a:solidFill>
                  <a:srgbClr val="000000"/>
                </a:solidFill>
                <a:latin typeface="Arial"/>
                <a:ea typeface="Raleway Light"/>
                <a:cs typeface="Arial"/>
                <a:sym typeface="Raleway Light"/>
              </a:rPr>
              <a:t> de forma </a:t>
            </a:r>
            <a:r>
              <a:rPr lang="en-US" sz="2400" err="1">
                <a:solidFill>
                  <a:srgbClr val="000000"/>
                </a:solidFill>
                <a:latin typeface="Arial"/>
                <a:ea typeface="Raleway Light"/>
                <a:cs typeface="Arial"/>
                <a:sym typeface="Raleway Light"/>
              </a:rPr>
              <a:t>concistente</a:t>
            </a:r>
            <a:r>
              <a:rPr lang="en-US" sz="2400" dirty="0">
                <a:solidFill>
                  <a:srgbClr val="000000"/>
                </a:solidFill>
                <a:latin typeface="Arial"/>
                <a:ea typeface="Raleway Light"/>
                <a:cs typeface="Arial"/>
                <a:sym typeface="Raleway Light"/>
              </a:rPr>
              <a:t> el </a:t>
            </a:r>
            <a:r>
              <a:rPr lang="en-US" sz="2400" err="1">
                <a:solidFill>
                  <a:srgbClr val="000000"/>
                </a:solidFill>
                <a:latin typeface="Arial"/>
                <a:ea typeface="Raleway Light"/>
                <a:cs typeface="Arial"/>
                <a:sym typeface="Raleway Light"/>
              </a:rPr>
              <a:t>marco</a:t>
            </a:r>
            <a:r>
              <a:rPr lang="en-US" sz="2400" dirty="0">
                <a:solidFill>
                  <a:srgbClr val="000000"/>
                </a:solidFill>
                <a:latin typeface="Arial"/>
                <a:ea typeface="Raleway Light"/>
                <a:cs typeface="Arial"/>
                <a:sym typeface="Raleway Light"/>
              </a:rPr>
              <a:t> </a:t>
            </a:r>
            <a:r>
              <a:rPr lang="en-US" sz="2400" err="1">
                <a:solidFill>
                  <a:srgbClr val="000000"/>
                </a:solidFill>
                <a:latin typeface="Arial"/>
                <a:ea typeface="Raleway Light"/>
                <a:cs typeface="Arial"/>
                <a:sym typeface="Raleway Light"/>
              </a:rPr>
              <a:t>agil</a:t>
            </a:r>
            <a:r>
              <a:rPr lang="en-US" sz="2400" dirty="0">
                <a:solidFill>
                  <a:srgbClr val="000000"/>
                </a:solidFill>
                <a:latin typeface="Arial"/>
                <a:ea typeface="Raleway Light"/>
                <a:cs typeface="Arial"/>
                <a:sym typeface="Raleway Light"/>
              </a:rPr>
              <a:t>.</a:t>
            </a:r>
            <a:endParaRPr lang="en-US" sz="2400" dirty="0">
              <a:solidFill>
                <a:srgbClr val="000000"/>
              </a:solidFill>
              <a:latin typeface="Arial"/>
              <a:ea typeface="Raleway Light"/>
              <a:cs typeface="Arial"/>
            </a:endParaRPr>
          </a:p>
          <a:p>
            <a:pPr algn="just">
              <a:lnSpc>
                <a:spcPts val="3925"/>
              </a:lnSpc>
            </a:pPr>
            <a:endParaRPr lang="en-US" sz="2400" dirty="0">
              <a:solidFill>
                <a:srgbClr val="000000"/>
              </a:solidFill>
              <a:latin typeface="Arial" panose="020B0604020202020204" pitchFamily="34" charset="0"/>
              <a:ea typeface="Raleway Light"/>
              <a:cs typeface="Arial" panose="020B0604020202020204" pitchFamily="34" charset="0"/>
            </a:endParaRPr>
          </a:p>
          <a:p>
            <a:pPr algn="just">
              <a:lnSpc>
                <a:spcPts val="3925"/>
              </a:lnSpc>
            </a:pPr>
            <a:r>
              <a:rPr lang="en-US" sz="2400" dirty="0">
                <a:solidFill>
                  <a:srgbClr val="000000"/>
                </a:solidFill>
                <a:latin typeface="Arial"/>
                <a:ea typeface="Calibri"/>
                <a:cs typeface="Calibri"/>
              </a:rPr>
              <a:t>Ante </a:t>
            </a:r>
            <a:r>
              <a:rPr lang="en-US" sz="2400" err="1">
                <a:solidFill>
                  <a:srgbClr val="000000"/>
                </a:solidFill>
                <a:latin typeface="Arial"/>
                <a:ea typeface="+mn-lt"/>
                <a:cs typeface="+mn-lt"/>
              </a:rPr>
              <a:t>este</a:t>
            </a:r>
            <a:r>
              <a:rPr lang="en-US" sz="2400" dirty="0">
                <a:solidFill>
                  <a:srgbClr val="000000"/>
                </a:solidFill>
                <a:latin typeface="Arial"/>
                <a:ea typeface="+mn-lt"/>
                <a:cs typeface="+mn-lt"/>
              </a:rPr>
              <a:t> panorama, es </a:t>
            </a:r>
            <a:r>
              <a:rPr lang="en-US" sz="2400" err="1">
                <a:solidFill>
                  <a:srgbClr val="000000"/>
                </a:solidFill>
                <a:latin typeface="Arial"/>
                <a:ea typeface="+mn-lt"/>
                <a:cs typeface="+mn-lt"/>
              </a:rPr>
              <a:t>necesario</a:t>
            </a:r>
            <a:r>
              <a:rPr lang="en-US" sz="2400" dirty="0">
                <a:solidFill>
                  <a:srgbClr val="000000"/>
                </a:solidFill>
                <a:latin typeface="Arial"/>
                <a:ea typeface="+mn-lt"/>
                <a:cs typeface="+mn-lt"/>
              </a:rPr>
              <a:t> </a:t>
            </a:r>
            <a:r>
              <a:rPr lang="en-US" sz="2400" err="1">
                <a:solidFill>
                  <a:srgbClr val="000000"/>
                </a:solidFill>
                <a:latin typeface="Arial"/>
                <a:ea typeface="+mn-lt"/>
                <a:cs typeface="+mn-lt"/>
              </a:rPr>
              <a:t>adoptar</a:t>
            </a:r>
            <a:r>
              <a:rPr lang="en-US" sz="2400" dirty="0">
                <a:solidFill>
                  <a:srgbClr val="000000"/>
                </a:solidFill>
                <a:latin typeface="Arial"/>
                <a:ea typeface="+mn-lt"/>
                <a:cs typeface="+mn-lt"/>
              </a:rPr>
              <a:t> </a:t>
            </a:r>
            <a:r>
              <a:rPr lang="en-US" sz="2400" b="1" err="1">
                <a:solidFill>
                  <a:srgbClr val="000000"/>
                </a:solidFill>
                <a:latin typeface="Arial"/>
                <a:ea typeface="+mn-lt"/>
                <a:cs typeface="+mn-lt"/>
              </a:rPr>
              <a:t>enfoques</a:t>
            </a:r>
            <a:r>
              <a:rPr lang="en-US" sz="2400" b="1" dirty="0">
                <a:solidFill>
                  <a:srgbClr val="000000"/>
                </a:solidFill>
                <a:latin typeface="Arial"/>
                <a:ea typeface="+mn-lt"/>
                <a:cs typeface="+mn-lt"/>
              </a:rPr>
              <a:t> </a:t>
            </a:r>
            <a:r>
              <a:rPr lang="en-US" sz="2400" b="1" err="1">
                <a:solidFill>
                  <a:srgbClr val="000000"/>
                </a:solidFill>
                <a:latin typeface="Arial"/>
                <a:ea typeface="+mn-lt"/>
                <a:cs typeface="+mn-lt"/>
              </a:rPr>
              <a:t>integrados</a:t>
            </a:r>
            <a:r>
              <a:rPr lang="en-US" sz="2400" b="1" dirty="0">
                <a:solidFill>
                  <a:srgbClr val="000000"/>
                </a:solidFill>
                <a:latin typeface="Arial"/>
                <a:ea typeface="+mn-lt"/>
                <a:cs typeface="+mn-lt"/>
              </a:rPr>
              <a:t> y </a:t>
            </a:r>
            <a:r>
              <a:rPr lang="en-US" sz="2400" b="1" err="1">
                <a:solidFill>
                  <a:srgbClr val="000000"/>
                </a:solidFill>
                <a:latin typeface="Arial"/>
                <a:ea typeface="+mn-lt"/>
                <a:cs typeface="+mn-lt"/>
              </a:rPr>
              <a:t>automatizados</a:t>
            </a:r>
            <a:r>
              <a:rPr lang="en-US" sz="2400" dirty="0">
                <a:solidFill>
                  <a:srgbClr val="000000"/>
                </a:solidFill>
                <a:latin typeface="Arial"/>
                <a:ea typeface="+mn-lt"/>
                <a:cs typeface="+mn-lt"/>
              </a:rPr>
              <a:t> que </a:t>
            </a:r>
            <a:r>
              <a:rPr lang="en-US" sz="2400" err="1">
                <a:solidFill>
                  <a:srgbClr val="000000"/>
                </a:solidFill>
                <a:latin typeface="Arial"/>
                <a:ea typeface="+mn-lt"/>
                <a:cs typeface="+mn-lt"/>
              </a:rPr>
              <a:t>permitan</a:t>
            </a:r>
            <a:r>
              <a:rPr lang="en-US" sz="2400" dirty="0">
                <a:solidFill>
                  <a:srgbClr val="000000"/>
                </a:solidFill>
                <a:latin typeface="Arial"/>
                <a:ea typeface="+mn-lt"/>
                <a:cs typeface="+mn-lt"/>
              </a:rPr>
              <a:t> </a:t>
            </a:r>
            <a:r>
              <a:rPr lang="en-US" sz="2400" err="1">
                <a:solidFill>
                  <a:srgbClr val="000000"/>
                </a:solidFill>
                <a:latin typeface="Arial"/>
                <a:ea typeface="+mn-lt"/>
                <a:cs typeface="+mn-lt"/>
              </a:rPr>
              <a:t>centralizar</a:t>
            </a:r>
            <a:r>
              <a:rPr lang="en-US" sz="2400" dirty="0">
                <a:solidFill>
                  <a:srgbClr val="000000"/>
                </a:solidFill>
                <a:latin typeface="Arial"/>
                <a:ea typeface="+mn-lt"/>
                <a:cs typeface="+mn-lt"/>
              </a:rPr>
              <a:t> la </a:t>
            </a:r>
            <a:r>
              <a:rPr lang="en-US" sz="2400" err="1">
                <a:solidFill>
                  <a:srgbClr val="000000"/>
                </a:solidFill>
                <a:latin typeface="Arial"/>
                <a:ea typeface="+mn-lt"/>
                <a:cs typeface="+mn-lt"/>
              </a:rPr>
              <a:t>planificación</a:t>
            </a:r>
            <a:r>
              <a:rPr lang="en-US" sz="2400" dirty="0">
                <a:solidFill>
                  <a:srgbClr val="000000"/>
                </a:solidFill>
                <a:latin typeface="Arial"/>
                <a:ea typeface="+mn-lt"/>
                <a:cs typeface="+mn-lt"/>
              </a:rPr>
              <a:t>, </a:t>
            </a:r>
            <a:r>
              <a:rPr lang="en-US" sz="2400" err="1">
                <a:solidFill>
                  <a:srgbClr val="000000"/>
                </a:solidFill>
                <a:latin typeface="Arial"/>
                <a:ea typeface="+mn-lt"/>
                <a:cs typeface="+mn-lt"/>
              </a:rPr>
              <a:t>monitorear</a:t>
            </a:r>
            <a:r>
              <a:rPr lang="en-US" sz="2400" dirty="0">
                <a:solidFill>
                  <a:srgbClr val="000000"/>
                </a:solidFill>
                <a:latin typeface="Arial"/>
                <a:ea typeface="+mn-lt"/>
                <a:cs typeface="+mn-lt"/>
              </a:rPr>
              <a:t> </a:t>
            </a:r>
            <a:r>
              <a:rPr lang="en-US" sz="2400" err="1">
                <a:solidFill>
                  <a:srgbClr val="000000"/>
                </a:solidFill>
                <a:latin typeface="Arial"/>
                <a:ea typeface="+mn-lt"/>
                <a:cs typeface="+mn-lt"/>
              </a:rPr>
              <a:t>en</a:t>
            </a:r>
            <a:r>
              <a:rPr lang="en-US" sz="2400" dirty="0">
                <a:solidFill>
                  <a:srgbClr val="000000"/>
                </a:solidFill>
                <a:latin typeface="Arial"/>
                <a:ea typeface="+mn-lt"/>
                <a:cs typeface="+mn-lt"/>
              </a:rPr>
              <a:t> </a:t>
            </a:r>
            <a:r>
              <a:rPr lang="en-US" sz="2400" err="1">
                <a:solidFill>
                  <a:srgbClr val="000000"/>
                </a:solidFill>
                <a:latin typeface="Arial"/>
                <a:ea typeface="+mn-lt"/>
                <a:cs typeface="+mn-lt"/>
              </a:rPr>
              <a:t>tiempo</a:t>
            </a:r>
            <a:r>
              <a:rPr lang="en-US" sz="2400" dirty="0">
                <a:solidFill>
                  <a:srgbClr val="000000"/>
                </a:solidFill>
                <a:latin typeface="Arial"/>
                <a:ea typeface="+mn-lt"/>
                <a:cs typeface="+mn-lt"/>
              </a:rPr>
              <a:t> real </a:t>
            </a:r>
            <a:r>
              <a:rPr lang="en-US" sz="2400" err="1">
                <a:solidFill>
                  <a:srgbClr val="000000"/>
                </a:solidFill>
                <a:latin typeface="Arial"/>
                <a:ea typeface="+mn-lt"/>
                <a:cs typeface="+mn-lt"/>
              </a:rPr>
              <a:t>el</a:t>
            </a:r>
            <a:r>
              <a:rPr lang="en-US" sz="2400" dirty="0">
                <a:solidFill>
                  <a:srgbClr val="000000"/>
                </a:solidFill>
                <a:latin typeface="Arial"/>
                <a:ea typeface="+mn-lt"/>
                <a:cs typeface="+mn-lt"/>
              </a:rPr>
              <a:t> </a:t>
            </a:r>
            <a:r>
              <a:rPr lang="en-US" sz="2400" err="1">
                <a:solidFill>
                  <a:srgbClr val="000000"/>
                </a:solidFill>
                <a:latin typeface="Arial"/>
                <a:ea typeface="+mn-lt"/>
                <a:cs typeface="+mn-lt"/>
              </a:rPr>
              <a:t>avance</a:t>
            </a:r>
            <a:r>
              <a:rPr lang="en-US" sz="2400" dirty="0">
                <a:solidFill>
                  <a:srgbClr val="000000"/>
                </a:solidFill>
                <a:latin typeface="Arial"/>
                <a:ea typeface="+mn-lt"/>
                <a:cs typeface="+mn-lt"/>
              </a:rPr>
              <a:t> de las </a:t>
            </a:r>
            <a:r>
              <a:rPr lang="en-US" sz="2400" err="1">
                <a:solidFill>
                  <a:srgbClr val="000000"/>
                </a:solidFill>
                <a:latin typeface="Arial"/>
                <a:ea typeface="+mn-lt"/>
                <a:cs typeface="+mn-lt"/>
              </a:rPr>
              <a:t>actividades</a:t>
            </a:r>
            <a:r>
              <a:rPr lang="en-US" sz="2400" dirty="0">
                <a:solidFill>
                  <a:srgbClr val="000000"/>
                </a:solidFill>
                <a:latin typeface="Arial"/>
                <a:ea typeface="+mn-lt"/>
                <a:cs typeface="+mn-lt"/>
              </a:rPr>
              <a:t> y </a:t>
            </a:r>
            <a:r>
              <a:rPr lang="en-US" sz="2400" err="1">
                <a:solidFill>
                  <a:srgbClr val="000000"/>
                </a:solidFill>
                <a:latin typeface="Arial"/>
                <a:ea typeface="+mn-lt"/>
                <a:cs typeface="+mn-lt"/>
              </a:rPr>
              <a:t>garantizar</a:t>
            </a:r>
            <a:r>
              <a:rPr lang="en-US" sz="2400" dirty="0">
                <a:solidFill>
                  <a:srgbClr val="000000"/>
                </a:solidFill>
                <a:latin typeface="Arial"/>
                <a:ea typeface="+mn-lt"/>
                <a:cs typeface="+mn-lt"/>
              </a:rPr>
              <a:t> la </a:t>
            </a:r>
            <a:r>
              <a:rPr lang="en-US" sz="2400" err="1">
                <a:solidFill>
                  <a:srgbClr val="000000"/>
                </a:solidFill>
                <a:latin typeface="Arial"/>
                <a:ea typeface="+mn-lt"/>
                <a:cs typeface="+mn-lt"/>
              </a:rPr>
              <a:t>trazabilidad</a:t>
            </a:r>
            <a:r>
              <a:rPr lang="en-US" sz="2400" dirty="0">
                <a:solidFill>
                  <a:srgbClr val="000000"/>
                </a:solidFill>
                <a:latin typeface="Arial"/>
                <a:ea typeface="+mn-lt"/>
                <a:cs typeface="+mn-lt"/>
              </a:rPr>
              <a:t> </a:t>
            </a:r>
            <a:r>
              <a:rPr lang="en-US" sz="2400" err="1">
                <a:solidFill>
                  <a:srgbClr val="000000"/>
                </a:solidFill>
                <a:latin typeface="Arial"/>
                <a:ea typeface="+mn-lt"/>
                <a:cs typeface="+mn-lt"/>
              </a:rPr>
              <a:t>completa</a:t>
            </a:r>
            <a:r>
              <a:rPr lang="en-US" sz="2400" dirty="0">
                <a:solidFill>
                  <a:srgbClr val="000000"/>
                </a:solidFill>
                <a:latin typeface="Arial"/>
                <a:ea typeface="+mn-lt"/>
                <a:cs typeface="+mn-lt"/>
              </a:rPr>
              <a:t> del </a:t>
            </a:r>
            <a:r>
              <a:rPr lang="en-US" sz="2400" err="1">
                <a:solidFill>
                  <a:srgbClr val="000000"/>
                </a:solidFill>
                <a:latin typeface="Arial"/>
                <a:ea typeface="+mn-lt"/>
                <a:cs typeface="+mn-lt"/>
              </a:rPr>
              <a:t>proyecto</a:t>
            </a:r>
            <a:r>
              <a:rPr lang="en-US" sz="2400" dirty="0">
                <a:solidFill>
                  <a:srgbClr val="000000"/>
                </a:solidFill>
                <a:latin typeface="Arial"/>
                <a:ea typeface="+mn-lt"/>
                <a:cs typeface="+mn-lt"/>
              </a:rPr>
              <a:t>. Herramientas </a:t>
            </a:r>
            <a:r>
              <a:rPr lang="en-US" sz="2400" err="1">
                <a:solidFill>
                  <a:srgbClr val="000000"/>
                </a:solidFill>
                <a:latin typeface="Arial"/>
                <a:ea typeface="+mn-lt"/>
                <a:cs typeface="+mn-lt"/>
              </a:rPr>
              <a:t>como</a:t>
            </a:r>
            <a:r>
              <a:rPr lang="en-US" sz="2400" dirty="0">
                <a:solidFill>
                  <a:srgbClr val="000000"/>
                </a:solidFill>
                <a:latin typeface="Arial"/>
                <a:ea typeface="+mn-lt"/>
                <a:cs typeface="+mn-lt"/>
              </a:rPr>
              <a:t> </a:t>
            </a:r>
            <a:r>
              <a:rPr lang="en-US" sz="2400" b="1" dirty="0">
                <a:solidFill>
                  <a:srgbClr val="000000"/>
                </a:solidFill>
                <a:latin typeface="Arial"/>
                <a:ea typeface="+mn-lt"/>
                <a:cs typeface="+mn-lt"/>
              </a:rPr>
              <a:t>Jira</a:t>
            </a:r>
            <a:r>
              <a:rPr lang="en-US" sz="2400" dirty="0">
                <a:solidFill>
                  <a:srgbClr val="000000"/>
                </a:solidFill>
                <a:latin typeface="Arial"/>
                <a:ea typeface="+mn-lt"/>
                <a:cs typeface="+mn-lt"/>
              </a:rPr>
              <a:t> </a:t>
            </a:r>
            <a:r>
              <a:rPr lang="en-US" sz="2400" err="1">
                <a:solidFill>
                  <a:srgbClr val="000000"/>
                </a:solidFill>
                <a:latin typeface="Arial"/>
                <a:ea typeface="+mn-lt"/>
                <a:cs typeface="+mn-lt"/>
              </a:rPr>
              <a:t>han</a:t>
            </a:r>
            <a:r>
              <a:rPr lang="en-US" sz="2400" dirty="0">
                <a:solidFill>
                  <a:srgbClr val="000000"/>
                </a:solidFill>
                <a:latin typeface="Arial"/>
                <a:ea typeface="+mn-lt"/>
                <a:cs typeface="+mn-lt"/>
              </a:rPr>
              <a:t> </a:t>
            </a:r>
            <a:r>
              <a:rPr lang="en-US" sz="2400" err="1">
                <a:solidFill>
                  <a:srgbClr val="000000"/>
                </a:solidFill>
                <a:latin typeface="Arial"/>
                <a:ea typeface="+mn-lt"/>
                <a:cs typeface="+mn-lt"/>
              </a:rPr>
              <a:t>demostrado</a:t>
            </a:r>
            <a:r>
              <a:rPr lang="en-US" sz="2400" dirty="0">
                <a:solidFill>
                  <a:srgbClr val="000000"/>
                </a:solidFill>
                <a:latin typeface="Arial"/>
                <a:ea typeface="+mn-lt"/>
                <a:cs typeface="+mn-lt"/>
              </a:rPr>
              <a:t> ser </a:t>
            </a:r>
            <a:r>
              <a:rPr lang="en-US" sz="2400" err="1">
                <a:solidFill>
                  <a:srgbClr val="000000"/>
                </a:solidFill>
                <a:latin typeface="Arial"/>
                <a:ea typeface="+mn-lt"/>
                <a:cs typeface="+mn-lt"/>
              </a:rPr>
              <a:t>valiosas</a:t>
            </a:r>
            <a:r>
              <a:rPr lang="en-US" sz="2400" dirty="0">
                <a:solidFill>
                  <a:srgbClr val="000000"/>
                </a:solidFill>
                <a:latin typeface="Arial"/>
                <a:ea typeface="+mn-lt"/>
                <a:cs typeface="+mn-lt"/>
              </a:rPr>
              <a:t> para la </a:t>
            </a:r>
            <a:r>
              <a:rPr lang="en-US" sz="2400" err="1">
                <a:solidFill>
                  <a:srgbClr val="000000"/>
                </a:solidFill>
                <a:latin typeface="Arial"/>
                <a:ea typeface="+mn-lt"/>
                <a:cs typeface="+mn-lt"/>
              </a:rPr>
              <a:t>gestión</a:t>
            </a:r>
            <a:r>
              <a:rPr lang="en-US" sz="2400" dirty="0">
                <a:solidFill>
                  <a:srgbClr val="000000"/>
                </a:solidFill>
                <a:latin typeface="Arial"/>
                <a:ea typeface="+mn-lt"/>
                <a:cs typeface="+mn-lt"/>
              </a:rPr>
              <a:t> de </a:t>
            </a:r>
            <a:r>
              <a:rPr lang="en-US" sz="2400" err="1">
                <a:solidFill>
                  <a:srgbClr val="000000"/>
                </a:solidFill>
                <a:latin typeface="Arial"/>
                <a:ea typeface="+mn-lt"/>
                <a:cs typeface="+mn-lt"/>
              </a:rPr>
              <a:t>proyectos</a:t>
            </a:r>
            <a:r>
              <a:rPr lang="en-US" sz="2400" dirty="0">
                <a:solidFill>
                  <a:srgbClr val="000000"/>
                </a:solidFill>
                <a:latin typeface="Arial"/>
                <a:ea typeface="+mn-lt"/>
                <a:cs typeface="+mn-lt"/>
              </a:rPr>
              <a:t> </a:t>
            </a:r>
            <a:r>
              <a:rPr lang="en-US" sz="2400" err="1">
                <a:solidFill>
                  <a:srgbClr val="000000"/>
                </a:solidFill>
                <a:latin typeface="Arial"/>
                <a:ea typeface="+mn-lt"/>
                <a:cs typeface="+mn-lt"/>
              </a:rPr>
              <a:t>ágiles</a:t>
            </a:r>
            <a:r>
              <a:rPr lang="en-US" sz="2400" dirty="0">
                <a:solidFill>
                  <a:srgbClr val="000000"/>
                </a:solidFill>
                <a:latin typeface="Arial"/>
                <a:ea typeface="+mn-lt"/>
                <a:cs typeface="+mn-lt"/>
              </a:rPr>
              <a:t>, </a:t>
            </a:r>
            <a:r>
              <a:rPr lang="en-US" sz="2400" err="1">
                <a:solidFill>
                  <a:srgbClr val="000000"/>
                </a:solidFill>
                <a:latin typeface="Arial"/>
                <a:ea typeface="+mn-lt"/>
                <a:cs typeface="+mn-lt"/>
              </a:rPr>
              <a:t>pero</a:t>
            </a:r>
            <a:r>
              <a:rPr lang="en-US" sz="2400" dirty="0">
                <a:solidFill>
                  <a:srgbClr val="000000"/>
                </a:solidFill>
                <a:latin typeface="Arial"/>
                <a:ea typeface="+mn-lt"/>
                <a:cs typeface="+mn-lt"/>
              </a:rPr>
              <a:t> </a:t>
            </a:r>
            <a:r>
              <a:rPr lang="en-US" sz="2400" err="1">
                <a:solidFill>
                  <a:srgbClr val="000000"/>
                </a:solidFill>
                <a:latin typeface="Arial"/>
                <a:ea typeface="+mn-lt"/>
                <a:cs typeface="+mn-lt"/>
              </a:rPr>
              <a:t>su</a:t>
            </a:r>
            <a:r>
              <a:rPr lang="en-US" sz="2400" dirty="0">
                <a:solidFill>
                  <a:srgbClr val="000000"/>
                </a:solidFill>
                <a:latin typeface="Arial"/>
                <a:ea typeface="+mn-lt"/>
                <a:cs typeface="+mn-lt"/>
              </a:rPr>
              <a:t> </a:t>
            </a:r>
            <a:r>
              <a:rPr lang="en-US" sz="2400" err="1">
                <a:solidFill>
                  <a:srgbClr val="000000"/>
                </a:solidFill>
                <a:latin typeface="Arial"/>
                <a:ea typeface="+mn-lt"/>
                <a:cs typeface="+mn-lt"/>
              </a:rPr>
              <a:t>verdadero</a:t>
            </a:r>
            <a:r>
              <a:rPr lang="en-US" sz="2400" dirty="0">
                <a:solidFill>
                  <a:srgbClr val="000000"/>
                </a:solidFill>
                <a:latin typeface="Arial"/>
                <a:ea typeface="+mn-lt"/>
                <a:cs typeface="+mn-lt"/>
              </a:rPr>
              <a:t> </a:t>
            </a:r>
            <a:r>
              <a:rPr lang="en-US" sz="2400" err="1">
                <a:solidFill>
                  <a:srgbClr val="000000"/>
                </a:solidFill>
                <a:latin typeface="Arial"/>
                <a:ea typeface="+mn-lt"/>
                <a:cs typeface="+mn-lt"/>
              </a:rPr>
              <a:t>potencial</a:t>
            </a:r>
            <a:r>
              <a:rPr lang="en-US" sz="2400" dirty="0">
                <a:solidFill>
                  <a:srgbClr val="000000"/>
                </a:solidFill>
                <a:latin typeface="Arial"/>
                <a:ea typeface="+mn-lt"/>
                <a:cs typeface="+mn-lt"/>
              </a:rPr>
              <a:t> se </a:t>
            </a:r>
            <a:r>
              <a:rPr lang="en-US" sz="2400" err="1">
                <a:solidFill>
                  <a:srgbClr val="000000"/>
                </a:solidFill>
                <a:latin typeface="Arial"/>
                <a:ea typeface="+mn-lt"/>
                <a:cs typeface="+mn-lt"/>
              </a:rPr>
              <a:t>maximiza</a:t>
            </a:r>
            <a:r>
              <a:rPr lang="en-US" sz="2400" dirty="0">
                <a:solidFill>
                  <a:srgbClr val="000000"/>
                </a:solidFill>
                <a:latin typeface="Arial"/>
                <a:ea typeface="+mn-lt"/>
                <a:cs typeface="+mn-lt"/>
              </a:rPr>
              <a:t> al </a:t>
            </a:r>
            <a:r>
              <a:rPr lang="en-US" sz="2400" err="1">
                <a:solidFill>
                  <a:srgbClr val="000000"/>
                </a:solidFill>
                <a:latin typeface="Arial"/>
                <a:ea typeface="+mn-lt"/>
                <a:cs typeface="+mn-lt"/>
              </a:rPr>
              <a:t>complementarlas</a:t>
            </a:r>
            <a:r>
              <a:rPr lang="en-US" sz="2400" dirty="0">
                <a:solidFill>
                  <a:srgbClr val="000000"/>
                </a:solidFill>
                <a:latin typeface="Arial"/>
                <a:ea typeface="+mn-lt"/>
                <a:cs typeface="+mn-lt"/>
              </a:rPr>
              <a:t> con </a:t>
            </a:r>
            <a:r>
              <a:rPr lang="en-US" sz="2400" b="1" err="1">
                <a:solidFill>
                  <a:srgbClr val="000000"/>
                </a:solidFill>
                <a:latin typeface="Arial"/>
                <a:ea typeface="+mn-lt"/>
                <a:cs typeface="+mn-lt"/>
              </a:rPr>
              <a:t>inteligencia</a:t>
            </a:r>
            <a:r>
              <a:rPr lang="en-US" sz="2400" b="1" dirty="0">
                <a:solidFill>
                  <a:srgbClr val="000000"/>
                </a:solidFill>
                <a:latin typeface="Arial"/>
                <a:ea typeface="+mn-lt"/>
                <a:cs typeface="+mn-lt"/>
              </a:rPr>
              <a:t> artificial</a:t>
            </a:r>
            <a:r>
              <a:rPr lang="en-US" sz="2400" dirty="0">
                <a:solidFill>
                  <a:srgbClr val="000000"/>
                </a:solidFill>
                <a:latin typeface="Arial"/>
                <a:ea typeface="+mn-lt"/>
                <a:cs typeface="+mn-lt"/>
              </a:rPr>
              <a:t> y </a:t>
            </a:r>
            <a:r>
              <a:rPr lang="en-US" sz="2400" err="1">
                <a:solidFill>
                  <a:srgbClr val="000000"/>
                </a:solidFill>
                <a:latin typeface="Arial"/>
                <a:ea typeface="+mn-lt"/>
                <a:cs typeface="+mn-lt"/>
              </a:rPr>
              <a:t>marcos</a:t>
            </a:r>
            <a:r>
              <a:rPr lang="en-US" sz="2400" dirty="0">
                <a:solidFill>
                  <a:srgbClr val="000000"/>
                </a:solidFill>
                <a:latin typeface="Arial"/>
                <a:ea typeface="+mn-lt"/>
                <a:cs typeface="+mn-lt"/>
              </a:rPr>
              <a:t> de </a:t>
            </a:r>
            <a:r>
              <a:rPr lang="en-US" sz="2400" err="1">
                <a:solidFill>
                  <a:srgbClr val="000000"/>
                </a:solidFill>
                <a:latin typeface="Arial"/>
                <a:ea typeface="+mn-lt"/>
                <a:cs typeface="+mn-lt"/>
              </a:rPr>
              <a:t>trabajo</a:t>
            </a:r>
            <a:r>
              <a:rPr lang="en-US" sz="2400" dirty="0">
                <a:solidFill>
                  <a:srgbClr val="000000"/>
                </a:solidFill>
                <a:latin typeface="Arial"/>
                <a:ea typeface="+mn-lt"/>
                <a:cs typeface="+mn-lt"/>
              </a:rPr>
              <a:t> que </a:t>
            </a:r>
            <a:r>
              <a:rPr lang="en-US" sz="2400" err="1">
                <a:solidFill>
                  <a:srgbClr val="000000"/>
                </a:solidFill>
                <a:latin typeface="Arial"/>
                <a:ea typeface="+mn-lt"/>
                <a:cs typeface="+mn-lt"/>
              </a:rPr>
              <a:t>aseguren</a:t>
            </a:r>
            <a:r>
              <a:rPr lang="en-US" sz="2400" dirty="0">
                <a:solidFill>
                  <a:srgbClr val="000000"/>
                </a:solidFill>
                <a:latin typeface="Arial"/>
                <a:ea typeface="+mn-lt"/>
                <a:cs typeface="+mn-lt"/>
              </a:rPr>
              <a:t> </a:t>
            </a:r>
            <a:r>
              <a:rPr lang="en-US" sz="2400" err="1">
                <a:solidFill>
                  <a:srgbClr val="000000"/>
                </a:solidFill>
                <a:latin typeface="Arial"/>
                <a:ea typeface="+mn-lt"/>
                <a:cs typeface="+mn-lt"/>
              </a:rPr>
              <a:t>calidad</a:t>
            </a:r>
            <a:r>
              <a:rPr lang="en-US" sz="2400" dirty="0">
                <a:solidFill>
                  <a:srgbClr val="000000"/>
                </a:solidFill>
                <a:latin typeface="Arial"/>
                <a:ea typeface="+mn-lt"/>
                <a:cs typeface="+mn-lt"/>
              </a:rPr>
              <a:t> </a:t>
            </a:r>
            <a:r>
              <a:rPr lang="en-US" sz="2400" err="1">
                <a:solidFill>
                  <a:srgbClr val="000000"/>
                </a:solidFill>
                <a:latin typeface="Arial"/>
                <a:ea typeface="+mn-lt"/>
                <a:cs typeface="+mn-lt"/>
              </a:rPr>
              <a:t>técnica</a:t>
            </a:r>
            <a:r>
              <a:rPr lang="en-US" sz="2400" dirty="0">
                <a:solidFill>
                  <a:srgbClr val="000000"/>
                </a:solidFill>
                <a:latin typeface="Arial"/>
                <a:ea typeface="+mn-lt"/>
                <a:cs typeface="+mn-lt"/>
              </a:rPr>
              <a:t>, </a:t>
            </a:r>
            <a:r>
              <a:rPr lang="en-US" sz="2400" err="1">
                <a:solidFill>
                  <a:srgbClr val="000000"/>
                </a:solidFill>
                <a:latin typeface="Arial"/>
                <a:ea typeface="+mn-lt"/>
                <a:cs typeface="+mn-lt"/>
              </a:rPr>
              <a:t>como</a:t>
            </a:r>
            <a:r>
              <a:rPr lang="en-US" sz="2400" dirty="0">
                <a:solidFill>
                  <a:srgbClr val="000000"/>
                </a:solidFill>
                <a:latin typeface="Arial"/>
                <a:ea typeface="+mn-lt"/>
                <a:cs typeface="+mn-lt"/>
              </a:rPr>
              <a:t> </a:t>
            </a:r>
            <a:r>
              <a:rPr lang="en-US" sz="2400" b="1" dirty="0">
                <a:solidFill>
                  <a:srgbClr val="000000"/>
                </a:solidFill>
                <a:latin typeface="Arial"/>
                <a:ea typeface="+mn-lt"/>
                <a:cs typeface="+mn-lt"/>
              </a:rPr>
              <a:t>Scrum</a:t>
            </a:r>
            <a:r>
              <a:rPr lang="en-US" sz="2400" dirty="0">
                <a:solidFill>
                  <a:srgbClr val="000000"/>
                </a:solidFill>
                <a:latin typeface="Arial"/>
                <a:ea typeface="+mn-lt"/>
                <a:cs typeface="+mn-lt"/>
              </a:rPr>
              <a:t> y </a:t>
            </a:r>
            <a:r>
              <a:rPr lang="en-US" sz="2400" b="1" dirty="0">
                <a:solidFill>
                  <a:srgbClr val="000000"/>
                </a:solidFill>
                <a:latin typeface="Arial"/>
                <a:ea typeface="+mn-lt"/>
                <a:cs typeface="+mn-lt"/>
              </a:rPr>
              <a:t>Extreme Programming (XP)</a:t>
            </a:r>
            <a:r>
              <a:rPr lang="en-US" sz="2400" dirty="0">
                <a:solidFill>
                  <a:srgbClr val="000000"/>
                </a:solidFill>
                <a:latin typeface="Arial"/>
                <a:ea typeface="+mn-lt"/>
                <a:cs typeface="+mn-lt"/>
              </a:rPr>
              <a:t>.</a:t>
            </a:r>
            <a:endParaRPr lang="en-US" sz="2400">
              <a:solidFill>
                <a:srgbClr val="000000"/>
              </a:solidFill>
              <a:latin typeface="Arial"/>
              <a:ea typeface="Raleway Light"/>
              <a:cs typeface="Raleway Light"/>
            </a:endParaRPr>
          </a:p>
          <a:p>
            <a:pPr>
              <a:lnSpc>
                <a:spcPts val="3925"/>
              </a:lnSpc>
            </a:pPr>
            <a:endParaRPr lang="en-US" sz="2900" dirty="0">
              <a:solidFill>
                <a:srgbClr val="000000"/>
              </a:solidFill>
              <a:latin typeface="Raleway Light"/>
              <a:ea typeface="Raleway Light"/>
              <a:cs typeface="Raleway Light"/>
            </a:endParaRPr>
          </a:p>
          <a:p>
            <a:pPr algn="l">
              <a:lnSpc>
                <a:spcPts val="3674"/>
              </a:lnSpc>
            </a:pPr>
            <a:endParaRPr lang="en-US" sz="2929" dirty="0">
              <a:solidFill>
                <a:srgbClr val="000000"/>
              </a:solidFill>
              <a:latin typeface="Raleway Light"/>
              <a:ea typeface="Raleway Light"/>
              <a:cs typeface="Raleway Light"/>
              <a:sym typeface="Raleway Light"/>
            </a:endParaRPr>
          </a:p>
        </p:txBody>
      </p:sp>
      <p:sp>
        <p:nvSpPr>
          <p:cNvPr id="4" name="TextBox 4"/>
          <p:cNvSpPr txBox="1"/>
          <p:nvPr/>
        </p:nvSpPr>
        <p:spPr>
          <a:xfrm>
            <a:off x="5559007" y="1110087"/>
            <a:ext cx="7169987" cy="849784"/>
          </a:xfrm>
          <a:prstGeom prst="rect">
            <a:avLst/>
          </a:prstGeom>
        </p:spPr>
        <p:txBody>
          <a:bodyPr lIns="0" tIns="0" rIns="0" bIns="0" rtlCol="0" anchor="t">
            <a:spAutoFit/>
          </a:bodyPr>
          <a:lstStyle/>
          <a:p>
            <a:pPr algn="ctr">
              <a:lnSpc>
                <a:spcPts val="7484"/>
              </a:lnSpc>
            </a:pPr>
            <a:r>
              <a:rPr lang="en-US" sz="4000" b="1" dirty="0">
                <a:solidFill>
                  <a:srgbClr val="000000"/>
                </a:solidFill>
                <a:latin typeface="Arial" panose="020B0604020202020204" pitchFamily="34" charset="0"/>
                <a:ea typeface="HK Modular"/>
                <a:cs typeface="Arial" panose="020B0604020202020204" pitchFamily="34" charset="0"/>
                <a:sym typeface="HK Modular"/>
              </a:rPr>
              <a:t>INTRODUCCION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3E91B-DD18-0483-EBFD-0C1AE24D194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17BBFBD-1709-4868-3D9D-135FC77BF027}"/>
              </a:ext>
            </a:extLst>
          </p:cNvPr>
          <p:cNvSpPr>
            <a:spLocks noGrp="1" noRot="1" noMove="1" noResize="1" noEditPoints="1" noAdjustHandles="1" noChangeArrowheads="1" noChangeShapeType="1"/>
          </p:cNvSpPr>
          <p:nvPr/>
        </p:nvSpPr>
        <p:spPr>
          <a:xfrm>
            <a:off x="0" y="0"/>
            <a:ext cx="18288000" cy="10287000"/>
          </a:xfrm>
          <a:custGeom>
            <a:avLst/>
            <a:gdLst/>
            <a:ahLst/>
            <a:cxnLst/>
            <a:rect l="l" t="t" r="r" b="b"/>
            <a:pathLst>
              <a:path w="13716000" h="10287000">
                <a:moveTo>
                  <a:pt x="0" y="0"/>
                </a:moveTo>
                <a:lnTo>
                  <a:pt x="13716000" y="0"/>
                </a:lnTo>
                <a:lnTo>
                  <a:pt x="13716000" y="10287000"/>
                </a:lnTo>
                <a:lnTo>
                  <a:pt x="0" y="10287000"/>
                </a:lnTo>
                <a:lnTo>
                  <a:pt x="0" y="0"/>
                </a:lnTo>
                <a:close/>
              </a:path>
            </a:pathLst>
          </a:custGeom>
          <a:blipFill>
            <a:blip r:embed="rId2"/>
            <a:stretch>
              <a:fillRect/>
            </a:stretch>
          </a:blipFill>
        </p:spPr>
        <p:txBody>
          <a:bodyPr/>
          <a:lstStyle/>
          <a:p>
            <a:endParaRPr lang="es-CO"/>
          </a:p>
        </p:txBody>
      </p:sp>
      <p:sp>
        <p:nvSpPr>
          <p:cNvPr id="3" name="TextBox 3">
            <a:extLst>
              <a:ext uri="{FF2B5EF4-FFF2-40B4-BE49-F238E27FC236}">
                <a16:creationId xmlns:a16="http://schemas.microsoft.com/office/drawing/2014/main" id="{50959A80-48A5-BC9C-A0F9-FCC674D70C7A}"/>
              </a:ext>
            </a:extLst>
          </p:cNvPr>
          <p:cNvSpPr txBox="1"/>
          <p:nvPr/>
        </p:nvSpPr>
        <p:spPr>
          <a:xfrm>
            <a:off x="3314700" y="2223977"/>
            <a:ext cx="11658600" cy="4900765"/>
          </a:xfrm>
          <a:prstGeom prst="rect">
            <a:avLst/>
          </a:prstGeom>
        </p:spPr>
        <p:txBody>
          <a:bodyPr lIns="0" tIns="0" rIns="0" bIns="0" rtlCol="0" anchor="t">
            <a:spAutoFit/>
          </a:bodyPr>
          <a:lstStyle/>
          <a:p>
            <a:pPr algn="just">
              <a:lnSpc>
                <a:spcPts val="3925"/>
              </a:lnSpc>
            </a:pPr>
            <a:r>
              <a:rPr lang="en-US" sz="2400" dirty="0">
                <a:latin typeface="Arial"/>
                <a:cs typeface="Arial"/>
              </a:rPr>
              <a:t>¿Que </a:t>
            </a:r>
            <a:r>
              <a:rPr lang="en-US" sz="2400" err="1">
                <a:latin typeface="Arial"/>
                <a:cs typeface="Arial"/>
              </a:rPr>
              <a:t>haremos</a:t>
            </a:r>
            <a:r>
              <a:rPr lang="en-US" sz="2400" dirty="0">
                <a:latin typeface="Arial"/>
                <a:cs typeface="Arial"/>
              </a:rPr>
              <a:t>?</a:t>
            </a:r>
          </a:p>
          <a:p>
            <a:pPr algn="just"/>
            <a:r>
              <a:rPr lang="en-US" sz="2400" dirty="0">
                <a:solidFill>
                  <a:srgbClr val="000000"/>
                </a:solidFill>
                <a:latin typeface="Arial"/>
                <a:ea typeface="+mn-lt"/>
                <a:cs typeface="+mn-lt"/>
              </a:rPr>
              <a:t>El </a:t>
            </a:r>
            <a:r>
              <a:rPr lang="en-US" sz="2400" err="1">
                <a:solidFill>
                  <a:srgbClr val="000000"/>
                </a:solidFill>
                <a:latin typeface="Arial"/>
                <a:ea typeface="+mn-lt"/>
                <a:cs typeface="+mn-lt"/>
              </a:rPr>
              <a:t>presente</a:t>
            </a:r>
            <a:r>
              <a:rPr lang="en-US" sz="2400" dirty="0">
                <a:solidFill>
                  <a:srgbClr val="000000"/>
                </a:solidFill>
                <a:latin typeface="Arial"/>
                <a:ea typeface="+mn-lt"/>
                <a:cs typeface="+mn-lt"/>
              </a:rPr>
              <a:t> </a:t>
            </a:r>
            <a:r>
              <a:rPr lang="en-US" sz="2400" err="1">
                <a:solidFill>
                  <a:srgbClr val="000000"/>
                </a:solidFill>
                <a:latin typeface="Arial"/>
                <a:ea typeface="+mn-lt"/>
                <a:cs typeface="+mn-lt"/>
              </a:rPr>
              <a:t>proyecto</a:t>
            </a:r>
            <a:r>
              <a:rPr lang="en-US" sz="2400" dirty="0">
                <a:solidFill>
                  <a:srgbClr val="000000"/>
                </a:solidFill>
                <a:latin typeface="Arial"/>
                <a:ea typeface="+mn-lt"/>
                <a:cs typeface="+mn-lt"/>
              </a:rPr>
              <a:t> propone </a:t>
            </a:r>
            <a:r>
              <a:rPr lang="en-US" sz="2400" err="1">
                <a:solidFill>
                  <a:srgbClr val="000000"/>
                </a:solidFill>
                <a:latin typeface="Arial"/>
                <a:ea typeface="+mn-lt"/>
                <a:cs typeface="+mn-lt"/>
              </a:rPr>
              <a:t>el</a:t>
            </a:r>
            <a:r>
              <a:rPr lang="en-US" sz="2400" dirty="0">
                <a:solidFill>
                  <a:srgbClr val="000000"/>
                </a:solidFill>
                <a:latin typeface="Arial"/>
                <a:ea typeface="+mn-lt"/>
                <a:cs typeface="+mn-lt"/>
              </a:rPr>
              <a:t> </a:t>
            </a:r>
            <a:r>
              <a:rPr lang="en-US" sz="2400" err="1">
                <a:solidFill>
                  <a:srgbClr val="000000"/>
                </a:solidFill>
                <a:latin typeface="Arial"/>
                <a:ea typeface="+mn-lt"/>
                <a:cs typeface="+mn-lt"/>
              </a:rPr>
              <a:t>desarrollo</a:t>
            </a:r>
            <a:r>
              <a:rPr lang="en-US" sz="2400" dirty="0">
                <a:solidFill>
                  <a:srgbClr val="000000"/>
                </a:solidFill>
                <a:latin typeface="Arial"/>
                <a:ea typeface="+mn-lt"/>
                <a:cs typeface="+mn-lt"/>
              </a:rPr>
              <a:t> de un </a:t>
            </a:r>
            <a:r>
              <a:rPr lang="en-US" sz="2400" b="1" err="1">
                <a:solidFill>
                  <a:srgbClr val="000000"/>
                </a:solidFill>
                <a:latin typeface="Arial"/>
                <a:ea typeface="+mn-lt"/>
                <a:cs typeface="+mn-lt"/>
              </a:rPr>
              <a:t>aplicativo</a:t>
            </a:r>
            <a:r>
              <a:rPr lang="en-US" sz="2400" b="1" dirty="0">
                <a:solidFill>
                  <a:srgbClr val="000000"/>
                </a:solidFill>
                <a:latin typeface="Arial"/>
                <a:ea typeface="+mn-lt"/>
                <a:cs typeface="+mn-lt"/>
              </a:rPr>
              <a:t> web </a:t>
            </a:r>
            <a:r>
              <a:rPr lang="en-US" sz="2400" b="1" err="1">
                <a:solidFill>
                  <a:srgbClr val="000000"/>
                </a:solidFill>
                <a:latin typeface="Arial"/>
                <a:ea typeface="+mn-lt"/>
                <a:cs typeface="+mn-lt"/>
              </a:rPr>
              <a:t>integrado</a:t>
            </a:r>
            <a:r>
              <a:rPr lang="en-US" sz="2400" b="1" dirty="0">
                <a:solidFill>
                  <a:srgbClr val="000000"/>
                </a:solidFill>
                <a:latin typeface="Arial"/>
                <a:ea typeface="+mn-lt"/>
                <a:cs typeface="+mn-lt"/>
              </a:rPr>
              <a:t> con Jira</a:t>
            </a:r>
            <a:r>
              <a:rPr lang="en-US" sz="2400" dirty="0">
                <a:solidFill>
                  <a:srgbClr val="000000"/>
                </a:solidFill>
                <a:latin typeface="Arial"/>
                <a:ea typeface="+mn-lt"/>
                <a:cs typeface="+mn-lt"/>
              </a:rPr>
              <a:t>, </a:t>
            </a:r>
            <a:r>
              <a:rPr lang="en-US" sz="2400" err="1">
                <a:solidFill>
                  <a:srgbClr val="000000"/>
                </a:solidFill>
                <a:latin typeface="Arial"/>
                <a:ea typeface="+mn-lt"/>
                <a:cs typeface="+mn-lt"/>
              </a:rPr>
              <a:t>potenciado</a:t>
            </a:r>
            <a:r>
              <a:rPr lang="en-US" sz="2400" dirty="0">
                <a:solidFill>
                  <a:srgbClr val="000000"/>
                </a:solidFill>
                <a:latin typeface="Arial"/>
                <a:ea typeface="+mn-lt"/>
                <a:cs typeface="+mn-lt"/>
              </a:rPr>
              <a:t> </a:t>
            </a:r>
            <a:r>
              <a:rPr lang="en-US" sz="2400" err="1">
                <a:solidFill>
                  <a:srgbClr val="000000"/>
                </a:solidFill>
                <a:latin typeface="Arial"/>
                <a:ea typeface="+mn-lt"/>
                <a:cs typeface="+mn-lt"/>
              </a:rPr>
              <a:t>por</a:t>
            </a:r>
            <a:r>
              <a:rPr lang="en-US" sz="2400" dirty="0">
                <a:solidFill>
                  <a:srgbClr val="000000"/>
                </a:solidFill>
                <a:latin typeface="Arial"/>
                <a:ea typeface="+mn-lt"/>
                <a:cs typeface="+mn-lt"/>
              </a:rPr>
              <a:t> </a:t>
            </a:r>
            <a:r>
              <a:rPr lang="en-US" sz="2400" b="1" dirty="0">
                <a:solidFill>
                  <a:srgbClr val="000000"/>
                </a:solidFill>
                <a:latin typeface="Arial"/>
                <a:ea typeface="+mn-lt"/>
                <a:cs typeface="+mn-lt"/>
              </a:rPr>
              <a:t>IA </a:t>
            </a:r>
            <a:r>
              <a:rPr lang="en-US" sz="2400" b="1" err="1">
                <a:solidFill>
                  <a:srgbClr val="000000"/>
                </a:solidFill>
                <a:latin typeface="Arial"/>
                <a:ea typeface="+mn-lt"/>
                <a:cs typeface="+mn-lt"/>
              </a:rPr>
              <a:t>mediante</a:t>
            </a:r>
            <a:r>
              <a:rPr lang="en-US" sz="2400" b="1" dirty="0">
                <a:solidFill>
                  <a:srgbClr val="000000"/>
                </a:solidFill>
                <a:latin typeface="Arial"/>
                <a:ea typeface="+mn-lt"/>
                <a:cs typeface="+mn-lt"/>
              </a:rPr>
              <a:t> RAG y </a:t>
            </a:r>
            <a:r>
              <a:rPr lang="en-US" sz="2400" b="1" err="1">
                <a:solidFill>
                  <a:srgbClr val="000000"/>
                </a:solidFill>
                <a:latin typeface="Arial"/>
                <a:ea typeface="+mn-lt"/>
                <a:cs typeface="+mn-lt"/>
              </a:rPr>
              <a:t>el</a:t>
            </a:r>
            <a:r>
              <a:rPr lang="en-US" sz="2400" b="1" dirty="0">
                <a:solidFill>
                  <a:srgbClr val="000000"/>
                </a:solidFill>
                <a:latin typeface="Arial"/>
                <a:ea typeface="+mn-lt"/>
                <a:cs typeface="+mn-lt"/>
              </a:rPr>
              <a:t> </a:t>
            </a:r>
            <a:r>
              <a:rPr lang="en-US" sz="2400" b="1" err="1">
                <a:solidFill>
                  <a:srgbClr val="000000"/>
                </a:solidFill>
                <a:latin typeface="Arial"/>
                <a:ea typeface="+mn-lt"/>
                <a:cs typeface="+mn-lt"/>
              </a:rPr>
              <a:t>modelo</a:t>
            </a:r>
            <a:r>
              <a:rPr lang="en-US" sz="2400" b="1" dirty="0">
                <a:solidFill>
                  <a:srgbClr val="000000"/>
                </a:solidFill>
                <a:latin typeface="Arial"/>
                <a:ea typeface="+mn-lt"/>
                <a:cs typeface="+mn-lt"/>
              </a:rPr>
              <a:t> Llama 3.1</a:t>
            </a:r>
            <a:r>
              <a:rPr lang="en-US" sz="2400" dirty="0">
                <a:solidFill>
                  <a:srgbClr val="000000"/>
                </a:solidFill>
                <a:latin typeface="Arial"/>
                <a:ea typeface="+mn-lt"/>
                <a:cs typeface="+mn-lt"/>
              </a:rPr>
              <a:t>, </a:t>
            </a:r>
            <a:r>
              <a:rPr lang="en-US" sz="2400" err="1">
                <a:solidFill>
                  <a:srgbClr val="000000"/>
                </a:solidFill>
                <a:latin typeface="Arial"/>
                <a:ea typeface="+mn-lt"/>
                <a:cs typeface="+mn-lt"/>
              </a:rPr>
              <a:t>capaz</a:t>
            </a:r>
            <a:r>
              <a:rPr lang="en-US" sz="2400" dirty="0">
                <a:solidFill>
                  <a:srgbClr val="000000"/>
                </a:solidFill>
                <a:latin typeface="Arial"/>
                <a:ea typeface="+mn-lt"/>
                <a:cs typeface="+mn-lt"/>
              </a:rPr>
              <a:t> de leer la </a:t>
            </a:r>
            <a:r>
              <a:rPr lang="en-US" sz="2400" b="1" dirty="0">
                <a:solidFill>
                  <a:srgbClr val="000000"/>
                </a:solidFill>
                <a:latin typeface="Arial"/>
                <a:ea typeface="+mn-lt"/>
                <a:cs typeface="+mn-lt"/>
              </a:rPr>
              <a:t>Guía Scrum</a:t>
            </a:r>
            <a:r>
              <a:rPr lang="en-US" sz="2400" dirty="0">
                <a:solidFill>
                  <a:srgbClr val="000000"/>
                </a:solidFill>
                <a:latin typeface="Arial"/>
                <a:ea typeface="+mn-lt"/>
                <a:cs typeface="+mn-lt"/>
              </a:rPr>
              <a:t>, la </a:t>
            </a:r>
            <a:r>
              <a:rPr lang="en-US" sz="2400" b="1" dirty="0">
                <a:solidFill>
                  <a:srgbClr val="000000"/>
                </a:solidFill>
                <a:latin typeface="Arial"/>
                <a:ea typeface="+mn-lt"/>
                <a:cs typeface="+mn-lt"/>
              </a:rPr>
              <a:t>Guía XP</a:t>
            </a:r>
            <a:r>
              <a:rPr lang="en-US" sz="2400" dirty="0">
                <a:solidFill>
                  <a:srgbClr val="000000"/>
                </a:solidFill>
                <a:latin typeface="Arial"/>
                <a:ea typeface="+mn-lt"/>
                <a:cs typeface="+mn-lt"/>
              </a:rPr>
              <a:t> y </a:t>
            </a:r>
            <a:r>
              <a:rPr lang="en-US" sz="2400" err="1">
                <a:solidFill>
                  <a:srgbClr val="000000"/>
                </a:solidFill>
                <a:latin typeface="Arial"/>
                <a:ea typeface="+mn-lt"/>
                <a:cs typeface="+mn-lt"/>
              </a:rPr>
              <a:t>los</a:t>
            </a:r>
            <a:r>
              <a:rPr lang="en-US" sz="2400" dirty="0">
                <a:solidFill>
                  <a:srgbClr val="000000"/>
                </a:solidFill>
                <a:latin typeface="Arial"/>
                <a:ea typeface="+mn-lt"/>
                <a:cs typeface="+mn-lt"/>
              </a:rPr>
              <a:t> </a:t>
            </a:r>
            <a:r>
              <a:rPr lang="en-US" sz="2400" err="1">
                <a:solidFill>
                  <a:srgbClr val="000000"/>
                </a:solidFill>
                <a:latin typeface="Arial"/>
                <a:ea typeface="+mn-lt"/>
                <a:cs typeface="+mn-lt"/>
              </a:rPr>
              <a:t>datos</a:t>
            </a:r>
            <a:r>
              <a:rPr lang="en-US" sz="2400" dirty="0">
                <a:solidFill>
                  <a:srgbClr val="000000"/>
                </a:solidFill>
                <a:latin typeface="Arial"/>
                <a:ea typeface="+mn-lt"/>
                <a:cs typeface="+mn-lt"/>
              </a:rPr>
              <a:t> del </a:t>
            </a:r>
            <a:r>
              <a:rPr lang="en-US" sz="2400" err="1">
                <a:solidFill>
                  <a:srgbClr val="000000"/>
                </a:solidFill>
                <a:latin typeface="Arial"/>
                <a:ea typeface="+mn-lt"/>
                <a:cs typeface="+mn-lt"/>
              </a:rPr>
              <a:t>proyecto</a:t>
            </a:r>
            <a:r>
              <a:rPr lang="en-US" sz="2400" dirty="0">
                <a:solidFill>
                  <a:srgbClr val="000000"/>
                </a:solidFill>
                <a:latin typeface="Arial"/>
                <a:ea typeface="+mn-lt"/>
                <a:cs typeface="+mn-lt"/>
              </a:rPr>
              <a:t> para responder </a:t>
            </a:r>
            <a:r>
              <a:rPr lang="en-US" sz="2400" err="1">
                <a:solidFill>
                  <a:srgbClr val="000000"/>
                </a:solidFill>
                <a:latin typeface="Arial"/>
                <a:ea typeface="+mn-lt"/>
                <a:cs typeface="+mn-lt"/>
              </a:rPr>
              <a:t>consultas</a:t>
            </a:r>
            <a:r>
              <a:rPr lang="en-US" sz="2400" dirty="0">
                <a:solidFill>
                  <a:srgbClr val="000000"/>
                </a:solidFill>
                <a:latin typeface="Arial"/>
                <a:ea typeface="+mn-lt"/>
                <a:cs typeface="+mn-lt"/>
              </a:rPr>
              <a:t> </a:t>
            </a:r>
            <a:r>
              <a:rPr lang="en-US" sz="2400" err="1">
                <a:solidFill>
                  <a:srgbClr val="000000"/>
                </a:solidFill>
                <a:latin typeface="Arial"/>
                <a:ea typeface="+mn-lt"/>
                <a:cs typeface="+mn-lt"/>
              </a:rPr>
              <a:t>en</a:t>
            </a:r>
            <a:r>
              <a:rPr lang="en-US" sz="2400" dirty="0">
                <a:solidFill>
                  <a:srgbClr val="000000"/>
                </a:solidFill>
                <a:latin typeface="Arial"/>
                <a:ea typeface="+mn-lt"/>
                <a:cs typeface="+mn-lt"/>
              </a:rPr>
              <a:t> </a:t>
            </a:r>
            <a:r>
              <a:rPr lang="en-US" sz="2400" err="1">
                <a:solidFill>
                  <a:srgbClr val="000000"/>
                </a:solidFill>
                <a:latin typeface="Arial"/>
                <a:ea typeface="+mn-lt"/>
                <a:cs typeface="+mn-lt"/>
              </a:rPr>
              <a:t>lenguaje</a:t>
            </a:r>
            <a:r>
              <a:rPr lang="en-US" sz="2400" dirty="0">
                <a:solidFill>
                  <a:srgbClr val="000000"/>
                </a:solidFill>
                <a:latin typeface="Arial"/>
                <a:ea typeface="+mn-lt"/>
                <a:cs typeface="+mn-lt"/>
              </a:rPr>
              <a:t> natural, </a:t>
            </a:r>
            <a:r>
              <a:rPr lang="en-US" sz="2400" err="1">
                <a:solidFill>
                  <a:srgbClr val="000000"/>
                </a:solidFill>
                <a:latin typeface="Arial"/>
                <a:ea typeface="+mn-lt"/>
                <a:cs typeface="+mn-lt"/>
              </a:rPr>
              <a:t>generar</a:t>
            </a:r>
            <a:r>
              <a:rPr lang="en-US" sz="2400" dirty="0">
                <a:solidFill>
                  <a:srgbClr val="000000"/>
                </a:solidFill>
                <a:latin typeface="Arial"/>
                <a:ea typeface="+mn-lt"/>
                <a:cs typeface="+mn-lt"/>
              </a:rPr>
              <a:t> </a:t>
            </a:r>
            <a:r>
              <a:rPr lang="en-US" sz="2400" err="1">
                <a:solidFill>
                  <a:srgbClr val="000000"/>
                </a:solidFill>
                <a:latin typeface="Arial"/>
                <a:ea typeface="+mn-lt"/>
                <a:cs typeface="+mn-lt"/>
              </a:rPr>
              <a:t>métricas</a:t>
            </a:r>
            <a:r>
              <a:rPr lang="en-US" sz="2400" dirty="0">
                <a:solidFill>
                  <a:srgbClr val="000000"/>
                </a:solidFill>
                <a:latin typeface="Arial"/>
                <a:ea typeface="+mn-lt"/>
                <a:cs typeface="+mn-lt"/>
              </a:rPr>
              <a:t> </a:t>
            </a:r>
            <a:r>
              <a:rPr lang="en-US" sz="2400" err="1">
                <a:solidFill>
                  <a:srgbClr val="000000"/>
                </a:solidFill>
                <a:latin typeface="Arial"/>
                <a:ea typeface="+mn-lt"/>
                <a:cs typeface="+mn-lt"/>
              </a:rPr>
              <a:t>automáticas</a:t>
            </a:r>
            <a:r>
              <a:rPr lang="en-US" sz="2400" dirty="0">
                <a:solidFill>
                  <a:srgbClr val="000000"/>
                </a:solidFill>
                <a:latin typeface="Arial"/>
                <a:ea typeface="+mn-lt"/>
                <a:cs typeface="+mn-lt"/>
              </a:rPr>
              <a:t> y </a:t>
            </a:r>
            <a:r>
              <a:rPr lang="en-US" sz="2400" err="1">
                <a:solidFill>
                  <a:srgbClr val="000000"/>
                </a:solidFill>
                <a:latin typeface="Arial"/>
                <a:ea typeface="+mn-lt"/>
                <a:cs typeface="+mn-lt"/>
              </a:rPr>
              <a:t>ofrecer</a:t>
            </a:r>
            <a:r>
              <a:rPr lang="en-US" sz="2400" dirty="0">
                <a:solidFill>
                  <a:srgbClr val="000000"/>
                </a:solidFill>
                <a:latin typeface="Arial"/>
                <a:ea typeface="+mn-lt"/>
                <a:cs typeface="+mn-lt"/>
              </a:rPr>
              <a:t> </a:t>
            </a:r>
            <a:r>
              <a:rPr lang="en-US" sz="2400" err="1">
                <a:solidFill>
                  <a:srgbClr val="000000"/>
                </a:solidFill>
                <a:latin typeface="Arial"/>
                <a:ea typeface="+mn-lt"/>
                <a:cs typeface="+mn-lt"/>
              </a:rPr>
              <a:t>recomendaciones</a:t>
            </a:r>
            <a:r>
              <a:rPr lang="en-US" sz="2400" dirty="0">
                <a:solidFill>
                  <a:srgbClr val="000000"/>
                </a:solidFill>
                <a:latin typeface="Arial"/>
                <a:ea typeface="+mn-lt"/>
                <a:cs typeface="+mn-lt"/>
              </a:rPr>
              <a:t> </a:t>
            </a:r>
            <a:r>
              <a:rPr lang="en-US" sz="2400" err="1">
                <a:solidFill>
                  <a:srgbClr val="000000"/>
                </a:solidFill>
                <a:latin typeface="Arial"/>
                <a:ea typeface="+mn-lt"/>
                <a:cs typeface="+mn-lt"/>
              </a:rPr>
              <a:t>personalizadas</a:t>
            </a:r>
            <a:r>
              <a:rPr lang="en-US" sz="2400" dirty="0">
                <a:solidFill>
                  <a:srgbClr val="000000"/>
                </a:solidFill>
                <a:latin typeface="Arial"/>
                <a:ea typeface="+mn-lt"/>
                <a:cs typeface="+mn-lt"/>
              </a:rPr>
              <a:t>. Esta </a:t>
            </a:r>
            <a:r>
              <a:rPr lang="en-US" sz="2400" err="1">
                <a:solidFill>
                  <a:srgbClr val="000000"/>
                </a:solidFill>
                <a:latin typeface="Arial"/>
                <a:ea typeface="+mn-lt"/>
                <a:cs typeface="+mn-lt"/>
              </a:rPr>
              <a:t>solución</a:t>
            </a:r>
            <a:r>
              <a:rPr lang="en-US" sz="2400" dirty="0">
                <a:solidFill>
                  <a:srgbClr val="000000"/>
                </a:solidFill>
                <a:latin typeface="Arial"/>
                <a:ea typeface="+mn-lt"/>
                <a:cs typeface="+mn-lt"/>
              </a:rPr>
              <a:t> </a:t>
            </a:r>
            <a:r>
              <a:rPr lang="en-US" sz="2400" err="1">
                <a:solidFill>
                  <a:srgbClr val="000000"/>
                </a:solidFill>
                <a:latin typeface="Arial"/>
                <a:ea typeface="+mn-lt"/>
                <a:cs typeface="+mn-lt"/>
              </a:rPr>
              <a:t>busca</a:t>
            </a:r>
            <a:r>
              <a:rPr lang="en-US" sz="2400" dirty="0">
                <a:solidFill>
                  <a:srgbClr val="000000"/>
                </a:solidFill>
                <a:latin typeface="Arial"/>
                <a:ea typeface="+mn-lt"/>
                <a:cs typeface="+mn-lt"/>
              </a:rPr>
              <a:t> </a:t>
            </a:r>
            <a:r>
              <a:rPr lang="en-US" sz="2400" err="1">
                <a:solidFill>
                  <a:srgbClr val="000000"/>
                </a:solidFill>
                <a:latin typeface="Arial"/>
                <a:ea typeface="+mn-lt"/>
                <a:cs typeface="+mn-lt"/>
              </a:rPr>
              <a:t>optimizar</a:t>
            </a:r>
            <a:r>
              <a:rPr lang="en-US" sz="2400" dirty="0">
                <a:solidFill>
                  <a:srgbClr val="000000"/>
                </a:solidFill>
                <a:latin typeface="Arial"/>
                <a:ea typeface="+mn-lt"/>
                <a:cs typeface="+mn-lt"/>
              </a:rPr>
              <a:t> la </a:t>
            </a:r>
            <a:r>
              <a:rPr lang="en-US" sz="2400" b="1" err="1">
                <a:solidFill>
                  <a:srgbClr val="000000"/>
                </a:solidFill>
                <a:latin typeface="Arial"/>
                <a:ea typeface="+mn-lt"/>
                <a:cs typeface="+mn-lt"/>
              </a:rPr>
              <a:t>eficiencia</a:t>
            </a:r>
            <a:r>
              <a:rPr lang="en-US" sz="2400" b="1" dirty="0">
                <a:solidFill>
                  <a:srgbClr val="000000"/>
                </a:solidFill>
                <a:latin typeface="Arial"/>
                <a:ea typeface="+mn-lt"/>
                <a:cs typeface="+mn-lt"/>
              </a:rPr>
              <a:t>, </a:t>
            </a:r>
            <a:r>
              <a:rPr lang="en-US" sz="2400" b="1" err="1">
                <a:solidFill>
                  <a:srgbClr val="000000"/>
                </a:solidFill>
                <a:latin typeface="Arial"/>
                <a:ea typeface="+mn-lt"/>
                <a:cs typeface="+mn-lt"/>
              </a:rPr>
              <a:t>trazabilidad</a:t>
            </a:r>
            <a:r>
              <a:rPr lang="en-US" sz="2400" b="1" dirty="0">
                <a:solidFill>
                  <a:srgbClr val="000000"/>
                </a:solidFill>
                <a:latin typeface="Arial"/>
                <a:ea typeface="+mn-lt"/>
                <a:cs typeface="+mn-lt"/>
              </a:rPr>
              <a:t> y </a:t>
            </a:r>
            <a:r>
              <a:rPr lang="en-US" sz="2400" b="1" err="1">
                <a:solidFill>
                  <a:srgbClr val="000000"/>
                </a:solidFill>
                <a:latin typeface="Arial"/>
                <a:ea typeface="+mn-lt"/>
                <a:cs typeface="+mn-lt"/>
              </a:rPr>
              <a:t>calidad</a:t>
            </a:r>
            <a:r>
              <a:rPr lang="en-US" sz="2400" dirty="0">
                <a:solidFill>
                  <a:srgbClr val="000000"/>
                </a:solidFill>
                <a:latin typeface="Arial"/>
                <a:ea typeface="+mn-lt"/>
                <a:cs typeface="+mn-lt"/>
              </a:rPr>
              <a:t> de </a:t>
            </a:r>
            <a:r>
              <a:rPr lang="en-US" sz="2400" err="1">
                <a:solidFill>
                  <a:srgbClr val="000000"/>
                </a:solidFill>
                <a:latin typeface="Arial"/>
                <a:ea typeface="+mn-lt"/>
                <a:cs typeface="+mn-lt"/>
              </a:rPr>
              <a:t>los</a:t>
            </a:r>
            <a:r>
              <a:rPr lang="en-US" sz="2400" dirty="0">
                <a:solidFill>
                  <a:srgbClr val="000000"/>
                </a:solidFill>
                <a:latin typeface="Arial"/>
                <a:ea typeface="+mn-lt"/>
                <a:cs typeface="+mn-lt"/>
              </a:rPr>
              <a:t> </a:t>
            </a:r>
            <a:r>
              <a:rPr lang="en-US" sz="2400" err="1">
                <a:solidFill>
                  <a:srgbClr val="000000"/>
                </a:solidFill>
                <a:latin typeface="Arial"/>
                <a:ea typeface="+mn-lt"/>
                <a:cs typeface="+mn-lt"/>
              </a:rPr>
              <a:t>proyectos</a:t>
            </a:r>
            <a:r>
              <a:rPr lang="en-US" sz="2400" dirty="0">
                <a:solidFill>
                  <a:srgbClr val="000000"/>
                </a:solidFill>
                <a:latin typeface="Arial"/>
                <a:ea typeface="+mn-lt"/>
                <a:cs typeface="+mn-lt"/>
              </a:rPr>
              <a:t> TI, </a:t>
            </a:r>
            <a:r>
              <a:rPr lang="en-US" sz="2400" err="1">
                <a:solidFill>
                  <a:srgbClr val="000000"/>
                </a:solidFill>
                <a:latin typeface="Arial"/>
                <a:ea typeface="+mn-lt"/>
                <a:cs typeface="+mn-lt"/>
              </a:rPr>
              <a:t>reduciendo</a:t>
            </a:r>
            <a:r>
              <a:rPr lang="en-US" sz="2400" dirty="0">
                <a:solidFill>
                  <a:srgbClr val="000000"/>
                </a:solidFill>
                <a:latin typeface="Arial"/>
                <a:ea typeface="+mn-lt"/>
                <a:cs typeface="+mn-lt"/>
              </a:rPr>
              <a:t> </a:t>
            </a:r>
            <a:r>
              <a:rPr lang="en-US" sz="2400" err="1">
                <a:solidFill>
                  <a:srgbClr val="000000"/>
                </a:solidFill>
                <a:latin typeface="Arial"/>
                <a:ea typeface="+mn-lt"/>
                <a:cs typeface="+mn-lt"/>
              </a:rPr>
              <a:t>retrabajos</a:t>
            </a:r>
            <a:r>
              <a:rPr lang="en-US" sz="2400" dirty="0">
                <a:solidFill>
                  <a:srgbClr val="000000"/>
                </a:solidFill>
                <a:latin typeface="Arial"/>
                <a:ea typeface="+mn-lt"/>
                <a:cs typeface="+mn-lt"/>
              </a:rPr>
              <a:t> y </a:t>
            </a:r>
            <a:r>
              <a:rPr lang="en-US" sz="2400" err="1">
                <a:solidFill>
                  <a:srgbClr val="000000"/>
                </a:solidFill>
                <a:latin typeface="Arial"/>
                <a:ea typeface="+mn-lt"/>
                <a:cs typeface="+mn-lt"/>
              </a:rPr>
              <a:t>fortaleciendo</a:t>
            </a:r>
            <a:r>
              <a:rPr lang="en-US" sz="2400" dirty="0">
                <a:solidFill>
                  <a:srgbClr val="000000"/>
                </a:solidFill>
                <a:latin typeface="Arial"/>
                <a:ea typeface="+mn-lt"/>
                <a:cs typeface="+mn-lt"/>
              </a:rPr>
              <a:t> la </a:t>
            </a:r>
            <a:r>
              <a:rPr lang="en-US" sz="2400" err="1">
                <a:solidFill>
                  <a:srgbClr val="000000"/>
                </a:solidFill>
                <a:latin typeface="Arial"/>
                <a:ea typeface="+mn-lt"/>
                <a:cs typeface="+mn-lt"/>
              </a:rPr>
              <a:t>toma</a:t>
            </a:r>
            <a:r>
              <a:rPr lang="en-US" sz="2400" dirty="0">
                <a:solidFill>
                  <a:srgbClr val="000000"/>
                </a:solidFill>
                <a:latin typeface="Arial"/>
                <a:ea typeface="+mn-lt"/>
                <a:cs typeface="+mn-lt"/>
              </a:rPr>
              <a:t> de </a:t>
            </a:r>
            <a:r>
              <a:rPr lang="en-US" sz="2400" err="1">
                <a:solidFill>
                  <a:srgbClr val="000000"/>
                </a:solidFill>
                <a:latin typeface="Arial"/>
                <a:ea typeface="+mn-lt"/>
                <a:cs typeface="+mn-lt"/>
              </a:rPr>
              <a:t>decisiones</a:t>
            </a:r>
            <a:r>
              <a:rPr lang="en-US" sz="2400" dirty="0">
                <a:solidFill>
                  <a:srgbClr val="000000"/>
                </a:solidFill>
                <a:latin typeface="Arial"/>
                <a:ea typeface="+mn-lt"/>
                <a:cs typeface="+mn-lt"/>
              </a:rPr>
              <a:t> </a:t>
            </a:r>
            <a:r>
              <a:rPr lang="en-US" sz="2400" err="1">
                <a:solidFill>
                  <a:srgbClr val="000000"/>
                </a:solidFill>
                <a:latin typeface="Arial"/>
                <a:ea typeface="+mn-lt"/>
                <a:cs typeface="+mn-lt"/>
              </a:rPr>
              <a:t>basada</a:t>
            </a:r>
            <a:r>
              <a:rPr lang="en-US" sz="2400" dirty="0">
                <a:solidFill>
                  <a:srgbClr val="000000"/>
                </a:solidFill>
                <a:latin typeface="Arial"/>
                <a:ea typeface="+mn-lt"/>
                <a:cs typeface="+mn-lt"/>
              </a:rPr>
              <a:t> </a:t>
            </a:r>
            <a:r>
              <a:rPr lang="en-US" sz="2400" err="1">
                <a:solidFill>
                  <a:srgbClr val="000000"/>
                </a:solidFill>
                <a:latin typeface="Arial"/>
                <a:ea typeface="+mn-lt"/>
                <a:cs typeface="+mn-lt"/>
              </a:rPr>
              <a:t>en</a:t>
            </a:r>
            <a:r>
              <a:rPr lang="en-US" sz="2400" dirty="0">
                <a:solidFill>
                  <a:srgbClr val="000000"/>
                </a:solidFill>
                <a:latin typeface="Arial"/>
                <a:ea typeface="+mn-lt"/>
                <a:cs typeface="+mn-lt"/>
              </a:rPr>
              <a:t> </a:t>
            </a:r>
            <a:r>
              <a:rPr lang="en-US" sz="2400" err="1">
                <a:solidFill>
                  <a:srgbClr val="000000"/>
                </a:solidFill>
                <a:latin typeface="Arial"/>
                <a:ea typeface="+mn-lt"/>
                <a:cs typeface="+mn-lt"/>
              </a:rPr>
              <a:t>datos</a:t>
            </a:r>
            <a:r>
              <a:rPr lang="en-US" sz="2400" dirty="0">
                <a:solidFill>
                  <a:srgbClr val="000000"/>
                </a:solidFill>
                <a:latin typeface="Arial"/>
                <a:ea typeface="+mn-lt"/>
                <a:cs typeface="+mn-lt"/>
              </a:rPr>
              <a:t>, </a:t>
            </a:r>
            <a:r>
              <a:rPr lang="en-US" sz="2400" err="1">
                <a:solidFill>
                  <a:srgbClr val="000000"/>
                </a:solidFill>
                <a:latin typeface="Arial"/>
                <a:ea typeface="+mn-lt"/>
                <a:cs typeface="+mn-lt"/>
              </a:rPr>
              <a:t>en</a:t>
            </a:r>
            <a:r>
              <a:rPr lang="en-US" sz="2400" dirty="0">
                <a:solidFill>
                  <a:srgbClr val="000000"/>
                </a:solidFill>
                <a:latin typeface="Arial"/>
                <a:ea typeface="+mn-lt"/>
                <a:cs typeface="+mn-lt"/>
              </a:rPr>
              <a:t> </a:t>
            </a:r>
            <a:r>
              <a:rPr lang="en-US" sz="2400" err="1">
                <a:solidFill>
                  <a:srgbClr val="000000"/>
                </a:solidFill>
                <a:latin typeface="Arial"/>
                <a:ea typeface="+mn-lt"/>
                <a:cs typeface="+mn-lt"/>
              </a:rPr>
              <a:t>concordancia</a:t>
            </a:r>
            <a:r>
              <a:rPr lang="en-US" sz="2400" dirty="0">
                <a:solidFill>
                  <a:srgbClr val="000000"/>
                </a:solidFill>
                <a:latin typeface="Arial"/>
                <a:ea typeface="+mn-lt"/>
                <a:cs typeface="+mn-lt"/>
              </a:rPr>
              <a:t> con las </a:t>
            </a:r>
            <a:r>
              <a:rPr lang="en-US" sz="2400" err="1">
                <a:solidFill>
                  <a:srgbClr val="000000"/>
                </a:solidFill>
                <a:latin typeface="Arial"/>
                <a:ea typeface="+mn-lt"/>
                <a:cs typeface="+mn-lt"/>
              </a:rPr>
              <a:t>buenas</a:t>
            </a:r>
            <a:r>
              <a:rPr lang="en-US" sz="2400" dirty="0">
                <a:solidFill>
                  <a:srgbClr val="000000"/>
                </a:solidFill>
                <a:latin typeface="Arial"/>
                <a:ea typeface="+mn-lt"/>
                <a:cs typeface="+mn-lt"/>
              </a:rPr>
              <a:t> </a:t>
            </a:r>
            <a:r>
              <a:rPr lang="en-US" sz="2400" err="1">
                <a:solidFill>
                  <a:srgbClr val="000000"/>
                </a:solidFill>
                <a:latin typeface="Arial"/>
                <a:ea typeface="+mn-lt"/>
                <a:cs typeface="+mn-lt"/>
              </a:rPr>
              <a:t>prácticas</a:t>
            </a:r>
            <a:r>
              <a:rPr lang="en-US" sz="2400" dirty="0">
                <a:solidFill>
                  <a:srgbClr val="000000"/>
                </a:solidFill>
                <a:latin typeface="Arial"/>
                <a:ea typeface="+mn-lt"/>
                <a:cs typeface="+mn-lt"/>
              </a:rPr>
              <a:t> y </a:t>
            </a:r>
            <a:r>
              <a:rPr lang="en-US" sz="2400" err="1">
                <a:solidFill>
                  <a:srgbClr val="000000"/>
                </a:solidFill>
                <a:latin typeface="Arial"/>
                <a:ea typeface="+mn-lt"/>
                <a:cs typeface="+mn-lt"/>
              </a:rPr>
              <a:t>normas</a:t>
            </a:r>
            <a:r>
              <a:rPr lang="en-US" sz="2400" dirty="0">
                <a:solidFill>
                  <a:srgbClr val="000000"/>
                </a:solidFill>
                <a:latin typeface="Arial"/>
                <a:ea typeface="+mn-lt"/>
                <a:cs typeface="+mn-lt"/>
              </a:rPr>
              <a:t> </a:t>
            </a:r>
            <a:r>
              <a:rPr lang="en-US" sz="2400" err="1">
                <a:solidFill>
                  <a:srgbClr val="000000"/>
                </a:solidFill>
                <a:latin typeface="Arial"/>
                <a:ea typeface="+mn-lt"/>
                <a:cs typeface="+mn-lt"/>
              </a:rPr>
              <a:t>internacionales</a:t>
            </a:r>
            <a:r>
              <a:rPr lang="en-US" sz="2400" dirty="0">
                <a:solidFill>
                  <a:srgbClr val="000000"/>
                </a:solidFill>
                <a:latin typeface="Arial"/>
                <a:ea typeface="+mn-lt"/>
                <a:cs typeface="+mn-lt"/>
              </a:rPr>
              <a:t> de </a:t>
            </a:r>
            <a:r>
              <a:rPr lang="en-US" sz="2400" err="1">
                <a:solidFill>
                  <a:srgbClr val="000000"/>
                </a:solidFill>
                <a:latin typeface="Arial"/>
                <a:ea typeface="+mn-lt"/>
                <a:cs typeface="+mn-lt"/>
              </a:rPr>
              <a:t>gestión</a:t>
            </a:r>
            <a:r>
              <a:rPr lang="en-US" sz="2400" dirty="0">
                <a:solidFill>
                  <a:srgbClr val="000000"/>
                </a:solidFill>
                <a:latin typeface="Arial"/>
                <a:ea typeface="+mn-lt"/>
                <a:cs typeface="+mn-lt"/>
              </a:rPr>
              <a:t> y </a:t>
            </a:r>
            <a:r>
              <a:rPr lang="en-US" sz="2400" err="1">
                <a:solidFill>
                  <a:srgbClr val="000000"/>
                </a:solidFill>
                <a:latin typeface="Arial"/>
                <a:ea typeface="+mn-lt"/>
                <a:cs typeface="+mn-lt"/>
              </a:rPr>
              <a:t>calidad</a:t>
            </a:r>
            <a:r>
              <a:rPr lang="en-US" sz="2400" dirty="0">
                <a:solidFill>
                  <a:srgbClr val="000000"/>
                </a:solidFill>
                <a:latin typeface="Arial"/>
                <a:ea typeface="+mn-lt"/>
                <a:cs typeface="+mn-lt"/>
              </a:rPr>
              <a:t> de software.</a:t>
            </a:r>
            <a:endParaRPr lang="en-US" dirty="0">
              <a:latin typeface="Arial"/>
            </a:endParaRPr>
          </a:p>
          <a:p>
            <a:pPr algn="just">
              <a:lnSpc>
                <a:spcPts val="3925"/>
              </a:lnSpc>
            </a:pPr>
            <a:endParaRPr lang="en-US" sz="2400" dirty="0">
              <a:solidFill>
                <a:srgbClr val="000000"/>
              </a:solidFill>
              <a:latin typeface="Arial"/>
              <a:ea typeface="Raleway Light"/>
              <a:cs typeface="Arial"/>
            </a:endParaRPr>
          </a:p>
          <a:p>
            <a:pPr algn="l">
              <a:lnSpc>
                <a:spcPts val="3925"/>
              </a:lnSpc>
            </a:pPr>
            <a:endParaRPr lang="en-US" sz="2900" dirty="0">
              <a:solidFill>
                <a:srgbClr val="000000"/>
              </a:solidFill>
              <a:latin typeface="Raleway Light"/>
              <a:ea typeface="Raleway Light"/>
              <a:cs typeface="Raleway Light"/>
            </a:endParaRPr>
          </a:p>
          <a:p>
            <a:pPr>
              <a:lnSpc>
                <a:spcPts val="3674"/>
              </a:lnSpc>
            </a:pPr>
            <a:endParaRPr lang="en-US" sz="2929" dirty="0">
              <a:solidFill>
                <a:srgbClr val="000000"/>
              </a:solidFill>
              <a:latin typeface="Raleway Light"/>
              <a:ea typeface="Raleway Light"/>
              <a:cs typeface="Raleway Light"/>
            </a:endParaRPr>
          </a:p>
        </p:txBody>
      </p:sp>
      <p:sp>
        <p:nvSpPr>
          <p:cNvPr id="4" name="TextBox 4">
            <a:extLst>
              <a:ext uri="{FF2B5EF4-FFF2-40B4-BE49-F238E27FC236}">
                <a16:creationId xmlns:a16="http://schemas.microsoft.com/office/drawing/2014/main" id="{5A73E6AF-25DF-9AE5-28D3-B01DA6E8FEE6}"/>
              </a:ext>
            </a:extLst>
          </p:cNvPr>
          <p:cNvSpPr txBox="1"/>
          <p:nvPr/>
        </p:nvSpPr>
        <p:spPr>
          <a:xfrm>
            <a:off x="5559007" y="1110087"/>
            <a:ext cx="7169987" cy="849784"/>
          </a:xfrm>
          <a:prstGeom prst="rect">
            <a:avLst/>
          </a:prstGeom>
        </p:spPr>
        <p:txBody>
          <a:bodyPr lIns="0" tIns="0" rIns="0" bIns="0" rtlCol="0" anchor="t">
            <a:spAutoFit/>
          </a:bodyPr>
          <a:lstStyle/>
          <a:p>
            <a:pPr algn="ctr">
              <a:lnSpc>
                <a:spcPts val="7484"/>
              </a:lnSpc>
            </a:pPr>
            <a:r>
              <a:rPr lang="en-US" sz="4000" b="1" dirty="0">
                <a:solidFill>
                  <a:srgbClr val="000000"/>
                </a:solidFill>
                <a:latin typeface="Arial" panose="020B0604020202020204" pitchFamily="34" charset="0"/>
                <a:ea typeface="HK Modular"/>
                <a:cs typeface="Arial" panose="020B0604020202020204" pitchFamily="34" charset="0"/>
                <a:sym typeface="HK Modular"/>
              </a:rPr>
              <a:t>INTRODUCCION</a:t>
            </a:r>
          </a:p>
        </p:txBody>
      </p:sp>
    </p:spTree>
    <p:extLst>
      <p:ext uri="{BB962C8B-B14F-4D97-AF65-F5344CB8AC3E}">
        <p14:creationId xmlns:p14="http://schemas.microsoft.com/office/powerpoint/2010/main" val="2099042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a:spLocks noGrp="1" noRot="1" noMove="1" noResize="1" noEditPoints="1" noAdjustHandles="1" noChangeArrowheads="1" noChangeShapeType="1"/>
          </p:cNvSpPr>
          <p:nvPr/>
        </p:nvSpPr>
        <p:spPr>
          <a:xfrm>
            <a:off x="0" y="5443"/>
            <a:ext cx="18288000" cy="10287000"/>
          </a:xfrm>
          <a:custGeom>
            <a:avLst/>
            <a:gdLst/>
            <a:ahLst/>
            <a:cxnLst/>
            <a:rect l="l" t="t" r="r" b="b"/>
            <a:pathLst>
              <a:path w="13716000" h="10287000">
                <a:moveTo>
                  <a:pt x="0" y="0"/>
                </a:moveTo>
                <a:lnTo>
                  <a:pt x="13716000" y="0"/>
                </a:lnTo>
                <a:lnTo>
                  <a:pt x="13716000" y="10287000"/>
                </a:lnTo>
                <a:lnTo>
                  <a:pt x="0" y="10287000"/>
                </a:lnTo>
                <a:lnTo>
                  <a:pt x="0" y="0"/>
                </a:lnTo>
                <a:close/>
              </a:path>
            </a:pathLst>
          </a:custGeom>
          <a:blipFill>
            <a:blip r:embed="rId2"/>
            <a:stretch>
              <a:fillRect/>
            </a:stretch>
          </a:blipFill>
        </p:spPr>
        <p:txBody>
          <a:bodyPr/>
          <a:lstStyle/>
          <a:p>
            <a:endParaRPr lang="es-CO"/>
          </a:p>
        </p:txBody>
      </p:sp>
      <p:sp>
        <p:nvSpPr>
          <p:cNvPr id="3" name="TextBox 3"/>
          <p:cNvSpPr txBox="1"/>
          <p:nvPr/>
        </p:nvSpPr>
        <p:spPr>
          <a:xfrm>
            <a:off x="1879649" y="979940"/>
            <a:ext cx="13716000" cy="732316"/>
          </a:xfrm>
          <a:prstGeom prst="rect">
            <a:avLst/>
          </a:prstGeom>
        </p:spPr>
        <p:txBody>
          <a:bodyPr lIns="0" tIns="0" rIns="0" bIns="0" rtlCol="0" anchor="t">
            <a:spAutoFit/>
          </a:bodyPr>
          <a:lstStyle/>
          <a:p>
            <a:pPr algn="ctr">
              <a:lnSpc>
                <a:spcPts val="6444"/>
              </a:lnSpc>
            </a:pPr>
            <a:r>
              <a:rPr lang="en-US" sz="4000" b="1" dirty="0">
                <a:solidFill>
                  <a:srgbClr val="000000"/>
                </a:solidFill>
                <a:latin typeface="Arial" panose="020B0604020202020204" pitchFamily="34" charset="0"/>
                <a:ea typeface="HK Modular"/>
                <a:cs typeface="Arial" panose="020B0604020202020204" pitchFamily="34" charset="0"/>
                <a:sym typeface="HK Modular"/>
              </a:rPr>
              <a:t>PLANTEAMIENTO DEL PROBLEMA</a:t>
            </a:r>
          </a:p>
        </p:txBody>
      </p:sp>
      <p:sp>
        <p:nvSpPr>
          <p:cNvPr id="4" name="TextBox 4"/>
          <p:cNvSpPr txBox="1"/>
          <p:nvPr/>
        </p:nvSpPr>
        <p:spPr>
          <a:xfrm>
            <a:off x="1879649" y="2686753"/>
            <a:ext cx="13716000" cy="6946902"/>
          </a:xfrm>
          <a:prstGeom prst="rect">
            <a:avLst/>
          </a:prstGeom>
        </p:spPr>
        <p:txBody>
          <a:bodyPr wrap="square" lIns="0" tIns="0" rIns="0" bIns="0" rtlCol="0" anchor="t">
            <a:spAutoFit/>
          </a:bodyPr>
          <a:lstStyle/>
          <a:p>
            <a:pPr>
              <a:lnSpc>
                <a:spcPts val="3904"/>
              </a:lnSpc>
            </a:pPr>
            <a:r>
              <a:rPr lang="es-CO" sz="2400" dirty="0">
                <a:latin typeface="Arial"/>
                <a:cs typeface="Times New Roman"/>
              </a:rPr>
              <a:t>¿Cómo diseñar un </a:t>
            </a:r>
            <a:r>
              <a:rPr lang="es-CO" sz="2400" b="1" dirty="0">
                <a:latin typeface="Arial"/>
                <a:cs typeface="Times New Roman"/>
              </a:rPr>
              <a:t>aplicativo web integrado con Jira</a:t>
            </a:r>
            <a:r>
              <a:rPr lang="es-CO" sz="2400" dirty="0">
                <a:latin typeface="Arial"/>
                <a:cs typeface="Times New Roman"/>
              </a:rPr>
              <a:t> y potenciado por </a:t>
            </a:r>
            <a:r>
              <a:rPr lang="es-CO" sz="2400" b="1" dirty="0">
                <a:latin typeface="Arial"/>
                <a:cs typeface="Times New Roman"/>
              </a:rPr>
              <a:t>IA mediante RAG y Llama 3.1</a:t>
            </a:r>
            <a:r>
              <a:rPr lang="es-CO" sz="2400" dirty="0">
                <a:latin typeface="Arial"/>
                <a:cs typeface="Times New Roman"/>
              </a:rPr>
              <a:t>, que lea la </a:t>
            </a:r>
            <a:r>
              <a:rPr lang="es-CO" sz="2400" b="1" dirty="0">
                <a:latin typeface="Arial"/>
                <a:cs typeface="Times New Roman"/>
              </a:rPr>
              <a:t>Guía Scrum</a:t>
            </a:r>
            <a:r>
              <a:rPr lang="es-CO" sz="2400" dirty="0">
                <a:latin typeface="Arial"/>
                <a:cs typeface="Times New Roman"/>
              </a:rPr>
              <a:t>, la </a:t>
            </a:r>
            <a:r>
              <a:rPr lang="es-CO" sz="2400" b="1" dirty="0">
                <a:latin typeface="Arial"/>
                <a:cs typeface="Times New Roman"/>
              </a:rPr>
              <a:t>Guía XP</a:t>
            </a:r>
            <a:r>
              <a:rPr lang="es-CO" sz="2400" dirty="0">
                <a:latin typeface="Arial"/>
                <a:cs typeface="Times New Roman"/>
              </a:rPr>
              <a:t> y los datos del proyecto, para </a:t>
            </a:r>
            <a:r>
              <a:rPr lang="es-CO" sz="2400" b="1" dirty="0">
                <a:latin typeface="Arial"/>
                <a:cs typeface="Times New Roman"/>
              </a:rPr>
              <a:t>automatizar la gestión de proyectos TI</a:t>
            </a:r>
            <a:r>
              <a:rPr lang="es-CO" sz="2400" dirty="0">
                <a:latin typeface="Arial"/>
                <a:cs typeface="Times New Roman"/>
              </a:rPr>
              <a:t>, incrementar la trazabilidad, mejorar la calidad técnica y optimizar el control, alineándose con las buenas prácticas de </a:t>
            </a:r>
            <a:r>
              <a:rPr lang="es-CO" sz="2400" b="1" dirty="0">
                <a:latin typeface="Arial"/>
                <a:cs typeface="Times New Roman"/>
              </a:rPr>
              <a:t>PMBOK®, PSP, Scrum y XP</a:t>
            </a:r>
            <a:r>
              <a:rPr lang="es-CO" sz="2400" dirty="0">
                <a:latin typeface="Arial"/>
                <a:cs typeface="Times New Roman"/>
              </a:rPr>
              <a:t> y los estándares internacionales de calidad de software?</a:t>
            </a:r>
            <a:endParaRPr lang="es-ES" sz="2400" dirty="0">
              <a:latin typeface="Arial"/>
              <a:cs typeface="Times New Roman"/>
            </a:endParaRPr>
          </a:p>
          <a:p>
            <a:pPr>
              <a:lnSpc>
                <a:spcPts val="3904"/>
              </a:lnSpc>
            </a:pPr>
            <a:endParaRPr lang="en-US" sz="2400" dirty="0">
              <a:solidFill>
                <a:srgbClr val="000000"/>
              </a:solidFill>
              <a:latin typeface="Arial" panose="020B0604020202020204" pitchFamily="34" charset="0"/>
              <a:ea typeface="Raleway Bold"/>
              <a:cs typeface="Arial" panose="020B0604020202020204" pitchFamily="34" charset="0"/>
              <a:sym typeface="Raleway Bold"/>
            </a:endParaRPr>
          </a:p>
          <a:p>
            <a:pPr algn="l">
              <a:lnSpc>
                <a:spcPts val="3904"/>
              </a:lnSpc>
            </a:pPr>
            <a:r>
              <a:rPr lang="en-US" sz="2400" dirty="0">
                <a:solidFill>
                  <a:srgbClr val="000000"/>
                </a:solidFill>
                <a:latin typeface="Arial" panose="020B0604020202020204" pitchFamily="34" charset="0"/>
                <a:ea typeface="Raleway Bold"/>
                <a:cs typeface="Arial" panose="020B0604020202020204" pitchFamily="34" charset="0"/>
                <a:sym typeface="Raleway Bold"/>
              </a:rPr>
              <a:t>La dispersion de </a:t>
            </a:r>
            <a:r>
              <a:rPr lang="en-US" sz="2400" dirty="0" err="1">
                <a:solidFill>
                  <a:srgbClr val="000000"/>
                </a:solidFill>
                <a:latin typeface="Arial" panose="020B0604020202020204" pitchFamily="34" charset="0"/>
                <a:ea typeface="Raleway Bold"/>
                <a:cs typeface="Arial" panose="020B0604020202020204" pitchFamily="34" charset="0"/>
                <a:sym typeface="Raleway Bold"/>
              </a:rPr>
              <a:t>herramientas</a:t>
            </a:r>
            <a:r>
              <a:rPr lang="en-US" sz="2400" dirty="0">
                <a:solidFill>
                  <a:srgbClr val="000000"/>
                </a:solidFill>
                <a:latin typeface="Arial" panose="020B0604020202020204" pitchFamily="34" charset="0"/>
                <a:ea typeface="Raleway Bold"/>
                <a:cs typeface="Arial" panose="020B0604020202020204" pitchFamily="34" charset="0"/>
                <a:sym typeface="Raleway Bold"/>
              </a:rPr>
              <a:t> </a:t>
            </a:r>
            <a:r>
              <a:rPr lang="en-US" sz="2400" dirty="0" err="1">
                <a:solidFill>
                  <a:srgbClr val="000000"/>
                </a:solidFill>
                <a:latin typeface="Arial" panose="020B0604020202020204" pitchFamily="34" charset="0"/>
                <a:ea typeface="Raleway Bold"/>
                <a:cs typeface="Arial" panose="020B0604020202020204" pitchFamily="34" charset="0"/>
                <a:sym typeface="Raleway Bold"/>
              </a:rPr>
              <a:t>heterogeneas</a:t>
            </a:r>
            <a:r>
              <a:rPr lang="en-US" sz="2400" dirty="0">
                <a:solidFill>
                  <a:srgbClr val="000000"/>
                </a:solidFill>
                <a:latin typeface="Arial" panose="020B0604020202020204" pitchFamily="34" charset="0"/>
                <a:ea typeface="Raleway Bold"/>
                <a:cs typeface="Arial" panose="020B0604020202020204" pitchFamily="34" charset="0"/>
                <a:sym typeface="Raleway Bold"/>
              </a:rPr>
              <a:t>, </a:t>
            </a:r>
            <a:r>
              <a:rPr lang="en-US" sz="2400" dirty="0" err="1">
                <a:solidFill>
                  <a:srgbClr val="000000"/>
                </a:solidFill>
                <a:latin typeface="Arial" panose="020B0604020202020204" pitchFamily="34" charset="0"/>
                <a:ea typeface="Raleway Bold"/>
                <a:cs typeface="Arial" panose="020B0604020202020204" pitchFamily="34" charset="0"/>
                <a:sym typeface="Raleway Bold"/>
              </a:rPr>
              <a:t>durante</a:t>
            </a:r>
            <a:r>
              <a:rPr lang="en-US" sz="2400" dirty="0">
                <a:solidFill>
                  <a:srgbClr val="000000"/>
                </a:solidFill>
                <a:latin typeface="Arial" panose="020B0604020202020204" pitchFamily="34" charset="0"/>
                <a:ea typeface="Raleway Bold"/>
                <a:cs typeface="Arial" panose="020B0604020202020204" pitchFamily="34" charset="0"/>
                <a:sym typeface="Raleway Bold"/>
              </a:rPr>
              <a:t> los </a:t>
            </a:r>
            <a:r>
              <a:rPr lang="en-US" sz="2400" dirty="0" err="1">
                <a:solidFill>
                  <a:srgbClr val="000000"/>
                </a:solidFill>
                <a:latin typeface="Arial" panose="020B0604020202020204" pitchFamily="34" charset="0"/>
                <a:ea typeface="Raleway Bold"/>
                <a:cs typeface="Arial" panose="020B0604020202020204" pitchFamily="34" charset="0"/>
                <a:sym typeface="Raleway Bold"/>
              </a:rPr>
              <a:t>procesos</a:t>
            </a:r>
            <a:r>
              <a:rPr lang="en-US" sz="2400" dirty="0">
                <a:solidFill>
                  <a:srgbClr val="000000"/>
                </a:solidFill>
                <a:latin typeface="Arial" panose="020B0604020202020204" pitchFamily="34" charset="0"/>
                <a:ea typeface="Raleway Bold"/>
                <a:cs typeface="Arial" panose="020B0604020202020204" pitchFamily="34" charset="0"/>
                <a:sym typeface="Raleway Bold"/>
              </a:rPr>
              <a:t> de </a:t>
            </a:r>
            <a:r>
              <a:rPr lang="en-US" sz="2400" dirty="0" err="1">
                <a:solidFill>
                  <a:srgbClr val="000000"/>
                </a:solidFill>
                <a:latin typeface="Arial" panose="020B0604020202020204" pitchFamily="34" charset="0"/>
                <a:ea typeface="Raleway Bold"/>
                <a:cs typeface="Arial" panose="020B0604020202020204" pitchFamily="34" charset="0"/>
                <a:sym typeface="Raleway Bold"/>
              </a:rPr>
              <a:t>planificacion</a:t>
            </a:r>
            <a:r>
              <a:rPr lang="en-US" sz="2400" dirty="0">
                <a:solidFill>
                  <a:srgbClr val="000000"/>
                </a:solidFill>
                <a:latin typeface="Arial" panose="020B0604020202020204" pitchFamily="34" charset="0"/>
                <a:ea typeface="Raleway Bold"/>
                <a:cs typeface="Arial" panose="020B0604020202020204" pitchFamily="34" charset="0"/>
                <a:sym typeface="Raleway Bold"/>
              </a:rPr>
              <a:t>, </a:t>
            </a:r>
            <a:r>
              <a:rPr lang="en-US" sz="2400" dirty="0" err="1">
                <a:solidFill>
                  <a:srgbClr val="000000"/>
                </a:solidFill>
                <a:latin typeface="Arial" panose="020B0604020202020204" pitchFamily="34" charset="0"/>
                <a:ea typeface="Raleway Bold"/>
                <a:cs typeface="Arial" panose="020B0604020202020204" pitchFamily="34" charset="0"/>
                <a:sym typeface="Raleway Bold"/>
              </a:rPr>
              <a:t>ejecucion</a:t>
            </a:r>
            <a:r>
              <a:rPr lang="en-US" sz="2400" dirty="0">
                <a:solidFill>
                  <a:srgbClr val="000000"/>
                </a:solidFill>
                <a:latin typeface="Arial" panose="020B0604020202020204" pitchFamily="34" charset="0"/>
                <a:ea typeface="Raleway Bold"/>
                <a:cs typeface="Arial" panose="020B0604020202020204" pitchFamily="34" charset="0"/>
                <a:sym typeface="Raleway Bold"/>
              </a:rPr>
              <a:t> y </a:t>
            </a:r>
            <a:r>
              <a:rPr lang="en-US" sz="2400" dirty="0" err="1">
                <a:solidFill>
                  <a:srgbClr val="000000"/>
                </a:solidFill>
                <a:latin typeface="Arial" panose="020B0604020202020204" pitchFamily="34" charset="0"/>
                <a:ea typeface="Raleway Bold"/>
                <a:cs typeface="Arial" panose="020B0604020202020204" pitchFamily="34" charset="0"/>
                <a:sym typeface="Raleway Bold"/>
              </a:rPr>
              <a:t>monitoreo</a:t>
            </a:r>
            <a:r>
              <a:rPr lang="en-US" sz="2400" dirty="0">
                <a:solidFill>
                  <a:srgbClr val="000000"/>
                </a:solidFill>
                <a:latin typeface="Arial" panose="020B0604020202020204" pitchFamily="34" charset="0"/>
                <a:ea typeface="Raleway Bold"/>
                <a:cs typeface="Arial" panose="020B0604020202020204" pitchFamily="34" charset="0"/>
                <a:sym typeface="Raleway Bold"/>
              </a:rPr>
              <a:t> del proyecto, lo que </a:t>
            </a:r>
            <a:r>
              <a:rPr lang="en-US" sz="2400" dirty="0" err="1">
                <a:solidFill>
                  <a:srgbClr val="000000"/>
                </a:solidFill>
                <a:latin typeface="Arial" panose="020B0604020202020204" pitchFamily="34" charset="0"/>
                <a:ea typeface="Raleway Bold"/>
                <a:cs typeface="Arial" panose="020B0604020202020204" pitchFamily="34" charset="0"/>
                <a:sym typeface="Raleway Bold"/>
              </a:rPr>
              <a:t>dificulta</a:t>
            </a:r>
            <a:r>
              <a:rPr lang="en-US" sz="2400" dirty="0">
                <a:solidFill>
                  <a:srgbClr val="000000"/>
                </a:solidFill>
                <a:latin typeface="Arial" panose="020B0604020202020204" pitchFamily="34" charset="0"/>
                <a:ea typeface="Raleway Bold"/>
                <a:cs typeface="Arial" panose="020B0604020202020204" pitchFamily="34" charset="0"/>
                <a:sym typeface="Raleway Bold"/>
              </a:rPr>
              <a:t> un </a:t>
            </a:r>
            <a:r>
              <a:rPr lang="en-US" sz="2400" dirty="0" err="1">
                <a:solidFill>
                  <a:srgbClr val="000000"/>
                </a:solidFill>
                <a:latin typeface="Arial" panose="020B0604020202020204" pitchFamily="34" charset="0"/>
                <a:ea typeface="Raleway Bold"/>
                <a:cs typeface="Arial" panose="020B0604020202020204" pitchFamily="34" charset="0"/>
                <a:sym typeface="Raleway Bold"/>
              </a:rPr>
              <a:t>desarrollo</a:t>
            </a:r>
            <a:r>
              <a:rPr lang="en-US" sz="2400" dirty="0">
                <a:solidFill>
                  <a:srgbClr val="000000"/>
                </a:solidFill>
                <a:latin typeface="Arial" panose="020B0604020202020204" pitchFamily="34" charset="0"/>
                <a:ea typeface="Raleway Bold"/>
                <a:cs typeface="Arial" panose="020B0604020202020204" pitchFamily="34" charset="0"/>
                <a:sym typeface="Raleway Bold"/>
              </a:rPr>
              <a:t> </a:t>
            </a:r>
            <a:r>
              <a:rPr lang="en-US" sz="2400" dirty="0" err="1">
                <a:solidFill>
                  <a:srgbClr val="000000"/>
                </a:solidFill>
                <a:latin typeface="Arial" panose="020B0604020202020204" pitchFamily="34" charset="0"/>
                <a:ea typeface="Raleway Bold"/>
                <a:cs typeface="Arial" panose="020B0604020202020204" pitchFamily="34" charset="0"/>
                <a:sym typeface="Raleway Bold"/>
              </a:rPr>
              <a:t>optimo</a:t>
            </a:r>
            <a:r>
              <a:rPr lang="en-US" sz="2400" dirty="0">
                <a:solidFill>
                  <a:srgbClr val="000000"/>
                </a:solidFill>
                <a:latin typeface="Arial" panose="020B0604020202020204" pitchFamily="34" charset="0"/>
                <a:ea typeface="Raleway Bold"/>
                <a:cs typeface="Arial" panose="020B0604020202020204" pitchFamily="34" charset="0"/>
                <a:sym typeface="Raleway Bold"/>
              </a:rPr>
              <a:t>, la Calidad y le </a:t>
            </a:r>
            <a:r>
              <a:rPr lang="en-US" sz="2400" dirty="0" err="1">
                <a:solidFill>
                  <a:srgbClr val="000000"/>
                </a:solidFill>
                <a:latin typeface="Arial" panose="020B0604020202020204" pitchFamily="34" charset="0"/>
                <a:ea typeface="Raleway Bold"/>
                <a:cs typeface="Arial" panose="020B0604020202020204" pitchFamily="34" charset="0"/>
                <a:sym typeface="Raleway Bold"/>
              </a:rPr>
              <a:t>ejecucion</a:t>
            </a:r>
            <a:r>
              <a:rPr lang="en-US" sz="2400" dirty="0">
                <a:solidFill>
                  <a:srgbClr val="000000"/>
                </a:solidFill>
                <a:latin typeface="Arial" panose="020B0604020202020204" pitchFamily="34" charset="0"/>
                <a:ea typeface="Raleway Bold"/>
                <a:cs typeface="Arial" panose="020B0604020202020204" pitchFamily="34" charset="0"/>
                <a:sym typeface="Raleway Bold"/>
              </a:rPr>
              <a:t> del proyecto a tiempo. Este </a:t>
            </a:r>
            <a:r>
              <a:rPr lang="en-US" sz="2400" dirty="0" err="1">
                <a:solidFill>
                  <a:srgbClr val="000000"/>
                </a:solidFill>
                <a:latin typeface="Arial" panose="020B0604020202020204" pitchFamily="34" charset="0"/>
                <a:ea typeface="Raleway Bold"/>
                <a:cs typeface="Arial" panose="020B0604020202020204" pitchFamily="34" charset="0"/>
                <a:sym typeface="Raleway Bold"/>
              </a:rPr>
              <a:t>escenario</a:t>
            </a:r>
            <a:r>
              <a:rPr lang="en-US" sz="2400" dirty="0">
                <a:solidFill>
                  <a:srgbClr val="000000"/>
                </a:solidFill>
                <a:latin typeface="Arial" panose="020B0604020202020204" pitchFamily="34" charset="0"/>
                <a:ea typeface="Raleway Bold"/>
                <a:cs typeface="Arial" panose="020B0604020202020204" pitchFamily="34" charset="0"/>
                <a:sym typeface="Raleway Bold"/>
              </a:rPr>
              <a:t> genera </a:t>
            </a:r>
            <a:r>
              <a:rPr lang="en-US" sz="2400" dirty="0" err="1">
                <a:solidFill>
                  <a:srgbClr val="000000"/>
                </a:solidFill>
                <a:latin typeface="Arial" panose="020B0604020202020204" pitchFamily="34" charset="0"/>
                <a:ea typeface="Raleway Bold"/>
                <a:cs typeface="Arial" panose="020B0604020202020204" pitchFamily="34" charset="0"/>
                <a:sym typeface="Raleway Bold"/>
              </a:rPr>
              <a:t>varios</a:t>
            </a:r>
            <a:r>
              <a:rPr lang="en-US" sz="2400" dirty="0">
                <a:solidFill>
                  <a:srgbClr val="000000"/>
                </a:solidFill>
                <a:latin typeface="Arial" panose="020B0604020202020204" pitchFamily="34" charset="0"/>
                <a:ea typeface="Raleway Bold"/>
                <a:cs typeface="Arial" panose="020B0604020202020204" pitchFamily="34" charset="0"/>
                <a:sym typeface="Raleway Bold"/>
              </a:rPr>
              <a:t> </a:t>
            </a:r>
            <a:r>
              <a:rPr lang="en-US" sz="2400" dirty="0" err="1">
                <a:solidFill>
                  <a:srgbClr val="000000"/>
                </a:solidFill>
                <a:latin typeface="Arial" panose="020B0604020202020204" pitchFamily="34" charset="0"/>
                <a:ea typeface="Raleway Bold"/>
                <a:cs typeface="Arial" panose="020B0604020202020204" pitchFamily="34" charset="0"/>
                <a:sym typeface="Raleway Bold"/>
              </a:rPr>
              <a:t>inconvenientes</a:t>
            </a:r>
            <a:r>
              <a:rPr lang="en-US" sz="2400" dirty="0">
                <a:solidFill>
                  <a:srgbClr val="000000"/>
                </a:solidFill>
                <a:latin typeface="Arial" panose="020B0604020202020204" pitchFamily="34" charset="0"/>
                <a:ea typeface="Raleway Bold"/>
                <a:cs typeface="Arial" panose="020B0604020202020204" pitchFamily="34" charset="0"/>
                <a:sym typeface="Raleway Bold"/>
              </a:rPr>
              <a:t>:</a:t>
            </a:r>
            <a:endParaRPr lang="en-US" sz="2400">
              <a:solidFill>
                <a:srgbClr val="000000"/>
              </a:solidFill>
              <a:latin typeface="Arial" panose="020B0604020202020204" pitchFamily="34" charset="0"/>
              <a:ea typeface="Raleway Bold"/>
              <a:cs typeface="Arial" panose="020B0604020202020204" pitchFamily="34" charset="0"/>
            </a:endParaRPr>
          </a:p>
          <a:p>
            <a:pPr marL="457200" indent="-457200" algn="l">
              <a:lnSpc>
                <a:spcPts val="3904"/>
              </a:lnSpc>
              <a:buFont typeface="+mj-lt"/>
              <a:buAutoNum type="arabicPeriod"/>
            </a:pPr>
            <a:r>
              <a:rPr lang="en-US" sz="2400" dirty="0">
                <a:solidFill>
                  <a:srgbClr val="000000"/>
                </a:solidFill>
                <a:latin typeface="Arial" panose="020B0604020202020204" pitchFamily="34" charset="0"/>
                <a:ea typeface="Raleway Bold"/>
                <a:cs typeface="Arial" panose="020B0604020202020204" pitchFamily="34" charset="0"/>
                <a:sym typeface="Raleway Bold"/>
              </a:rPr>
              <a:t>Falta de </a:t>
            </a:r>
            <a:r>
              <a:rPr lang="en-US" sz="2400" dirty="0" err="1">
                <a:solidFill>
                  <a:srgbClr val="000000"/>
                </a:solidFill>
                <a:latin typeface="Arial" panose="020B0604020202020204" pitchFamily="34" charset="0"/>
                <a:ea typeface="Raleway Bold"/>
                <a:cs typeface="Arial" panose="020B0604020202020204" pitchFamily="34" charset="0"/>
                <a:sym typeface="Raleway Bold"/>
              </a:rPr>
              <a:t>trazabilidad</a:t>
            </a:r>
            <a:r>
              <a:rPr lang="en-US" sz="2400" dirty="0">
                <a:solidFill>
                  <a:srgbClr val="000000"/>
                </a:solidFill>
                <a:latin typeface="Arial" panose="020B0604020202020204" pitchFamily="34" charset="0"/>
                <a:ea typeface="Raleway Bold"/>
                <a:cs typeface="Arial" panose="020B0604020202020204" pitchFamily="34" charset="0"/>
                <a:sym typeface="Raleway Bold"/>
              </a:rPr>
              <a:t> de requisites y </a:t>
            </a:r>
            <a:r>
              <a:rPr lang="en-US" sz="2400" dirty="0" err="1">
                <a:solidFill>
                  <a:srgbClr val="000000"/>
                </a:solidFill>
                <a:latin typeface="Arial" panose="020B0604020202020204" pitchFamily="34" charset="0"/>
                <a:ea typeface="Raleway Bold"/>
                <a:cs typeface="Arial" panose="020B0604020202020204" pitchFamily="34" charset="0"/>
                <a:sym typeface="Raleway Bold"/>
              </a:rPr>
              <a:t>entregables</a:t>
            </a:r>
            <a:endParaRPr lang="en-US" sz="2400" dirty="0">
              <a:solidFill>
                <a:srgbClr val="000000"/>
              </a:solidFill>
              <a:latin typeface="Arial" panose="020B0604020202020204" pitchFamily="34" charset="0"/>
              <a:ea typeface="Raleway Bold"/>
              <a:cs typeface="Arial" panose="020B0604020202020204" pitchFamily="34" charset="0"/>
              <a:sym typeface="Raleway Bold"/>
            </a:endParaRPr>
          </a:p>
          <a:p>
            <a:pPr marL="457200" indent="-457200" algn="l">
              <a:lnSpc>
                <a:spcPts val="3904"/>
              </a:lnSpc>
              <a:buFont typeface="+mj-lt"/>
              <a:buAutoNum type="arabicPeriod"/>
            </a:pPr>
            <a:r>
              <a:rPr lang="en-US" sz="2400" dirty="0" err="1">
                <a:solidFill>
                  <a:srgbClr val="000000"/>
                </a:solidFill>
                <a:latin typeface="Arial" panose="020B0604020202020204" pitchFamily="34" charset="0"/>
                <a:ea typeface="Raleway Bold"/>
                <a:cs typeface="Arial" panose="020B0604020202020204" pitchFamily="34" charset="0"/>
                <a:sym typeface="Raleway Bold"/>
              </a:rPr>
              <a:t>Heterogeneidad</a:t>
            </a:r>
            <a:r>
              <a:rPr lang="en-US" sz="2400" dirty="0">
                <a:solidFill>
                  <a:srgbClr val="000000"/>
                </a:solidFill>
                <a:latin typeface="Arial" panose="020B0604020202020204" pitchFamily="34" charset="0"/>
                <a:ea typeface="Raleway Bold"/>
                <a:cs typeface="Arial" panose="020B0604020202020204" pitchFamily="34" charset="0"/>
                <a:sym typeface="Raleway Bold"/>
              </a:rPr>
              <a:t> </a:t>
            </a:r>
            <a:r>
              <a:rPr lang="en-US" sz="2400" dirty="0" err="1">
                <a:solidFill>
                  <a:srgbClr val="000000"/>
                </a:solidFill>
                <a:latin typeface="Arial" panose="020B0604020202020204" pitchFamily="34" charset="0"/>
                <a:ea typeface="Raleway Bold"/>
                <a:cs typeface="Arial" panose="020B0604020202020204" pitchFamily="34" charset="0"/>
                <a:sym typeface="Raleway Bold"/>
              </a:rPr>
              <a:t>metodologica</a:t>
            </a:r>
            <a:endParaRPr lang="en-US" sz="2400" dirty="0">
              <a:solidFill>
                <a:srgbClr val="000000"/>
              </a:solidFill>
              <a:latin typeface="Arial" panose="020B0604020202020204" pitchFamily="34" charset="0"/>
              <a:ea typeface="Raleway Bold"/>
              <a:cs typeface="Arial" panose="020B0604020202020204" pitchFamily="34" charset="0"/>
              <a:sym typeface="Raleway Bold"/>
            </a:endParaRPr>
          </a:p>
          <a:p>
            <a:pPr marL="457200" indent="-457200" algn="l">
              <a:lnSpc>
                <a:spcPts val="3904"/>
              </a:lnSpc>
              <a:buFont typeface="+mj-lt"/>
              <a:buAutoNum type="arabicPeriod"/>
            </a:pPr>
            <a:r>
              <a:rPr lang="en-US" sz="2400" dirty="0" err="1">
                <a:solidFill>
                  <a:srgbClr val="000000"/>
                </a:solidFill>
                <a:latin typeface="Arial" panose="020B0604020202020204" pitchFamily="34" charset="0"/>
                <a:ea typeface="Raleway Bold"/>
                <a:cs typeface="Arial" panose="020B0604020202020204" pitchFamily="34" charset="0"/>
                <a:sym typeface="Raleway Bold"/>
              </a:rPr>
              <a:t>Deficiencias</a:t>
            </a:r>
            <a:r>
              <a:rPr lang="en-US" sz="2400" dirty="0">
                <a:solidFill>
                  <a:srgbClr val="000000"/>
                </a:solidFill>
                <a:latin typeface="Arial" panose="020B0604020202020204" pitchFamily="34" charset="0"/>
                <a:ea typeface="Raleway Bold"/>
                <a:cs typeface="Arial" panose="020B0604020202020204" pitchFamily="34" charset="0"/>
                <a:sym typeface="Raleway Bold"/>
              </a:rPr>
              <a:t> en el </a:t>
            </a:r>
            <a:r>
              <a:rPr lang="en-US" sz="2400" dirty="0" err="1">
                <a:solidFill>
                  <a:srgbClr val="000000"/>
                </a:solidFill>
                <a:latin typeface="Arial" panose="020B0604020202020204" pitchFamily="34" charset="0"/>
                <a:ea typeface="Raleway Bold"/>
                <a:cs typeface="Arial" panose="020B0604020202020204" pitchFamily="34" charset="0"/>
                <a:sym typeface="Raleway Bold"/>
              </a:rPr>
              <a:t>monitore</a:t>
            </a:r>
            <a:r>
              <a:rPr lang="en-US" sz="2400" dirty="0">
                <a:solidFill>
                  <a:srgbClr val="000000"/>
                </a:solidFill>
                <a:latin typeface="Arial" panose="020B0604020202020204" pitchFamily="34" charset="0"/>
                <a:ea typeface="Raleway Bold"/>
                <a:cs typeface="Arial" panose="020B0604020202020204" pitchFamily="34" charset="0"/>
                <a:sym typeface="Raleway Bold"/>
              </a:rPr>
              <a:t> y control</a:t>
            </a:r>
            <a:endParaRPr lang="en-US" sz="2400">
              <a:solidFill>
                <a:srgbClr val="000000"/>
              </a:solidFill>
              <a:latin typeface="Arial" panose="020B0604020202020204" pitchFamily="34" charset="0"/>
              <a:ea typeface="Raleway Bold"/>
              <a:cs typeface="Arial" panose="020B0604020202020204" pitchFamily="34" charset="0"/>
            </a:endParaRPr>
          </a:p>
          <a:p>
            <a:pPr marL="457200" indent="-457200" algn="l">
              <a:lnSpc>
                <a:spcPts val="3904"/>
              </a:lnSpc>
              <a:buFont typeface="+mj-lt"/>
              <a:buAutoNum type="arabicPeriod"/>
            </a:pPr>
            <a:r>
              <a:rPr lang="en-US" sz="2400" dirty="0" err="1">
                <a:solidFill>
                  <a:srgbClr val="000000"/>
                </a:solidFill>
                <a:latin typeface="Arial" panose="020B0604020202020204" pitchFamily="34" charset="0"/>
                <a:ea typeface="Raleway Bold"/>
                <a:cs typeface="Arial" panose="020B0604020202020204" pitchFamily="34" charset="0"/>
                <a:sym typeface="Raleway Bold"/>
              </a:rPr>
              <a:t>Riesgos</a:t>
            </a:r>
            <a:r>
              <a:rPr lang="en-US" sz="2400" dirty="0">
                <a:solidFill>
                  <a:srgbClr val="000000"/>
                </a:solidFill>
                <a:latin typeface="Arial" panose="020B0604020202020204" pitchFamily="34" charset="0"/>
                <a:ea typeface="Raleway Bold"/>
                <a:cs typeface="Arial" panose="020B0604020202020204" pitchFamily="34" charset="0"/>
                <a:sym typeface="Raleway Bold"/>
              </a:rPr>
              <a:t> de </a:t>
            </a:r>
            <a:r>
              <a:rPr lang="en-US" sz="2400" dirty="0" err="1">
                <a:solidFill>
                  <a:srgbClr val="000000"/>
                </a:solidFill>
                <a:latin typeface="Arial" panose="020B0604020202020204" pitchFamily="34" charset="0"/>
                <a:ea typeface="Raleway Bold"/>
                <a:cs typeface="Arial" panose="020B0604020202020204" pitchFamily="34" charset="0"/>
                <a:sym typeface="Raleway Bold"/>
              </a:rPr>
              <a:t>incumplimiento</a:t>
            </a:r>
            <a:r>
              <a:rPr lang="en-US" sz="2400" dirty="0">
                <a:solidFill>
                  <a:srgbClr val="000000"/>
                </a:solidFill>
                <a:latin typeface="Arial" panose="020B0604020202020204" pitchFamily="34" charset="0"/>
                <a:ea typeface="Raleway Bold"/>
                <a:cs typeface="Arial" panose="020B0604020202020204" pitchFamily="34" charset="0"/>
                <a:sym typeface="Raleway Bold"/>
              </a:rPr>
              <a:t> normative y etico.</a:t>
            </a:r>
            <a:endParaRPr lang="en-US" sz="2400">
              <a:solidFill>
                <a:srgbClr val="000000"/>
              </a:solidFill>
              <a:latin typeface="Arial" panose="020B0604020202020204" pitchFamily="34" charset="0"/>
              <a:ea typeface="Raleway Bold"/>
              <a:cs typeface="Arial" panose="020B0604020202020204" pitchFamily="34" charset="0"/>
            </a:endParaRPr>
          </a:p>
          <a:p>
            <a:pPr marL="457200" indent="-457200" algn="l">
              <a:lnSpc>
                <a:spcPts val="3904"/>
              </a:lnSpc>
              <a:buFont typeface="+mj-lt"/>
              <a:buAutoNum type="arabicPeriod"/>
            </a:pPr>
            <a:r>
              <a:rPr lang="en-US" sz="2400" dirty="0">
                <a:solidFill>
                  <a:srgbClr val="000000"/>
                </a:solidFill>
                <a:latin typeface="Arial" panose="020B0604020202020204" pitchFamily="34" charset="0"/>
                <a:ea typeface="Raleway Bold"/>
                <a:cs typeface="Arial" panose="020B0604020202020204" pitchFamily="34" charset="0"/>
                <a:sym typeface="Raleway Bold"/>
              </a:rPr>
              <a:t>Impacto en la Calidad y </a:t>
            </a:r>
            <a:r>
              <a:rPr lang="en-US" sz="2400" dirty="0" err="1">
                <a:solidFill>
                  <a:srgbClr val="000000"/>
                </a:solidFill>
                <a:latin typeface="Arial" panose="020B0604020202020204" pitchFamily="34" charset="0"/>
                <a:ea typeface="Raleway Bold"/>
                <a:cs typeface="Arial" panose="020B0604020202020204" pitchFamily="34" charset="0"/>
                <a:sym typeface="Raleway Bold"/>
              </a:rPr>
              <a:t>eficiencia</a:t>
            </a:r>
            <a:r>
              <a:rPr lang="en-US" sz="2400" dirty="0">
                <a:solidFill>
                  <a:srgbClr val="000000"/>
                </a:solidFill>
                <a:latin typeface="Arial" panose="020B0604020202020204" pitchFamily="34" charset="0"/>
                <a:ea typeface="Raleway Bold"/>
                <a:cs typeface="Arial" panose="020B0604020202020204" pitchFamily="34" charset="0"/>
                <a:sym typeface="Raleway Bold"/>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a:spLocks noGrp="1" noRot="1" noMove="1" noResize="1" noEditPoints="1" noAdjustHandles="1" noChangeArrowheads="1" noChangeShapeType="1"/>
          </p:cNvSpPr>
          <p:nvPr/>
        </p:nvSpPr>
        <p:spPr>
          <a:xfrm>
            <a:off x="0" y="0"/>
            <a:ext cx="18288000" cy="10287000"/>
          </a:xfrm>
          <a:custGeom>
            <a:avLst/>
            <a:gdLst/>
            <a:ahLst/>
            <a:cxnLst/>
            <a:rect l="l" t="t" r="r" b="b"/>
            <a:pathLst>
              <a:path w="13716000" h="10287000">
                <a:moveTo>
                  <a:pt x="0" y="0"/>
                </a:moveTo>
                <a:lnTo>
                  <a:pt x="13716000" y="0"/>
                </a:lnTo>
                <a:lnTo>
                  <a:pt x="13716000" y="10287000"/>
                </a:lnTo>
                <a:lnTo>
                  <a:pt x="0" y="10287000"/>
                </a:lnTo>
                <a:lnTo>
                  <a:pt x="0" y="0"/>
                </a:lnTo>
                <a:close/>
              </a:path>
            </a:pathLst>
          </a:custGeom>
          <a:blipFill>
            <a:blip r:embed="rId2"/>
            <a:stretch>
              <a:fillRect/>
            </a:stretch>
          </a:blipFill>
        </p:spPr>
        <p:txBody>
          <a:bodyPr/>
          <a:lstStyle/>
          <a:p>
            <a:endParaRPr lang="es-CO" dirty="0"/>
          </a:p>
        </p:txBody>
      </p:sp>
      <p:sp>
        <p:nvSpPr>
          <p:cNvPr id="3" name="TextBox 3"/>
          <p:cNvSpPr txBox="1"/>
          <p:nvPr/>
        </p:nvSpPr>
        <p:spPr>
          <a:xfrm>
            <a:off x="2285999" y="1866900"/>
            <a:ext cx="13716000" cy="732316"/>
          </a:xfrm>
          <a:prstGeom prst="rect">
            <a:avLst/>
          </a:prstGeom>
        </p:spPr>
        <p:txBody>
          <a:bodyPr lIns="0" tIns="0" rIns="0" bIns="0" rtlCol="0" anchor="t">
            <a:spAutoFit/>
          </a:bodyPr>
          <a:lstStyle/>
          <a:p>
            <a:pPr algn="ctr">
              <a:lnSpc>
                <a:spcPts val="6444"/>
              </a:lnSpc>
            </a:pPr>
            <a:r>
              <a:rPr lang="en-US" sz="4000" b="1" dirty="0">
                <a:solidFill>
                  <a:srgbClr val="000000"/>
                </a:solidFill>
                <a:latin typeface="Arial" panose="020B0604020202020204" pitchFamily="34" charset="0"/>
                <a:ea typeface="HK Modular"/>
                <a:cs typeface="Arial" panose="020B0604020202020204" pitchFamily="34" charset="0"/>
                <a:sym typeface="HK Modular"/>
              </a:rPr>
              <a:t>OBJETIVO GENERAL</a:t>
            </a:r>
          </a:p>
        </p:txBody>
      </p:sp>
      <p:sp>
        <p:nvSpPr>
          <p:cNvPr id="4" name="TextBox 4"/>
          <p:cNvSpPr txBox="1"/>
          <p:nvPr/>
        </p:nvSpPr>
        <p:spPr>
          <a:xfrm>
            <a:off x="2937453" y="2983180"/>
            <a:ext cx="12413093" cy="3036729"/>
          </a:xfrm>
          <a:prstGeom prst="rect">
            <a:avLst/>
          </a:prstGeom>
        </p:spPr>
        <p:txBody>
          <a:bodyPr lIns="0" tIns="0" rIns="0" bIns="0" rtlCol="0" anchor="t">
            <a:spAutoFit/>
          </a:bodyPr>
          <a:lstStyle/>
          <a:p>
            <a:r>
              <a:rPr lang="es-CO" sz="2400" dirty="0">
                <a:latin typeface="Arial" panose="020B0604020202020204" pitchFamily="34" charset="0"/>
                <a:cs typeface="Arial" panose="020B0604020202020204" pitchFamily="34" charset="0"/>
              </a:rPr>
              <a:t>Automatizar la gestión de proyectos de Tecnologías de la Información mediante un aplicativo web que integre el API de Jira con un sistema de inteligencia artificial basado en RAG, alineado con referentes como PMBOK 6 para la dirección de proyectos y la ISO/IEC/IEEE 29148 para la gestión de requisitos, utilizando Scrum como marco de ejecución, con el fin de mejorar la trazabilidad, la calidad de los entregables y la toma de decisiones en contextos organizacionales.</a:t>
            </a:r>
          </a:p>
          <a:p>
            <a:pPr algn="l">
              <a:lnSpc>
                <a:spcPts val="3164"/>
              </a:lnSpc>
            </a:pPr>
            <a:endParaRPr lang="en-US" sz="2800" dirty="0">
              <a:solidFill>
                <a:srgbClr val="000000"/>
              </a:solidFill>
              <a:latin typeface="Arial" panose="020B0604020202020204" pitchFamily="34" charset="0"/>
              <a:ea typeface="Raleway Light"/>
              <a:cs typeface="Arial" panose="020B0604020202020204" pitchFamily="34" charset="0"/>
              <a:sym typeface="Raleway Light"/>
            </a:endParaRPr>
          </a:p>
          <a:p>
            <a:pPr algn="l">
              <a:lnSpc>
                <a:spcPts val="3164"/>
              </a:lnSpc>
            </a:pPr>
            <a:r>
              <a:rPr lang="en-US" sz="2800" b="1" dirty="0">
                <a:solidFill>
                  <a:srgbClr val="000000"/>
                </a:solidFill>
                <a:latin typeface="Arial" panose="020B0604020202020204" pitchFamily="34" charset="0"/>
                <a:ea typeface="Raleway Bold"/>
                <a:cs typeface="Arial" panose="020B0604020202020204" pitchFamily="34" charset="0"/>
                <a:sym typeface="Raleway Bold"/>
              </a:rPr>
              <a:t> </a:t>
            </a:r>
            <a:endParaRPr lang="en-US" sz="2929" dirty="0">
              <a:solidFill>
                <a:srgbClr val="000000"/>
              </a:solidFill>
              <a:latin typeface="Raleway Light"/>
              <a:ea typeface="Raleway Light"/>
              <a:cs typeface="Raleway Light"/>
              <a:sym typeface="Raleway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0992-BA5E-3EC7-9BFA-8F97C31EF3B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86E8956-B109-9A52-8263-70FE5E598CCF}"/>
              </a:ext>
            </a:extLst>
          </p:cNvPr>
          <p:cNvSpPr>
            <a:spLocks noGrp="1" noRot="1" noMove="1" noResize="1" noEditPoints="1" noAdjustHandles="1" noChangeArrowheads="1" noChangeShapeType="1"/>
          </p:cNvSpPr>
          <p:nvPr/>
        </p:nvSpPr>
        <p:spPr>
          <a:xfrm>
            <a:off x="-1" y="0"/>
            <a:ext cx="18288000" cy="10287000"/>
          </a:xfrm>
          <a:custGeom>
            <a:avLst/>
            <a:gdLst/>
            <a:ahLst/>
            <a:cxnLst/>
            <a:rect l="l" t="t" r="r" b="b"/>
            <a:pathLst>
              <a:path w="13716000" h="10287000">
                <a:moveTo>
                  <a:pt x="0" y="0"/>
                </a:moveTo>
                <a:lnTo>
                  <a:pt x="13716000" y="0"/>
                </a:lnTo>
                <a:lnTo>
                  <a:pt x="13716000" y="10287000"/>
                </a:lnTo>
                <a:lnTo>
                  <a:pt x="0" y="10287000"/>
                </a:lnTo>
                <a:lnTo>
                  <a:pt x="0" y="0"/>
                </a:lnTo>
                <a:close/>
              </a:path>
            </a:pathLst>
          </a:custGeom>
          <a:blipFill>
            <a:blip r:embed="rId2"/>
            <a:stretch>
              <a:fillRect/>
            </a:stretch>
          </a:blipFill>
        </p:spPr>
        <p:txBody>
          <a:bodyPr/>
          <a:lstStyle/>
          <a:p>
            <a:endParaRPr lang="es-CO"/>
          </a:p>
        </p:txBody>
      </p:sp>
      <p:sp>
        <p:nvSpPr>
          <p:cNvPr id="3" name="TextBox 3">
            <a:extLst>
              <a:ext uri="{FF2B5EF4-FFF2-40B4-BE49-F238E27FC236}">
                <a16:creationId xmlns:a16="http://schemas.microsoft.com/office/drawing/2014/main" id="{EAC8A09F-D5F6-7841-8B14-A06006481B54}"/>
              </a:ext>
            </a:extLst>
          </p:cNvPr>
          <p:cNvSpPr txBox="1"/>
          <p:nvPr/>
        </p:nvSpPr>
        <p:spPr>
          <a:xfrm>
            <a:off x="2286000" y="1020503"/>
            <a:ext cx="13716000" cy="732316"/>
          </a:xfrm>
          <a:prstGeom prst="rect">
            <a:avLst/>
          </a:prstGeom>
        </p:spPr>
        <p:txBody>
          <a:bodyPr lIns="0" tIns="0" rIns="0" bIns="0" rtlCol="0" anchor="t">
            <a:spAutoFit/>
          </a:bodyPr>
          <a:lstStyle/>
          <a:p>
            <a:pPr algn="ctr">
              <a:lnSpc>
                <a:spcPts val="6444"/>
              </a:lnSpc>
            </a:pPr>
            <a:r>
              <a:rPr lang="en-US" sz="4000" b="1" dirty="0">
                <a:solidFill>
                  <a:srgbClr val="000000"/>
                </a:solidFill>
                <a:latin typeface="Arial" panose="020B0604020202020204" pitchFamily="34" charset="0"/>
                <a:ea typeface="Raleway Bold"/>
                <a:cs typeface="Arial" panose="020B0604020202020204" pitchFamily="34" charset="0"/>
                <a:sym typeface="Raleway Bold"/>
              </a:rPr>
              <a:t>OBJETIVOS ESPECÍFICOS</a:t>
            </a:r>
          </a:p>
        </p:txBody>
      </p:sp>
      <p:sp>
        <p:nvSpPr>
          <p:cNvPr id="4" name="TextBox 4">
            <a:extLst>
              <a:ext uri="{FF2B5EF4-FFF2-40B4-BE49-F238E27FC236}">
                <a16:creationId xmlns:a16="http://schemas.microsoft.com/office/drawing/2014/main" id="{FA320D5F-D672-06E6-60C4-C01290EAA1C4}"/>
              </a:ext>
            </a:extLst>
          </p:cNvPr>
          <p:cNvSpPr txBox="1"/>
          <p:nvPr/>
        </p:nvSpPr>
        <p:spPr>
          <a:xfrm>
            <a:off x="2937452" y="2773322"/>
            <a:ext cx="12413093" cy="5991384"/>
          </a:xfrm>
          <a:prstGeom prst="rect">
            <a:avLst/>
          </a:prstGeom>
        </p:spPr>
        <p:txBody>
          <a:bodyPr lIns="0" tIns="0" rIns="0" bIns="0" rtlCol="0" anchor="t">
            <a:spAutoFit/>
          </a:bodyPr>
          <a:lstStyle/>
          <a:p>
            <a:pPr marL="342900" lvl="0" indent="-342900">
              <a:buFont typeface="Arial" panose="020B0604020202020204" pitchFamily="34" charset="0"/>
              <a:buChar char="•"/>
            </a:pPr>
            <a:r>
              <a:rPr lang="es-CO" sz="2800" b="1" dirty="0">
                <a:latin typeface="Arial" panose="020B0604020202020204" pitchFamily="34" charset="0"/>
                <a:cs typeface="Arial" panose="020B0604020202020204" pitchFamily="34" charset="0"/>
              </a:rPr>
              <a:t>Analizar: </a:t>
            </a:r>
            <a:r>
              <a:rPr lang="es-CO" sz="2800" dirty="0">
                <a:latin typeface="Arial" panose="020B0604020202020204" pitchFamily="34" charset="0"/>
                <a:cs typeface="Arial" panose="020B0604020202020204" pitchFamily="34" charset="0"/>
              </a:rPr>
              <a:t>Definir un marco metodológico híbrido que combine los procesos de PMBOK 6, Scrum y SDLC, y un conjunto de requisitos funcionales y no funcionales que garanticen la trazabilidad y el cumplimiento normativo.</a:t>
            </a:r>
          </a:p>
          <a:p>
            <a:pPr marL="342900" lvl="0" indent="-342900">
              <a:buFont typeface="Arial" panose="020B0604020202020204" pitchFamily="34" charset="0"/>
              <a:buChar char="•"/>
            </a:pPr>
            <a:r>
              <a:rPr lang="es-CO" sz="2800" b="1" dirty="0">
                <a:latin typeface="Arial" panose="020B0604020202020204" pitchFamily="34" charset="0"/>
                <a:cs typeface="Arial" panose="020B0604020202020204" pitchFamily="34" charset="0"/>
              </a:rPr>
              <a:t>Diseñar: </a:t>
            </a:r>
            <a:r>
              <a:rPr lang="es-CO" sz="2800" dirty="0">
                <a:latin typeface="Arial" panose="020B0604020202020204" pitchFamily="34" charset="0"/>
                <a:cs typeface="Arial" panose="020B0604020202020204" pitchFamily="34" charset="0"/>
              </a:rPr>
              <a:t>Configurar la plataforma de gestión (Jira) para soportar el ciclo de vida del proyecto, incluyendo la creación de flujos de trabajo, tableros y plantillas estandarizadas de acuerdo con el formato IEEE 29148.</a:t>
            </a:r>
          </a:p>
          <a:p>
            <a:pPr marL="342900" lvl="0" indent="-342900">
              <a:buFont typeface="Arial" panose="020B0604020202020204" pitchFamily="34" charset="0"/>
              <a:buChar char="•"/>
            </a:pPr>
            <a:r>
              <a:rPr lang="es-CO" sz="2800" b="1" dirty="0">
                <a:latin typeface="Arial" panose="020B0604020202020204" pitchFamily="34" charset="0"/>
                <a:cs typeface="Arial" panose="020B0604020202020204" pitchFamily="34" charset="0"/>
              </a:rPr>
              <a:t>Construir: </a:t>
            </a:r>
            <a:r>
              <a:rPr lang="es-CO" sz="2800" dirty="0">
                <a:latin typeface="Arial" panose="020B0604020202020204" pitchFamily="34" charset="0"/>
                <a:cs typeface="Arial" panose="020B0604020202020204" pitchFamily="34" charset="0"/>
              </a:rPr>
              <a:t>Implementar el prototipo de la solución técnica, utilizando una arquitectura modular y patrones de diseño justificados, e integrando los mecanismos de reporte de KPIs y cumplimiento ético.</a:t>
            </a:r>
          </a:p>
          <a:p>
            <a:pPr marL="342900" lvl="0" indent="-342900">
              <a:buFont typeface="Arial" panose="020B0604020202020204" pitchFamily="34" charset="0"/>
              <a:buChar char="•"/>
            </a:pPr>
            <a:r>
              <a:rPr lang="es-CO" sz="2800" b="1" dirty="0">
                <a:latin typeface="Arial" panose="020B0604020202020204" pitchFamily="34" charset="0"/>
                <a:cs typeface="Arial" panose="020B0604020202020204" pitchFamily="34" charset="0"/>
              </a:rPr>
              <a:t>Probar: </a:t>
            </a:r>
            <a:r>
              <a:rPr lang="es-CO" sz="2800" dirty="0">
                <a:latin typeface="Arial" panose="020B0604020202020204" pitchFamily="34" charset="0"/>
                <a:cs typeface="Arial" panose="020B0604020202020204" pitchFamily="34" charset="0"/>
              </a:rPr>
              <a:t>Validar la funcionalidad y el desempeño de la solución mediante la ejecución de pruebas, la medición de los KPIs y la evaluación del cumplimiento de los requisitos de calidad y normativos.</a:t>
            </a:r>
          </a:p>
          <a:p>
            <a:pPr algn="l">
              <a:lnSpc>
                <a:spcPts val="3164"/>
              </a:lnSpc>
            </a:pPr>
            <a:endParaRPr lang="en-US" sz="2800" dirty="0">
              <a:solidFill>
                <a:srgbClr val="000000"/>
              </a:solidFill>
              <a:latin typeface="Arial" panose="020B0604020202020204" pitchFamily="34" charset="0"/>
              <a:ea typeface="Raleway Light"/>
              <a:cs typeface="Arial" panose="020B0604020202020204" pitchFamily="34" charset="0"/>
              <a:sym typeface="Raleway Light"/>
            </a:endParaRPr>
          </a:p>
          <a:p>
            <a:pPr algn="l">
              <a:lnSpc>
                <a:spcPts val="3164"/>
              </a:lnSpc>
            </a:pPr>
            <a:r>
              <a:rPr lang="en-US" sz="2800" b="1" dirty="0">
                <a:solidFill>
                  <a:srgbClr val="000000"/>
                </a:solidFill>
                <a:latin typeface="Arial" panose="020B0604020202020204" pitchFamily="34" charset="0"/>
                <a:ea typeface="Raleway Bold"/>
                <a:cs typeface="Arial" panose="020B0604020202020204" pitchFamily="34" charset="0"/>
                <a:sym typeface="Raleway Bold"/>
              </a:rPr>
              <a:t> </a:t>
            </a:r>
            <a:endParaRPr lang="en-US" sz="2929" dirty="0">
              <a:solidFill>
                <a:srgbClr val="000000"/>
              </a:solidFill>
              <a:latin typeface="Raleway Light"/>
              <a:ea typeface="Raleway Light"/>
              <a:cs typeface="Raleway Light"/>
              <a:sym typeface="Raleway Light"/>
            </a:endParaRPr>
          </a:p>
        </p:txBody>
      </p:sp>
    </p:spTree>
    <p:extLst>
      <p:ext uri="{BB962C8B-B14F-4D97-AF65-F5344CB8AC3E}">
        <p14:creationId xmlns:p14="http://schemas.microsoft.com/office/powerpoint/2010/main" val="327176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a:spLocks noGrp="1" noRot="1" noMove="1" noResize="1" noEditPoints="1" noAdjustHandles="1" noChangeArrowheads="1" noChangeShapeType="1"/>
          </p:cNvSpPr>
          <p:nvPr/>
        </p:nvSpPr>
        <p:spPr>
          <a:xfrm>
            <a:off x="0" y="5443"/>
            <a:ext cx="18288000" cy="10287000"/>
          </a:xfrm>
          <a:custGeom>
            <a:avLst/>
            <a:gdLst/>
            <a:ahLst/>
            <a:cxnLst/>
            <a:rect l="l" t="t" r="r" b="b"/>
            <a:pathLst>
              <a:path w="13716000" h="10287000">
                <a:moveTo>
                  <a:pt x="0" y="0"/>
                </a:moveTo>
                <a:lnTo>
                  <a:pt x="13716000" y="0"/>
                </a:lnTo>
                <a:lnTo>
                  <a:pt x="13716000" y="10287000"/>
                </a:lnTo>
                <a:lnTo>
                  <a:pt x="0" y="10287000"/>
                </a:lnTo>
                <a:lnTo>
                  <a:pt x="0" y="0"/>
                </a:lnTo>
                <a:close/>
              </a:path>
            </a:pathLst>
          </a:custGeom>
          <a:blipFill>
            <a:blip r:embed="rId2"/>
            <a:stretch>
              <a:fillRect/>
            </a:stretch>
          </a:blipFill>
        </p:spPr>
        <p:txBody>
          <a:bodyPr/>
          <a:lstStyle/>
          <a:p>
            <a:endParaRPr lang="es-CO" dirty="0"/>
          </a:p>
        </p:txBody>
      </p:sp>
      <p:sp>
        <p:nvSpPr>
          <p:cNvPr id="3" name="TextBox 3"/>
          <p:cNvSpPr txBox="1"/>
          <p:nvPr/>
        </p:nvSpPr>
        <p:spPr>
          <a:xfrm>
            <a:off x="1879648" y="1485900"/>
            <a:ext cx="13716000" cy="764825"/>
          </a:xfrm>
          <a:prstGeom prst="rect">
            <a:avLst/>
          </a:prstGeom>
        </p:spPr>
        <p:txBody>
          <a:bodyPr lIns="0" tIns="0" rIns="0" bIns="0" rtlCol="0" anchor="t">
            <a:spAutoFit/>
          </a:bodyPr>
          <a:lstStyle/>
          <a:p>
            <a:pPr algn="ctr">
              <a:lnSpc>
                <a:spcPts val="6444"/>
              </a:lnSpc>
            </a:pPr>
            <a:r>
              <a:rPr lang="en-US" sz="4800" b="1" dirty="0">
                <a:solidFill>
                  <a:srgbClr val="000000"/>
                </a:solidFill>
                <a:latin typeface="Arial" panose="020B0604020202020204" pitchFamily="34" charset="0"/>
                <a:ea typeface="HK Modular"/>
                <a:cs typeface="Arial" panose="020B0604020202020204" pitchFamily="34" charset="0"/>
                <a:sym typeface="HK Modular"/>
              </a:rPr>
              <a:t>ANTECEDENTES</a:t>
            </a:r>
          </a:p>
        </p:txBody>
      </p:sp>
      <p:sp>
        <p:nvSpPr>
          <p:cNvPr id="4" name="TextBox 4"/>
          <p:cNvSpPr txBox="1"/>
          <p:nvPr/>
        </p:nvSpPr>
        <p:spPr>
          <a:xfrm>
            <a:off x="1868762" y="2703791"/>
            <a:ext cx="4572000" cy="5170646"/>
          </a:xfrm>
          <a:prstGeom prst="rect">
            <a:avLst/>
          </a:prstGeom>
        </p:spPr>
        <p:txBody>
          <a:bodyPr wrap="square" lIns="0" tIns="0" rIns="0" bIns="0" rtlCol="0" anchor="t">
            <a:spAutoFit/>
          </a:bodyPr>
          <a:lstStyle/>
          <a:p>
            <a:pPr marL="285750" indent="-285750">
              <a:buFont typeface="Arial" panose="020B0604020202020204" pitchFamily="34" charset="0"/>
              <a:buChar char="•"/>
            </a:pPr>
            <a:r>
              <a:rPr lang="es-CO" sz="2400" b="1" dirty="0">
                <a:latin typeface="Arial" panose="020B0604020202020204" pitchFamily="34" charset="0"/>
                <a:cs typeface="Arial" panose="020B0604020202020204" pitchFamily="34" charset="0"/>
              </a:rPr>
              <a:t>Asana (AI):</a:t>
            </a:r>
            <a:endParaRPr lang="es-CO" sz="2400" dirty="0">
              <a:latin typeface="Arial" panose="020B0604020202020204" pitchFamily="34" charset="0"/>
              <a:cs typeface="Arial" panose="020B0604020202020204" pitchFamily="34" charset="0"/>
            </a:endParaRPr>
          </a:p>
          <a:p>
            <a:r>
              <a:rPr lang="es-CO" sz="2400" dirty="0">
                <a:latin typeface="Arial" panose="020B0604020202020204" pitchFamily="34" charset="0"/>
                <a:cs typeface="Arial" panose="020B0604020202020204" pitchFamily="34" charset="0"/>
              </a:rPr>
              <a:t>Asana integra inteligencia artificial para la gestión de proyectos, ofreciendo generación automática de resúmenes, priorización de tareas, detección de bloqueos y recomendaciones de flujos de trabajo. Busca aumentar la productividad y facilitar decisiones estratégicas con insights en tiempo real.</a:t>
            </a:r>
          </a:p>
          <a:p>
            <a:endParaRPr lang="es-CO" sz="2400" dirty="0">
              <a:latin typeface="Arial" panose="020B0604020202020204" pitchFamily="34" charset="0"/>
              <a:cs typeface="Arial" panose="020B0604020202020204" pitchFamily="34" charset="0"/>
            </a:endParaRPr>
          </a:p>
          <a:p>
            <a:r>
              <a:rPr lang="es-CO" sz="2400" u="sng" dirty="0">
                <a:latin typeface="Arial" panose="020B0604020202020204" pitchFamily="34" charset="0"/>
                <a:cs typeface="Arial" panose="020B0604020202020204" pitchFamily="34" charset="0"/>
                <a:hlinkClick r:id="rId3"/>
              </a:rPr>
              <a:t>https://asana.com/id/product/ai/project-management</a:t>
            </a:r>
            <a:endParaRPr lang="es-CO" sz="2400" u="sng" dirty="0">
              <a:latin typeface="Arial" panose="020B0604020202020204" pitchFamily="34" charset="0"/>
              <a:cs typeface="Arial" panose="020B0604020202020204" pitchFamily="34" charset="0"/>
            </a:endParaRPr>
          </a:p>
        </p:txBody>
      </p:sp>
      <p:sp>
        <p:nvSpPr>
          <p:cNvPr id="5" name="CuadroTexto 4">
            <a:extLst>
              <a:ext uri="{FF2B5EF4-FFF2-40B4-BE49-F238E27FC236}">
                <a16:creationId xmlns:a16="http://schemas.microsoft.com/office/drawing/2014/main" id="{33EF6C2A-51B6-4168-2913-BF13501E3917}"/>
              </a:ext>
            </a:extLst>
          </p:cNvPr>
          <p:cNvSpPr txBox="1"/>
          <p:nvPr/>
        </p:nvSpPr>
        <p:spPr>
          <a:xfrm>
            <a:off x="7061248" y="2552700"/>
            <a:ext cx="8534400" cy="3416320"/>
          </a:xfrm>
          <a:prstGeom prst="rect">
            <a:avLst/>
          </a:prstGeom>
          <a:noFill/>
        </p:spPr>
        <p:txBody>
          <a:bodyPr wrap="square" rtlCol="0">
            <a:spAutoFit/>
          </a:bodyPr>
          <a:lstStyle/>
          <a:p>
            <a:pPr marL="285750" indent="-285750">
              <a:buFont typeface="Arial" panose="020B0604020202020204" pitchFamily="34" charset="0"/>
              <a:buChar char="•"/>
            </a:pPr>
            <a:r>
              <a:rPr lang="es-CO" sz="2400" b="1" dirty="0">
                <a:latin typeface="Arial" panose="020B0604020202020204" pitchFamily="34" charset="0"/>
                <a:cs typeface="Arial" panose="020B0604020202020204" pitchFamily="34" charset="0"/>
              </a:rPr>
              <a:t>Asana (AI </a:t>
            </a:r>
            <a:r>
              <a:rPr lang="es-CO" sz="2400" b="1" dirty="0" err="1">
                <a:latin typeface="Arial" panose="020B0604020202020204" pitchFamily="34" charset="0"/>
                <a:cs typeface="Arial" panose="020B0604020202020204" pitchFamily="34" charset="0"/>
              </a:rPr>
              <a:t>Teammates</a:t>
            </a:r>
            <a:r>
              <a:rPr lang="es-CO" sz="2400" b="1" dirty="0">
                <a:latin typeface="Arial" panose="020B0604020202020204" pitchFamily="34" charset="0"/>
                <a:cs typeface="Arial" panose="020B0604020202020204" pitchFamily="34" charset="0"/>
              </a:rPr>
              <a:t> - medio reconocido Axios)</a:t>
            </a:r>
            <a:endParaRPr lang="es-CO" sz="2400" dirty="0">
              <a:latin typeface="Arial" panose="020B0604020202020204" pitchFamily="34" charset="0"/>
              <a:cs typeface="Arial" panose="020B0604020202020204" pitchFamily="34" charset="0"/>
            </a:endParaRPr>
          </a:p>
          <a:p>
            <a:r>
              <a:rPr lang="es-CO" sz="2400" dirty="0">
                <a:latin typeface="Arial" panose="020B0604020202020204" pitchFamily="34" charset="0"/>
                <a:cs typeface="Arial" panose="020B0604020202020204" pitchFamily="34" charset="0"/>
              </a:rPr>
              <a:t>Según Axios, Asana lanzó “AI </a:t>
            </a:r>
            <a:r>
              <a:rPr lang="es-CO" sz="2400" dirty="0" err="1">
                <a:latin typeface="Arial" panose="020B0604020202020204" pitchFamily="34" charset="0"/>
                <a:cs typeface="Arial" panose="020B0604020202020204" pitchFamily="34" charset="0"/>
              </a:rPr>
              <a:t>Teammates</a:t>
            </a:r>
            <a:r>
              <a:rPr lang="es-CO" sz="2400" dirty="0">
                <a:latin typeface="Arial" panose="020B0604020202020204" pitchFamily="34" charset="0"/>
                <a:cs typeface="Arial" panose="020B0604020202020204" pitchFamily="34" charset="0"/>
              </a:rPr>
              <a:t>”, asistentes virtuales basados en IA generativa que funcionan como miembros del equipo, capaces de gestionar tareas, responder consultas y automatizar procesos de colaboración, integrándose de forma natural en los proyectos.</a:t>
            </a:r>
          </a:p>
          <a:p>
            <a:endParaRPr lang="es-CO" sz="2400" dirty="0">
              <a:latin typeface="Arial" panose="020B0604020202020204" pitchFamily="34" charset="0"/>
              <a:cs typeface="Arial" panose="020B0604020202020204" pitchFamily="34" charset="0"/>
            </a:endParaRPr>
          </a:p>
          <a:p>
            <a:r>
              <a:rPr lang="es-CO" sz="2400" dirty="0">
                <a:latin typeface="Arial" panose="020B0604020202020204" pitchFamily="34" charset="0"/>
                <a:cs typeface="Arial" panose="020B0604020202020204" pitchFamily="34" charset="0"/>
              </a:rPr>
              <a:t> </a:t>
            </a:r>
            <a:r>
              <a:rPr lang="es-CO" sz="2400" u="sng" dirty="0">
                <a:latin typeface="Arial" panose="020B0604020202020204" pitchFamily="34" charset="0"/>
                <a:cs typeface="Arial" panose="020B0604020202020204" pitchFamily="34" charset="0"/>
                <a:hlinkClick r:id="rId4"/>
              </a:rPr>
              <a:t>https://www.axios.com/2024/06/05/asana-ai-teammates-generative-ai-genai-chatbot</a:t>
            </a:r>
            <a:endParaRPr lang="es-CO" sz="2400"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59D6848B-DDF7-B3B7-1F42-6293681444CB}"/>
              </a:ext>
            </a:extLst>
          </p:cNvPr>
          <p:cNvSpPr txBox="1"/>
          <p:nvPr/>
        </p:nvSpPr>
        <p:spPr>
          <a:xfrm>
            <a:off x="7061248" y="6270995"/>
            <a:ext cx="8534400" cy="3046988"/>
          </a:xfrm>
          <a:prstGeom prst="rect">
            <a:avLst/>
          </a:prstGeom>
          <a:noFill/>
        </p:spPr>
        <p:txBody>
          <a:bodyPr wrap="square" rtlCol="0">
            <a:spAutoFit/>
          </a:bodyPr>
          <a:lstStyle/>
          <a:p>
            <a:pPr marL="342900" indent="-342900">
              <a:buFont typeface="Arial" panose="020B0604020202020204" pitchFamily="34" charset="0"/>
              <a:buChar char="•"/>
            </a:pPr>
            <a:r>
              <a:rPr lang="es-CO" sz="2400" b="1" dirty="0" err="1">
                <a:latin typeface="Arial" panose="020B0604020202020204" pitchFamily="34" charset="0"/>
                <a:cs typeface="Arial" panose="020B0604020202020204" pitchFamily="34" charset="0"/>
              </a:rPr>
              <a:t>Wrike</a:t>
            </a:r>
            <a:r>
              <a:rPr lang="es-CO" sz="2400" b="1" dirty="0">
                <a:latin typeface="Arial" panose="020B0604020202020204" pitchFamily="34" charset="0"/>
                <a:cs typeface="Arial" panose="020B0604020202020204" pitchFamily="34" charset="0"/>
              </a:rPr>
              <a:t> (Work </a:t>
            </a:r>
            <a:r>
              <a:rPr lang="es-CO" sz="2400" b="1" dirty="0" err="1">
                <a:latin typeface="Arial" panose="020B0604020202020204" pitchFamily="34" charset="0"/>
                <a:cs typeface="Arial" panose="020B0604020202020204" pitchFamily="34" charset="0"/>
              </a:rPr>
              <a:t>Intelligence</a:t>
            </a:r>
            <a:r>
              <a:rPr lang="es-CO" sz="2400" b="1" dirty="0">
                <a:latin typeface="Arial" panose="020B0604020202020204" pitchFamily="34" charset="0"/>
                <a:cs typeface="Arial" panose="020B0604020202020204" pitchFamily="34" charset="0"/>
              </a:rPr>
              <a:t>):</a:t>
            </a:r>
          </a:p>
          <a:p>
            <a:pPr marL="342900" indent="-342900">
              <a:buFont typeface="Arial" panose="020B0604020202020204" pitchFamily="34" charset="0"/>
              <a:buChar char="•"/>
            </a:pPr>
            <a:endParaRPr lang="es-CO" sz="2400" dirty="0">
              <a:latin typeface="Arial" panose="020B0604020202020204" pitchFamily="34" charset="0"/>
              <a:cs typeface="Arial" panose="020B0604020202020204" pitchFamily="34" charset="0"/>
            </a:endParaRPr>
          </a:p>
          <a:p>
            <a:r>
              <a:rPr lang="es-CO" sz="2400" dirty="0" err="1">
                <a:latin typeface="Arial" panose="020B0604020202020204" pitchFamily="34" charset="0"/>
                <a:cs typeface="Arial" panose="020B0604020202020204" pitchFamily="34" charset="0"/>
              </a:rPr>
              <a:t>Wrike</a:t>
            </a:r>
            <a:r>
              <a:rPr lang="es-CO" sz="2400" dirty="0">
                <a:latin typeface="Arial" panose="020B0604020202020204" pitchFamily="34" charset="0"/>
                <a:cs typeface="Arial" panose="020B0604020202020204" pitchFamily="34" charset="0"/>
              </a:rPr>
              <a:t> integra “Work </a:t>
            </a:r>
            <a:r>
              <a:rPr lang="es-CO" sz="2400" dirty="0" err="1">
                <a:latin typeface="Arial" panose="020B0604020202020204" pitchFamily="34" charset="0"/>
                <a:cs typeface="Arial" panose="020B0604020202020204" pitchFamily="34" charset="0"/>
              </a:rPr>
              <a:t>Intelligence</a:t>
            </a:r>
            <a:r>
              <a:rPr lang="es-CO" sz="2400" dirty="0">
                <a:latin typeface="Arial" panose="020B0604020202020204" pitchFamily="34" charset="0"/>
                <a:cs typeface="Arial" panose="020B0604020202020204" pitchFamily="34" charset="0"/>
              </a:rPr>
              <a:t>”, una suite de IA que incluye predicción de riesgos, priorización de trabajo, automatización de flujos y análisis inteligente para la gestión de proyectos, mejorando la productividad y reduciendo cuellos de botella.</a:t>
            </a:r>
          </a:p>
          <a:p>
            <a:endParaRPr lang="es-CO" sz="2400" dirty="0">
              <a:latin typeface="Arial" panose="020B0604020202020204" pitchFamily="34" charset="0"/>
              <a:cs typeface="Arial" panose="020B0604020202020204" pitchFamily="34" charset="0"/>
            </a:endParaRPr>
          </a:p>
          <a:p>
            <a:r>
              <a:rPr lang="es-CO" sz="2400" u="sng" dirty="0">
                <a:latin typeface="Arial" panose="020B0604020202020204" pitchFamily="34" charset="0"/>
                <a:cs typeface="Arial" panose="020B0604020202020204" pitchFamily="34" charset="0"/>
                <a:hlinkClick r:id="rId5"/>
              </a:rPr>
              <a:t>https://www.wrike.com/features/work-intelligence</a:t>
            </a:r>
            <a:endParaRPr lang="es-CO" sz="2400" dirty="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2419A-39B0-B256-47F7-1EEE13A3928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705599F-E6E4-0175-ED0B-B4A746CE6A66}"/>
              </a:ext>
            </a:extLst>
          </p:cNvPr>
          <p:cNvSpPr>
            <a:spLocks noGrp="1" noRot="1" noMove="1" noResize="1" noEditPoints="1" noAdjustHandles="1" noChangeArrowheads="1" noChangeShapeType="1"/>
          </p:cNvSpPr>
          <p:nvPr/>
        </p:nvSpPr>
        <p:spPr>
          <a:xfrm>
            <a:off x="0" y="5443"/>
            <a:ext cx="18288000" cy="10287000"/>
          </a:xfrm>
          <a:custGeom>
            <a:avLst/>
            <a:gdLst/>
            <a:ahLst/>
            <a:cxnLst/>
            <a:rect l="l" t="t" r="r" b="b"/>
            <a:pathLst>
              <a:path w="13716000" h="10287000">
                <a:moveTo>
                  <a:pt x="0" y="0"/>
                </a:moveTo>
                <a:lnTo>
                  <a:pt x="13716000" y="0"/>
                </a:lnTo>
                <a:lnTo>
                  <a:pt x="13716000" y="10287000"/>
                </a:lnTo>
                <a:lnTo>
                  <a:pt x="0" y="10287000"/>
                </a:lnTo>
                <a:lnTo>
                  <a:pt x="0" y="0"/>
                </a:lnTo>
                <a:close/>
              </a:path>
            </a:pathLst>
          </a:custGeom>
          <a:blipFill>
            <a:blip r:embed="rId2"/>
            <a:stretch>
              <a:fillRect/>
            </a:stretch>
          </a:blipFill>
        </p:spPr>
        <p:txBody>
          <a:bodyPr/>
          <a:lstStyle/>
          <a:p>
            <a:endParaRPr lang="es-CO" dirty="0"/>
          </a:p>
        </p:txBody>
      </p:sp>
      <p:sp>
        <p:nvSpPr>
          <p:cNvPr id="3" name="TextBox 3">
            <a:extLst>
              <a:ext uri="{FF2B5EF4-FFF2-40B4-BE49-F238E27FC236}">
                <a16:creationId xmlns:a16="http://schemas.microsoft.com/office/drawing/2014/main" id="{DFFA68B9-56C1-651E-F2E3-4043087B0705}"/>
              </a:ext>
            </a:extLst>
          </p:cNvPr>
          <p:cNvSpPr txBox="1"/>
          <p:nvPr/>
        </p:nvSpPr>
        <p:spPr>
          <a:xfrm>
            <a:off x="1879648" y="1485900"/>
            <a:ext cx="13716000" cy="764825"/>
          </a:xfrm>
          <a:prstGeom prst="rect">
            <a:avLst/>
          </a:prstGeom>
        </p:spPr>
        <p:txBody>
          <a:bodyPr lIns="0" tIns="0" rIns="0" bIns="0" rtlCol="0" anchor="t">
            <a:spAutoFit/>
          </a:bodyPr>
          <a:lstStyle/>
          <a:p>
            <a:pPr algn="ctr">
              <a:lnSpc>
                <a:spcPts val="6444"/>
              </a:lnSpc>
            </a:pPr>
            <a:r>
              <a:rPr lang="en-US" sz="4800" b="1" dirty="0">
                <a:solidFill>
                  <a:srgbClr val="000000"/>
                </a:solidFill>
                <a:latin typeface="Arial" panose="020B0604020202020204" pitchFamily="34" charset="0"/>
                <a:ea typeface="HK Modular"/>
                <a:cs typeface="Arial" panose="020B0604020202020204" pitchFamily="34" charset="0"/>
                <a:sym typeface="HK Modular"/>
              </a:rPr>
              <a:t>ANTECEDENTES</a:t>
            </a:r>
          </a:p>
        </p:txBody>
      </p:sp>
      <p:sp>
        <p:nvSpPr>
          <p:cNvPr id="4" name="TextBox 4">
            <a:extLst>
              <a:ext uri="{FF2B5EF4-FFF2-40B4-BE49-F238E27FC236}">
                <a16:creationId xmlns:a16="http://schemas.microsoft.com/office/drawing/2014/main" id="{20520D1F-0735-A720-1DBC-F21CC364D26F}"/>
              </a:ext>
            </a:extLst>
          </p:cNvPr>
          <p:cNvSpPr txBox="1"/>
          <p:nvPr/>
        </p:nvSpPr>
        <p:spPr>
          <a:xfrm>
            <a:off x="1676400" y="2753619"/>
            <a:ext cx="5241298" cy="5170646"/>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s-CO" sz="2400" b="1" dirty="0" err="1">
                <a:latin typeface="Arial" panose="020B0604020202020204" pitchFamily="34" charset="0"/>
                <a:cs typeface="Arial" panose="020B0604020202020204" pitchFamily="34" charset="0"/>
              </a:rPr>
              <a:t>ClickUp</a:t>
            </a:r>
            <a:r>
              <a:rPr lang="es-CO" sz="2400" b="1" dirty="0">
                <a:latin typeface="Arial" panose="020B0604020202020204" pitchFamily="34" charset="0"/>
                <a:cs typeface="Arial" panose="020B0604020202020204" pitchFamily="34" charset="0"/>
              </a:rPr>
              <a:t> (</a:t>
            </a:r>
            <a:r>
              <a:rPr lang="es-CO" sz="2400" b="1" dirty="0" err="1">
                <a:latin typeface="Arial" panose="020B0604020202020204" pitchFamily="34" charset="0"/>
                <a:cs typeface="Arial" panose="020B0604020202020204" pitchFamily="34" charset="0"/>
              </a:rPr>
              <a:t>Intro</a:t>
            </a:r>
            <a:r>
              <a:rPr lang="es-CO" sz="2400" b="1" dirty="0">
                <a:latin typeface="Arial" panose="020B0604020202020204" pitchFamily="34" charset="0"/>
                <a:cs typeface="Arial" panose="020B0604020202020204" pitchFamily="34" charset="0"/>
              </a:rPr>
              <a:t> to </a:t>
            </a:r>
            <a:r>
              <a:rPr lang="es-CO" sz="2400" b="1" dirty="0" err="1">
                <a:latin typeface="Arial" panose="020B0604020202020204" pitchFamily="34" charset="0"/>
                <a:cs typeface="Arial" panose="020B0604020202020204" pitchFamily="34" charset="0"/>
              </a:rPr>
              <a:t>ClickUp</a:t>
            </a:r>
            <a:r>
              <a:rPr lang="es-CO" sz="2400" b="1" dirty="0">
                <a:latin typeface="Arial" panose="020B0604020202020204" pitchFamily="34" charset="0"/>
                <a:cs typeface="Arial" panose="020B0604020202020204" pitchFamily="34" charset="0"/>
              </a:rPr>
              <a:t> </a:t>
            </a:r>
            <a:r>
              <a:rPr lang="es-CO" sz="2400" b="1" dirty="0" err="1">
                <a:latin typeface="Arial" panose="020B0604020202020204" pitchFamily="34" charset="0"/>
                <a:cs typeface="Arial" panose="020B0604020202020204" pitchFamily="34" charset="0"/>
              </a:rPr>
              <a:t>Brain</a:t>
            </a:r>
            <a:r>
              <a:rPr lang="es-CO" sz="2400" b="1" dirty="0">
                <a:latin typeface="Arial" panose="020B0604020202020204" pitchFamily="34" charset="0"/>
                <a:cs typeface="Arial" panose="020B0604020202020204" pitchFamily="34" charset="0"/>
              </a:rPr>
              <a:t>):</a:t>
            </a:r>
          </a:p>
          <a:p>
            <a:pPr marL="342900" indent="-342900">
              <a:buFont typeface="Arial" panose="020B0604020202020204" pitchFamily="34" charset="0"/>
              <a:buChar char="•"/>
            </a:pPr>
            <a:endParaRPr lang="es-CO" sz="2400" dirty="0">
              <a:latin typeface="Arial" panose="020B0604020202020204" pitchFamily="34" charset="0"/>
              <a:cs typeface="Arial" panose="020B0604020202020204" pitchFamily="34" charset="0"/>
            </a:endParaRPr>
          </a:p>
          <a:p>
            <a:r>
              <a:rPr lang="es-CO" sz="2400" dirty="0" err="1">
                <a:latin typeface="Arial" panose="020B0604020202020204" pitchFamily="34" charset="0"/>
                <a:cs typeface="Arial" panose="020B0604020202020204" pitchFamily="34" charset="0"/>
              </a:rPr>
              <a:t>ClickUp</a:t>
            </a:r>
            <a:r>
              <a:rPr lang="es-CO" sz="2400" dirty="0">
                <a:latin typeface="Arial" panose="020B0604020202020204" pitchFamily="34" charset="0"/>
                <a:cs typeface="Arial" panose="020B0604020202020204" pitchFamily="34" charset="0"/>
              </a:rPr>
              <a:t> </a:t>
            </a:r>
            <a:r>
              <a:rPr lang="es-CO" sz="2400" dirty="0" err="1">
                <a:latin typeface="Arial" panose="020B0604020202020204" pitchFamily="34" charset="0"/>
                <a:cs typeface="Arial" panose="020B0604020202020204" pitchFamily="34" charset="0"/>
              </a:rPr>
              <a:t>Brain</a:t>
            </a:r>
            <a:r>
              <a:rPr lang="es-CO" sz="2400" dirty="0">
                <a:latin typeface="Arial" panose="020B0604020202020204" pitchFamily="34" charset="0"/>
                <a:cs typeface="Arial" panose="020B0604020202020204" pitchFamily="34" charset="0"/>
              </a:rPr>
              <a:t> es la capa de IA de la plataforma, que centraliza datos de proyectos y tareas, permitiendo generar documentos, responder preguntas en lenguaje natural, y conectar información entre equipos. Se presenta como un “cerebro” unificado para la gestión.</a:t>
            </a:r>
          </a:p>
          <a:p>
            <a:endParaRPr lang="es-CO" sz="2400" dirty="0">
              <a:latin typeface="Arial" panose="020B0604020202020204" pitchFamily="34" charset="0"/>
              <a:cs typeface="Arial" panose="020B0604020202020204" pitchFamily="34" charset="0"/>
            </a:endParaRPr>
          </a:p>
          <a:p>
            <a:r>
              <a:rPr lang="es-CO" sz="2400" u="sng" dirty="0">
                <a:latin typeface="Arial" panose="020B0604020202020204" pitchFamily="34" charset="0"/>
                <a:cs typeface="Arial" panose="020B0604020202020204" pitchFamily="34" charset="0"/>
                <a:hlinkClick r:id="rId3"/>
              </a:rPr>
              <a:t>https://help.clickup.com/hc/en-us/articles/12578085238039-Intro-to-ClickUp-Brain</a:t>
            </a:r>
            <a:endParaRPr lang="es-CO" sz="2400" dirty="0">
              <a:latin typeface="Arial" panose="020B0604020202020204" pitchFamily="34" charset="0"/>
              <a:cs typeface="Arial" panose="020B0604020202020204" pitchFamily="34" charset="0"/>
            </a:endParaRPr>
          </a:p>
        </p:txBody>
      </p:sp>
      <p:sp>
        <p:nvSpPr>
          <p:cNvPr id="5" name="CuadroTexto 4">
            <a:extLst>
              <a:ext uri="{FF2B5EF4-FFF2-40B4-BE49-F238E27FC236}">
                <a16:creationId xmlns:a16="http://schemas.microsoft.com/office/drawing/2014/main" id="{34493332-7BC7-C1F6-CC17-CA7604237132}"/>
              </a:ext>
            </a:extLst>
          </p:cNvPr>
          <p:cNvSpPr txBox="1"/>
          <p:nvPr/>
        </p:nvSpPr>
        <p:spPr>
          <a:xfrm>
            <a:off x="7848600" y="3224596"/>
            <a:ext cx="8534400" cy="6001643"/>
          </a:xfrm>
          <a:prstGeom prst="rect">
            <a:avLst/>
          </a:prstGeom>
          <a:noFill/>
        </p:spPr>
        <p:txBody>
          <a:bodyPr wrap="square" rtlCol="0">
            <a:spAutoFit/>
          </a:bodyPr>
          <a:lstStyle/>
          <a:p>
            <a:pPr marL="342900" indent="-342900">
              <a:buFont typeface="Arial" panose="020B0604020202020204" pitchFamily="34" charset="0"/>
              <a:buChar char="•"/>
            </a:pPr>
            <a:r>
              <a:rPr lang="es-CO" sz="2400" b="1" dirty="0">
                <a:latin typeface="Arial" panose="020B0604020202020204" pitchFamily="34" charset="0"/>
                <a:cs typeface="Arial" panose="020B0604020202020204" pitchFamily="34" charset="0"/>
              </a:rPr>
              <a:t>Easy </a:t>
            </a:r>
            <a:r>
              <a:rPr lang="es-CO" sz="2400" b="1" dirty="0" err="1">
                <a:latin typeface="Arial" panose="020B0604020202020204" pitchFamily="34" charset="0"/>
                <a:cs typeface="Arial" panose="020B0604020202020204" pitchFamily="34" charset="0"/>
              </a:rPr>
              <a:t>Redmine</a:t>
            </a:r>
            <a:r>
              <a:rPr lang="es-CO" sz="2400" b="1" dirty="0">
                <a:latin typeface="Arial" panose="020B0604020202020204" pitchFamily="34" charset="0"/>
                <a:cs typeface="Arial" panose="020B0604020202020204" pitchFamily="34" charset="0"/>
              </a:rPr>
              <a:t>:</a:t>
            </a:r>
          </a:p>
          <a:p>
            <a:endParaRPr lang="es-CO" sz="2400" dirty="0">
              <a:latin typeface="Arial" panose="020B0604020202020204" pitchFamily="34" charset="0"/>
              <a:cs typeface="Arial" panose="020B0604020202020204" pitchFamily="34" charset="0"/>
            </a:endParaRPr>
          </a:p>
          <a:p>
            <a:r>
              <a:rPr lang="es-CO" sz="2400" dirty="0">
                <a:latin typeface="Arial" panose="020B0604020202020204" pitchFamily="34" charset="0"/>
                <a:cs typeface="Arial" panose="020B0604020202020204" pitchFamily="34" charset="0"/>
              </a:rPr>
              <a:t>Easy </a:t>
            </a:r>
            <a:r>
              <a:rPr lang="es-CO" sz="2400" dirty="0" err="1">
                <a:latin typeface="Arial" panose="020B0604020202020204" pitchFamily="34" charset="0"/>
                <a:cs typeface="Arial" panose="020B0604020202020204" pitchFamily="34" charset="0"/>
              </a:rPr>
              <a:t>Redmine</a:t>
            </a:r>
            <a:r>
              <a:rPr lang="es-CO" sz="2400" dirty="0">
                <a:latin typeface="Arial" panose="020B0604020202020204" pitchFamily="34" charset="0"/>
                <a:cs typeface="Arial" panose="020B0604020202020204" pitchFamily="34" charset="0"/>
              </a:rPr>
              <a:t> ofrece “Easy AI”, un módulo que aplica inteligencia artificial para predicciones de esfuerzo, priorización de tareas y soporte en la toma de decisiones dentro de la gestión de proyectos.</a:t>
            </a:r>
          </a:p>
          <a:p>
            <a:endParaRPr lang="es-CO" sz="2400" dirty="0">
              <a:latin typeface="Arial" panose="020B0604020202020204" pitchFamily="34" charset="0"/>
              <a:cs typeface="Arial" panose="020B0604020202020204" pitchFamily="34" charset="0"/>
            </a:endParaRPr>
          </a:p>
          <a:p>
            <a:r>
              <a:rPr lang="es-CO" sz="2400" u="sng" dirty="0">
                <a:latin typeface="Arial" panose="020B0604020202020204" pitchFamily="34" charset="0"/>
                <a:cs typeface="Arial" panose="020B0604020202020204" pitchFamily="34" charset="0"/>
                <a:hlinkClick r:id="rId4"/>
              </a:rPr>
              <a:t>https://www.easyredmine.com/product/easy-ai</a:t>
            </a:r>
            <a:endParaRPr lang="es-CO" sz="2400" u="sng" dirty="0">
              <a:latin typeface="Arial" panose="020B0604020202020204" pitchFamily="34" charset="0"/>
              <a:cs typeface="Arial" panose="020B0604020202020204" pitchFamily="34" charset="0"/>
            </a:endParaRPr>
          </a:p>
          <a:p>
            <a:endParaRPr lang="es-CO" sz="2400" dirty="0">
              <a:latin typeface="Arial" panose="020B0604020202020204" pitchFamily="34" charset="0"/>
              <a:cs typeface="Arial" panose="020B0604020202020204" pitchFamily="34" charset="0"/>
            </a:endParaRPr>
          </a:p>
          <a:p>
            <a:r>
              <a:rPr lang="es-CO" sz="2400" dirty="0">
                <a:latin typeface="Arial" panose="020B0604020202020204" pitchFamily="34" charset="0"/>
                <a:cs typeface="Arial" panose="020B0604020202020204" pitchFamily="34" charset="0"/>
              </a:rPr>
              <a:t>Detalla el uso de Easy AI: cómo configurarlo, qué funciones específicas incluye (recomendaciones, predicciones, generación de texto), y sus aplicaciones en la práctica diaria de equipos de TI y proyectos.</a:t>
            </a:r>
          </a:p>
          <a:p>
            <a:endParaRPr lang="es-CO" sz="2400" dirty="0">
              <a:latin typeface="Arial" panose="020B0604020202020204" pitchFamily="34" charset="0"/>
              <a:cs typeface="Arial" panose="020B0604020202020204" pitchFamily="34" charset="0"/>
            </a:endParaRPr>
          </a:p>
          <a:p>
            <a:r>
              <a:rPr lang="es-CO" sz="2400" u="sng" dirty="0">
                <a:latin typeface="Arial" panose="020B0604020202020204" pitchFamily="34" charset="0"/>
                <a:cs typeface="Arial" panose="020B0604020202020204" pitchFamily="34" charset="0"/>
                <a:hlinkClick r:id="rId5"/>
              </a:rPr>
              <a:t>https://www.easyredmine.com/documentation-of-easy-redmine/article/easy-ai</a:t>
            </a:r>
            <a:endParaRPr lang="es-CO"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3702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EBC6A-2BE0-5D25-6E4B-788B450ACDE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F6856DE-D4B9-3600-548A-E4D942904AB9}"/>
              </a:ext>
            </a:extLst>
          </p:cNvPr>
          <p:cNvSpPr>
            <a:spLocks noGrp="1" noRot="1" noMove="1" noResize="1" noEditPoints="1" noAdjustHandles="1" noChangeArrowheads="1" noChangeShapeType="1"/>
          </p:cNvSpPr>
          <p:nvPr/>
        </p:nvSpPr>
        <p:spPr>
          <a:xfrm>
            <a:off x="0" y="5443"/>
            <a:ext cx="18288000" cy="10287000"/>
          </a:xfrm>
          <a:custGeom>
            <a:avLst/>
            <a:gdLst/>
            <a:ahLst/>
            <a:cxnLst/>
            <a:rect l="l" t="t" r="r" b="b"/>
            <a:pathLst>
              <a:path w="13716000" h="10287000">
                <a:moveTo>
                  <a:pt x="0" y="0"/>
                </a:moveTo>
                <a:lnTo>
                  <a:pt x="13716000" y="0"/>
                </a:lnTo>
                <a:lnTo>
                  <a:pt x="13716000" y="10287000"/>
                </a:lnTo>
                <a:lnTo>
                  <a:pt x="0" y="10287000"/>
                </a:lnTo>
                <a:lnTo>
                  <a:pt x="0" y="0"/>
                </a:lnTo>
                <a:close/>
              </a:path>
            </a:pathLst>
          </a:custGeom>
          <a:blipFill>
            <a:blip r:embed="rId2"/>
            <a:stretch>
              <a:fillRect/>
            </a:stretch>
          </a:blipFill>
        </p:spPr>
        <p:txBody>
          <a:bodyPr/>
          <a:lstStyle/>
          <a:p>
            <a:endParaRPr lang="es-CO" dirty="0"/>
          </a:p>
        </p:txBody>
      </p:sp>
      <p:sp>
        <p:nvSpPr>
          <p:cNvPr id="3" name="TextBox 3">
            <a:extLst>
              <a:ext uri="{FF2B5EF4-FFF2-40B4-BE49-F238E27FC236}">
                <a16:creationId xmlns:a16="http://schemas.microsoft.com/office/drawing/2014/main" id="{57C12A36-4152-2C63-2AED-EAD50D1BA633}"/>
              </a:ext>
            </a:extLst>
          </p:cNvPr>
          <p:cNvSpPr txBox="1"/>
          <p:nvPr/>
        </p:nvSpPr>
        <p:spPr>
          <a:xfrm>
            <a:off x="1879648" y="1485900"/>
            <a:ext cx="13716000" cy="764825"/>
          </a:xfrm>
          <a:prstGeom prst="rect">
            <a:avLst/>
          </a:prstGeom>
        </p:spPr>
        <p:txBody>
          <a:bodyPr lIns="0" tIns="0" rIns="0" bIns="0" rtlCol="0" anchor="t">
            <a:spAutoFit/>
          </a:bodyPr>
          <a:lstStyle/>
          <a:p>
            <a:pPr algn="ctr">
              <a:lnSpc>
                <a:spcPts val="6444"/>
              </a:lnSpc>
            </a:pPr>
            <a:r>
              <a:rPr lang="en-US" sz="4800" b="1" dirty="0">
                <a:solidFill>
                  <a:srgbClr val="000000"/>
                </a:solidFill>
                <a:latin typeface="Arial" panose="020B0604020202020204" pitchFamily="34" charset="0"/>
                <a:ea typeface="HK Modular"/>
                <a:cs typeface="Arial" panose="020B0604020202020204" pitchFamily="34" charset="0"/>
                <a:sym typeface="HK Modular"/>
              </a:rPr>
              <a:t>ANTECEDENTES</a:t>
            </a:r>
          </a:p>
        </p:txBody>
      </p:sp>
      <p:sp>
        <p:nvSpPr>
          <p:cNvPr id="4" name="TextBox 4">
            <a:extLst>
              <a:ext uri="{FF2B5EF4-FFF2-40B4-BE49-F238E27FC236}">
                <a16:creationId xmlns:a16="http://schemas.microsoft.com/office/drawing/2014/main" id="{DC0164C4-E1B1-BE6C-FC1F-880155184E5B}"/>
              </a:ext>
            </a:extLst>
          </p:cNvPr>
          <p:cNvSpPr txBox="1"/>
          <p:nvPr/>
        </p:nvSpPr>
        <p:spPr>
          <a:xfrm>
            <a:off x="1905000" y="2781300"/>
            <a:ext cx="4724400" cy="4062651"/>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s-CO" sz="2400" b="1" dirty="0">
                <a:latin typeface="Arial" panose="020B0604020202020204" pitchFamily="34" charset="0"/>
                <a:cs typeface="Arial" panose="020B0604020202020204" pitchFamily="34" charset="0"/>
              </a:rPr>
              <a:t>Monday.com (Work OS):</a:t>
            </a:r>
            <a:endParaRPr lang="es-CO" sz="2400" dirty="0">
              <a:latin typeface="Arial" panose="020B0604020202020204" pitchFamily="34" charset="0"/>
              <a:cs typeface="Arial" panose="020B0604020202020204" pitchFamily="34" charset="0"/>
            </a:endParaRPr>
          </a:p>
          <a:p>
            <a:r>
              <a:rPr lang="es-CO" sz="2400" dirty="0">
                <a:latin typeface="Arial" panose="020B0604020202020204" pitchFamily="34" charset="0"/>
                <a:cs typeface="Arial" panose="020B0604020202020204" pitchFamily="34" charset="0"/>
              </a:rPr>
              <a:t>Monday.com se presenta como un “Work OS” (Sistema Operativo de Trabajo), que integra tableros personalizables, automatizaciones y recientemente IA para asistencia en la organización, optimización de recursos y colaboración visual.</a:t>
            </a:r>
          </a:p>
          <a:p>
            <a:endParaRPr lang="es-CO" sz="2400" dirty="0">
              <a:latin typeface="Arial" panose="020B0604020202020204" pitchFamily="34" charset="0"/>
              <a:cs typeface="Arial" panose="020B0604020202020204" pitchFamily="34" charset="0"/>
            </a:endParaRPr>
          </a:p>
          <a:p>
            <a:r>
              <a:rPr lang="es-CO" sz="2400" u="sng" dirty="0">
                <a:latin typeface="Arial" panose="020B0604020202020204" pitchFamily="34" charset="0"/>
                <a:cs typeface="Arial" panose="020B0604020202020204" pitchFamily="34" charset="0"/>
                <a:hlinkClick r:id="rId3"/>
              </a:rPr>
              <a:t>https://monday.com/blog/product/work-os</a:t>
            </a:r>
            <a:endParaRPr lang="es-CO" sz="2400" dirty="0">
              <a:latin typeface="Arial" panose="020B0604020202020204" pitchFamily="34" charset="0"/>
              <a:cs typeface="Arial" panose="020B0604020202020204" pitchFamily="34" charset="0"/>
            </a:endParaRPr>
          </a:p>
        </p:txBody>
      </p:sp>
      <p:sp>
        <p:nvSpPr>
          <p:cNvPr id="5" name="CuadroTexto 4">
            <a:extLst>
              <a:ext uri="{FF2B5EF4-FFF2-40B4-BE49-F238E27FC236}">
                <a16:creationId xmlns:a16="http://schemas.microsoft.com/office/drawing/2014/main" id="{29483CC7-0C16-BD67-311B-0F80E212439D}"/>
              </a:ext>
            </a:extLst>
          </p:cNvPr>
          <p:cNvSpPr txBox="1"/>
          <p:nvPr/>
        </p:nvSpPr>
        <p:spPr>
          <a:xfrm>
            <a:off x="7146298" y="2781300"/>
            <a:ext cx="8449350" cy="5632311"/>
          </a:xfrm>
          <a:prstGeom prst="rect">
            <a:avLst/>
          </a:prstGeom>
          <a:noFill/>
        </p:spPr>
        <p:txBody>
          <a:bodyPr wrap="square" rtlCol="0">
            <a:spAutoFit/>
          </a:bodyPr>
          <a:lstStyle/>
          <a:p>
            <a:pPr marL="342900" indent="-342900">
              <a:buFont typeface="Arial" panose="020B0604020202020204" pitchFamily="34" charset="0"/>
              <a:buChar char="•"/>
            </a:pPr>
            <a:r>
              <a:rPr lang="es-CO" sz="2400" b="1" dirty="0">
                <a:latin typeface="Arial" panose="020B0604020202020204" pitchFamily="34" charset="0"/>
                <a:cs typeface="Arial" panose="020B0604020202020204" pitchFamily="34" charset="0"/>
              </a:rPr>
              <a:t>Airtable:</a:t>
            </a:r>
          </a:p>
          <a:p>
            <a:endParaRPr lang="es-CO" sz="2400" dirty="0">
              <a:latin typeface="Arial" panose="020B0604020202020204" pitchFamily="34" charset="0"/>
              <a:cs typeface="Arial" panose="020B0604020202020204" pitchFamily="34" charset="0"/>
            </a:endParaRPr>
          </a:p>
          <a:p>
            <a:r>
              <a:rPr lang="es-CO" sz="2400" dirty="0">
                <a:latin typeface="Arial" panose="020B0604020202020204" pitchFamily="34" charset="0"/>
                <a:cs typeface="Arial" panose="020B0604020202020204" pitchFamily="34" charset="0"/>
              </a:rPr>
              <a:t>Airtable ofrece IA integrada para construir aplicaciones personalizadas, automatizar flujos de trabajo y generar insights directamente sobre bases de datos estructuradas, conectando gestión de proyectos con analítica avanzada.</a:t>
            </a:r>
          </a:p>
          <a:p>
            <a:endParaRPr lang="es-CO" sz="2400" dirty="0">
              <a:latin typeface="Arial" panose="020B0604020202020204" pitchFamily="34" charset="0"/>
              <a:cs typeface="Arial" panose="020B0604020202020204" pitchFamily="34" charset="0"/>
            </a:endParaRPr>
          </a:p>
          <a:p>
            <a:r>
              <a:rPr lang="es-CO" sz="2400" u="sng" dirty="0">
                <a:latin typeface="Arial" panose="020B0604020202020204" pitchFamily="34" charset="0"/>
                <a:cs typeface="Arial" panose="020B0604020202020204" pitchFamily="34" charset="0"/>
                <a:hlinkClick r:id="rId4"/>
              </a:rPr>
              <a:t>https://www.airtable.com/platform/ai</a:t>
            </a:r>
            <a:r>
              <a:rPr lang="es-CO" sz="2400" dirty="0">
                <a:latin typeface="Arial" panose="020B0604020202020204" pitchFamily="34" charset="0"/>
                <a:cs typeface="Arial" panose="020B0604020202020204" pitchFamily="34" charset="0"/>
              </a:rPr>
              <a:t>       </a:t>
            </a:r>
          </a:p>
          <a:p>
            <a:r>
              <a:rPr lang="es-CO" sz="2400" dirty="0">
                <a:latin typeface="Arial" panose="020B0604020202020204" pitchFamily="34" charset="0"/>
                <a:cs typeface="Arial" panose="020B0604020202020204" pitchFamily="34" charset="0"/>
              </a:rPr>
              <a:t>   	</a:t>
            </a:r>
          </a:p>
          <a:p>
            <a:r>
              <a:rPr lang="es-CO" sz="2400" dirty="0">
                <a:latin typeface="Arial" panose="020B0604020202020204" pitchFamily="34" charset="0"/>
                <a:cs typeface="Arial" panose="020B0604020202020204" pitchFamily="34" charset="0"/>
              </a:rPr>
              <a:t>Explica cómo la plataforma permite a los usuarios crear aplicaciones internas sin necesidad de código, aprovechando la IA para personalizar y optimizar procesos de negocio y gestión de proyectos.</a:t>
            </a:r>
          </a:p>
          <a:p>
            <a:r>
              <a:rPr lang="es-CO" sz="2400" u="sng" dirty="0">
                <a:latin typeface="Arial" panose="020B0604020202020204" pitchFamily="34" charset="0"/>
                <a:cs typeface="Arial" panose="020B0604020202020204" pitchFamily="34" charset="0"/>
                <a:hlinkClick r:id="rId5"/>
              </a:rPr>
              <a:t>https://www.airtable.com/platform/app-building</a:t>
            </a:r>
            <a:endParaRPr lang="es-CO" sz="2400" u="sng" dirty="0">
              <a:latin typeface="Arial" panose="020B0604020202020204" pitchFamily="34" charset="0"/>
              <a:cs typeface="Arial" panose="020B0604020202020204" pitchFamily="34" charset="0"/>
            </a:endParaRPr>
          </a:p>
          <a:p>
            <a:endParaRPr lang="es-CO"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4041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3716000" h="10287000">
                <a:moveTo>
                  <a:pt x="0" y="0"/>
                </a:moveTo>
                <a:lnTo>
                  <a:pt x="13716000" y="0"/>
                </a:lnTo>
                <a:lnTo>
                  <a:pt x="13716000" y="10287000"/>
                </a:lnTo>
                <a:lnTo>
                  <a:pt x="0" y="10287000"/>
                </a:lnTo>
                <a:lnTo>
                  <a:pt x="0" y="0"/>
                </a:lnTo>
                <a:close/>
              </a:path>
            </a:pathLst>
          </a:custGeom>
          <a:blipFill>
            <a:blip r:embed="rId2"/>
            <a:stretch>
              <a:fillRect/>
            </a:stretch>
          </a:blipFill>
        </p:spPr>
        <p:txBody>
          <a:bodyPr/>
          <a:lstStyle/>
          <a:p>
            <a:endParaRPr lang="es-CO"/>
          </a:p>
        </p:txBody>
      </p:sp>
      <p:sp>
        <p:nvSpPr>
          <p:cNvPr id="3" name="TextBox 3"/>
          <p:cNvSpPr txBox="1"/>
          <p:nvPr/>
        </p:nvSpPr>
        <p:spPr>
          <a:xfrm>
            <a:off x="1879649" y="1733134"/>
            <a:ext cx="13716000" cy="755656"/>
          </a:xfrm>
          <a:prstGeom prst="rect">
            <a:avLst/>
          </a:prstGeom>
        </p:spPr>
        <p:txBody>
          <a:bodyPr lIns="0" tIns="0" rIns="0" bIns="0" rtlCol="0" anchor="t">
            <a:spAutoFit/>
          </a:bodyPr>
          <a:lstStyle/>
          <a:p>
            <a:pPr algn="ctr">
              <a:lnSpc>
                <a:spcPts val="6444"/>
              </a:lnSpc>
            </a:pPr>
            <a:r>
              <a:rPr lang="en-US" sz="4800" b="1" dirty="0">
                <a:solidFill>
                  <a:srgbClr val="000000"/>
                </a:solidFill>
                <a:latin typeface="Arial" panose="020B0604020202020204" pitchFamily="34" charset="0"/>
                <a:ea typeface="HK Modular"/>
                <a:cs typeface="Arial" panose="020B0604020202020204" pitchFamily="34" charset="0"/>
                <a:sym typeface="HK Modular"/>
              </a:rPr>
              <a:t>MARCO TEORICO</a:t>
            </a:r>
          </a:p>
        </p:txBody>
      </p:sp>
      <p:pic>
        <p:nvPicPr>
          <p:cNvPr id="5" name="Imagen 4"/>
          <p:cNvPicPr>
            <a:picLocks noChangeAspect="1"/>
          </p:cNvPicPr>
          <p:nvPr/>
        </p:nvPicPr>
        <p:blipFill>
          <a:blip r:embed="rId3"/>
          <a:stretch>
            <a:fillRect/>
          </a:stretch>
        </p:blipFill>
        <p:spPr>
          <a:xfrm>
            <a:off x="4038600" y="2705100"/>
            <a:ext cx="10210800" cy="551330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3716000" h="10287000">
                <a:moveTo>
                  <a:pt x="0" y="0"/>
                </a:moveTo>
                <a:lnTo>
                  <a:pt x="13716000" y="0"/>
                </a:lnTo>
                <a:lnTo>
                  <a:pt x="13716000" y="10287000"/>
                </a:lnTo>
                <a:lnTo>
                  <a:pt x="0" y="10287000"/>
                </a:lnTo>
                <a:lnTo>
                  <a:pt x="0" y="0"/>
                </a:lnTo>
                <a:close/>
              </a:path>
            </a:pathLst>
          </a:custGeom>
          <a:blipFill>
            <a:blip r:embed="rId2"/>
            <a:stretch>
              <a:fillRect/>
            </a:stretch>
          </a:blipFill>
        </p:spPr>
        <p:txBody>
          <a:bodyPr/>
          <a:lstStyle/>
          <a:p>
            <a:endParaRPr lang="es-CO"/>
          </a:p>
        </p:txBody>
      </p:sp>
      <p:sp>
        <p:nvSpPr>
          <p:cNvPr id="3" name="TextBox 3"/>
          <p:cNvSpPr txBox="1"/>
          <p:nvPr/>
        </p:nvSpPr>
        <p:spPr>
          <a:xfrm>
            <a:off x="1879649" y="1733134"/>
            <a:ext cx="13716000" cy="764825"/>
          </a:xfrm>
          <a:prstGeom prst="rect">
            <a:avLst/>
          </a:prstGeom>
        </p:spPr>
        <p:txBody>
          <a:bodyPr lIns="0" tIns="0" rIns="0" bIns="0" rtlCol="0" anchor="t">
            <a:spAutoFit/>
          </a:bodyPr>
          <a:lstStyle/>
          <a:p>
            <a:pPr algn="ctr">
              <a:lnSpc>
                <a:spcPts val="6444"/>
              </a:lnSpc>
            </a:pPr>
            <a:r>
              <a:rPr lang="en-US" sz="4800" b="1" dirty="0">
                <a:solidFill>
                  <a:srgbClr val="000000"/>
                </a:solidFill>
                <a:latin typeface="Arial" panose="020B0604020202020204" pitchFamily="34" charset="0"/>
                <a:ea typeface="HK Modular"/>
                <a:cs typeface="Arial" panose="020B0604020202020204" pitchFamily="34" charset="0"/>
                <a:sym typeface="HK Modular"/>
              </a:rPr>
              <a:t>BASE LEGAL</a:t>
            </a:r>
          </a:p>
        </p:txBody>
      </p:sp>
      <p:sp>
        <p:nvSpPr>
          <p:cNvPr id="4" name="TextBox 4"/>
          <p:cNvSpPr txBox="1"/>
          <p:nvPr/>
        </p:nvSpPr>
        <p:spPr>
          <a:xfrm>
            <a:off x="3314700" y="3211074"/>
            <a:ext cx="12413093" cy="5539978"/>
          </a:xfrm>
          <a:prstGeom prst="rect">
            <a:avLst/>
          </a:prstGeom>
        </p:spPr>
        <p:txBody>
          <a:bodyPr lIns="0" tIns="0" rIns="0" bIns="0" rtlCol="0" anchor="t">
            <a:spAutoFit/>
          </a:bodyPr>
          <a:lstStyle/>
          <a:p>
            <a:r>
              <a:rPr lang="es-CO" sz="2400" dirty="0">
                <a:latin typeface="Arial" panose="020B0604020202020204" pitchFamily="34" charset="0"/>
                <a:cs typeface="Arial" panose="020B0604020202020204" pitchFamily="34" charset="0"/>
              </a:rPr>
              <a:t>El desarrollo y gestión de proyectos de Tecnologías de la Información (TI) requiere un marco legal que regule tanto la protección de datos personales como la gestión ética de la información y el cumplimiento de estándares internacionales de calidad. Dicho marco asegura que los procesos de planeación, ejecución y entrega de proyectos se desarrollen con responsabilidad, transparencia y respeto por los derechos de los usuarios.</a:t>
            </a:r>
          </a:p>
          <a:p>
            <a:endParaRPr lang="es-CO" sz="2400" dirty="0">
              <a:latin typeface="Arial" panose="020B0604020202020204" pitchFamily="34" charset="0"/>
              <a:cs typeface="Arial" panose="020B0604020202020204" pitchFamily="34" charset="0"/>
            </a:endParaRPr>
          </a:p>
          <a:p>
            <a:r>
              <a:rPr lang="es-CO" sz="2400" dirty="0">
                <a:latin typeface="Arial" panose="020B0604020202020204" pitchFamily="34" charset="0"/>
                <a:cs typeface="Arial" panose="020B0604020202020204" pitchFamily="34" charset="0"/>
              </a:rPr>
              <a:t>En este sentido, las principales bases legales que respaldan el presente proyecto son:</a:t>
            </a:r>
          </a:p>
          <a:p>
            <a:endParaRPr lang="es-CO" sz="2400" dirty="0">
              <a:latin typeface="Arial" panose="020B0604020202020204" pitchFamily="34" charset="0"/>
              <a:cs typeface="Arial" panose="020B0604020202020204" pitchFamily="34" charset="0"/>
            </a:endParaRPr>
          </a:p>
          <a:p>
            <a:pPr marL="800100" lvl="1" indent="-342900">
              <a:buFont typeface="Arial" panose="020B0604020202020204" pitchFamily="34" charset="0"/>
              <a:buChar char="•"/>
            </a:pPr>
            <a:r>
              <a:rPr lang="es-CO" sz="2400" dirty="0">
                <a:latin typeface="Arial" panose="020B0604020202020204" pitchFamily="34" charset="0"/>
                <a:cs typeface="Arial" panose="020B0604020202020204" pitchFamily="34" charset="0"/>
              </a:rPr>
              <a:t>Circular Normativa DGI No. 001 – USC (04/08/2025).</a:t>
            </a:r>
          </a:p>
          <a:p>
            <a:pPr marL="800100" lvl="1" indent="-342900">
              <a:buFont typeface="Arial" panose="020B0604020202020204" pitchFamily="34" charset="0"/>
              <a:buChar char="•"/>
            </a:pPr>
            <a:r>
              <a:rPr lang="es-CO" sz="2400" dirty="0">
                <a:latin typeface="Arial" panose="020B0604020202020204" pitchFamily="34" charset="0"/>
                <a:cs typeface="Arial" panose="020B0604020202020204" pitchFamily="34" charset="0"/>
              </a:rPr>
              <a:t>Ley 1581 de 2012 (Colombia) y decretos reglamentarios.</a:t>
            </a:r>
          </a:p>
          <a:p>
            <a:pPr marL="800100" lvl="1" indent="-342900">
              <a:buFont typeface="Arial" panose="020B0604020202020204" pitchFamily="34" charset="0"/>
              <a:buChar char="•"/>
            </a:pPr>
            <a:r>
              <a:rPr lang="es-CO" sz="2400" dirty="0">
                <a:latin typeface="Arial" panose="020B0604020202020204" pitchFamily="34" charset="0"/>
                <a:cs typeface="Arial" panose="020B0604020202020204" pitchFamily="34" charset="0"/>
              </a:rPr>
              <a:t>CONPES 4144 (2025) / Hoja de Ruta de IA (MinCiencias).</a:t>
            </a:r>
          </a:p>
          <a:p>
            <a:pPr marL="800100" lvl="1" indent="-342900">
              <a:buFont typeface="Arial" panose="020B0604020202020204" pitchFamily="34" charset="0"/>
              <a:buChar char="•"/>
            </a:pPr>
            <a:r>
              <a:rPr lang="es-CO" sz="2400" dirty="0">
                <a:latin typeface="Arial" panose="020B0604020202020204" pitchFamily="34" charset="0"/>
                <a:cs typeface="Arial" panose="020B0604020202020204" pitchFamily="34" charset="0"/>
              </a:rPr>
              <a:t>Buenas prácticas internacionales (ISO).</a:t>
            </a:r>
          </a:p>
          <a:p>
            <a:pPr marL="1257300" lvl="2" indent="-342900">
              <a:buFont typeface="Arial" panose="020B0604020202020204" pitchFamily="34" charset="0"/>
              <a:buChar char="•"/>
            </a:pPr>
            <a:r>
              <a:rPr lang="es-CO" sz="2400" dirty="0">
                <a:latin typeface="Arial" panose="020B0604020202020204" pitchFamily="34" charset="0"/>
                <a:cs typeface="Arial" panose="020B0604020202020204" pitchFamily="34" charset="0"/>
              </a:rPr>
              <a:t>ISO/IEC 27001</a:t>
            </a:r>
          </a:p>
          <a:p>
            <a:pPr marL="1257300" lvl="2" indent="-342900">
              <a:buFont typeface="Arial" panose="020B0604020202020204" pitchFamily="34" charset="0"/>
              <a:buChar char="•"/>
            </a:pPr>
            <a:r>
              <a:rPr lang="es-CO" sz="2400" dirty="0">
                <a:latin typeface="Arial" panose="020B0604020202020204" pitchFamily="34" charset="0"/>
                <a:cs typeface="Arial" panose="020B0604020202020204" pitchFamily="34" charset="0"/>
              </a:rPr>
              <a:t>ISO 9001</a:t>
            </a:r>
          </a:p>
          <a:p>
            <a:pPr marL="800100" lvl="1" indent="-342900">
              <a:buFont typeface="Arial" panose="020B0604020202020204" pitchFamily="34" charset="0"/>
              <a:buChar char="•"/>
            </a:pPr>
            <a:r>
              <a:rPr lang="es-CO" sz="2400" dirty="0">
                <a:latin typeface="Arial" panose="020B0604020202020204" pitchFamily="34" charset="0"/>
                <a:cs typeface="Arial" panose="020B0604020202020204" pitchFamily="34" charset="0"/>
              </a:rPr>
              <a:t>Propiedad intelectual y uso responsable de IA.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3716000" h="10287000">
                <a:moveTo>
                  <a:pt x="0" y="0"/>
                </a:moveTo>
                <a:lnTo>
                  <a:pt x="13716000" y="0"/>
                </a:lnTo>
                <a:lnTo>
                  <a:pt x="13716000" y="10287000"/>
                </a:lnTo>
                <a:lnTo>
                  <a:pt x="0" y="10287000"/>
                </a:lnTo>
                <a:lnTo>
                  <a:pt x="0" y="0"/>
                </a:lnTo>
                <a:close/>
              </a:path>
            </a:pathLst>
          </a:custGeom>
          <a:blipFill>
            <a:blip r:embed="rId2"/>
            <a:stretch>
              <a:fillRect/>
            </a:stretch>
          </a:blipFill>
        </p:spPr>
        <p:txBody>
          <a:bodyPr/>
          <a:lstStyle/>
          <a:p>
            <a:endParaRPr lang="es-CO"/>
          </a:p>
        </p:txBody>
      </p:sp>
      <p:sp>
        <p:nvSpPr>
          <p:cNvPr id="3" name="TextBox 3"/>
          <p:cNvSpPr txBox="1"/>
          <p:nvPr/>
        </p:nvSpPr>
        <p:spPr>
          <a:xfrm>
            <a:off x="2011793" y="1058774"/>
            <a:ext cx="13716000" cy="764825"/>
          </a:xfrm>
          <a:prstGeom prst="rect">
            <a:avLst/>
          </a:prstGeom>
        </p:spPr>
        <p:txBody>
          <a:bodyPr lIns="0" tIns="0" rIns="0" bIns="0" rtlCol="0" anchor="t">
            <a:spAutoFit/>
          </a:bodyPr>
          <a:lstStyle/>
          <a:p>
            <a:pPr algn="ctr">
              <a:lnSpc>
                <a:spcPts val="6444"/>
              </a:lnSpc>
            </a:pPr>
            <a:r>
              <a:rPr lang="en-US" sz="4800" b="1" dirty="0">
                <a:solidFill>
                  <a:srgbClr val="000000"/>
                </a:solidFill>
                <a:latin typeface="Arial" panose="020B0604020202020204" pitchFamily="34" charset="0"/>
                <a:ea typeface="HK Modular"/>
                <a:cs typeface="Arial" panose="020B0604020202020204" pitchFamily="34" charset="0"/>
                <a:sym typeface="HK Modular"/>
              </a:rPr>
              <a:t>METODOLOGIA</a:t>
            </a:r>
          </a:p>
        </p:txBody>
      </p:sp>
      <p:sp>
        <p:nvSpPr>
          <p:cNvPr id="4" name="TextBox 4"/>
          <p:cNvSpPr txBox="1"/>
          <p:nvPr/>
        </p:nvSpPr>
        <p:spPr>
          <a:xfrm>
            <a:off x="3314700" y="2324100"/>
            <a:ext cx="12413093" cy="7017306"/>
          </a:xfrm>
          <a:prstGeom prst="rect">
            <a:avLst/>
          </a:prstGeom>
        </p:spPr>
        <p:txBody>
          <a:bodyPr lIns="0" tIns="0" rIns="0" bIns="0" rtlCol="0" anchor="t">
            <a:spAutoFit/>
          </a:bodyPr>
          <a:lstStyle/>
          <a:p>
            <a:r>
              <a:rPr lang="es-CO" sz="2400" dirty="0">
                <a:latin typeface="Arial" panose="020B0604020202020204" pitchFamily="34" charset="0"/>
                <a:cs typeface="Arial" panose="020B0604020202020204" pitchFamily="34" charset="0"/>
              </a:rPr>
              <a:t>La metodología propuesta combina tres enfoques complementarios que aseguran gobernanza, agilidad y disciplina en la gestión del ciclo de vida del software:</a:t>
            </a:r>
          </a:p>
          <a:p>
            <a:endParaRPr lang="es-CO" sz="2400"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s-CO" sz="2400" b="1" dirty="0">
                <a:latin typeface="Arial" panose="020B0604020202020204" pitchFamily="34" charset="0"/>
                <a:cs typeface="Arial" panose="020B0604020202020204" pitchFamily="34" charset="0"/>
              </a:rPr>
              <a:t> Gobernanza con PMBOK® 6.</a:t>
            </a:r>
            <a:br>
              <a:rPr lang="es-CO" sz="2400" dirty="0">
                <a:latin typeface="Arial" panose="020B0604020202020204" pitchFamily="34" charset="0"/>
                <a:cs typeface="Arial" panose="020B0604020202020204" pitchFamily="34" charset="0"/>
              </a:rPr>
            </a:br>
            <a:r>
              <a:rPr lang="es-CO" sz="2400" dirty="0">
                <a:latin typeface="Arial" panose="020B0604020202020204" pitchFamily="34" charset="0"/>
                <a:cs typeface="Arial" panose="020B0604020202020204" pitchFamily="34" charset="0"/>
              </a:rPr>
              <a:t>Se aplican los lineamientos del PMBOK para la elaboración del Acta de Constitución del Proyecto, planes de gestión, control de cambios, identificación y seguimiento de riesgos, y estrategias de comunicación con los interesados. Este componente asegura una visión integral y un marco disciplinado de gestión.</a:t>
            </a:r>
            <a:br>
              <a:rPr lang="es-CO" sz="2400" dirty="0">
                <a:latin typeface="Arial" panose="020B0604020202020204" pitchFamily="34" charset="0"/>
                <a:cs typeface="Arial" panose="020B0604020202020204" pitchFamily="34" charset="0"/>
              </a:rPr>
            </a:br>
            <a:endParaRPr lang="es-CO" sz="2400"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s-CO" sz="2400" b="1" dirty="0">
                <a:latin typeface="Arial" panose="020B0604020202020204" pitchFamily="34" charset="0"/>
                <a:cs typeface="Arial" panose="020B0604020202020204" pitchFamily="34" charset="0"/>
              </a:rPr>
              <a:t>Ejecución ágil con Jira (Scrum).</a:t>
            </a:r>
            <a:br>
              <a:rPr lang="es-CO" sz="2400" dirty="0">
                <a:latin typeface="Arial" panose="020B0604020202020204" pitchFamily="34" charset="0"/>
                <a:cs typeface="Arial" panose="020B0604020202020204" pitchFamily="34" charset="0"/>
              </a:rPr>
            </a:br>
            <a:r>
              <a:rPr lang="es-CO" sz="2400" dirty="0">
                <a:latin typeface="Arial" panose="020B0604020202020204" pitchFamily="34" charset="0"/>
                <a:cs typeface="Arial" panose="020B0604020202020204" pitchFamily="34" charset="0"/>
              </a:rPr>
              <a:t>El trabajo se organiza en sprints de dos semanas, con backlog priorizado, definición de “listo” y “terminado”, revisiones y retrospectivas. De esta forma se garantiza la entrega incremental de valor y la mejora continua en cada iteración.</a:t>
            </a:r>
            <a:br>
              <a:rPr lang="es-CO" sz="2400" dirty="0">
                <a:latin typeface="Arial" panose="020B0604020202020204" pitchFamily="34" charset="0"/>
                <a:cs typeface="Arial" panose="020B0604020202020204" pitchFamily="34" charset="0"/>
              </a:rPr>
            </a:br>
            <a:endParaRPr lang="es-CO" sz="2400"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s-CO" sz="2400" b="1" dirty="0">
                <a:latin typeface="Arial" panose="020B0604020202020204" pitchFamily="34" charset="0"/>
                <a:cs typeface="Arial" panose="020B0604020202020204" pitchFamily="34" charset="0"/>
              </a:rPr>
              <a:t>SDLC integrado en cada sprint.</a:t>
            </a:r>
            <a:br>
              <a:rPr lang="es-CO" sz="2400" dirty="0">
                <a:latin typeface="Arial" panose="020B0604020202020204" pitchFamily="34" charset="0"/>
                <a:cs typeface="Arial" panose="020B0604020202020204" pitchFamily="34" charset="0"/>
              </a:rPr>
            </a:br>
            <a:r>
              <a:rPr lang="es-CO" sz="2400" dirty="0">
                <a:latin typeface="Arial" panose="020B0604020202020204" pitchFamily="34" charset="0"/>
                <a:cs typeface="Arial" panose="020B0604020202020204" pitchFamily="34" charset="0"/>
              </a:rPr>
              <a:t>Cada historia o tarea en Jira se asocia a las fases del ciclo de vida del software:</a:t>
            </a:r>
          </a:p>
          <a:p>
            <a:pPr lvl="0"/>
            <a:r>
              <a:rPr lang="es-CO" sz="2400" b="1" dirty="0">
                <a:latin typeface="Arial" panose="020B0604020202020204" pitchFamily="34" charset="0"/>
                <a:cs typeface="Arial" panose="020B0604020202020204" pitchFamily="34" charset="0"/>
              </a:rPr>
              <a:t>	Análisis → Diseño → Construcción → Pruebas</a:t>
            </a:r>
            <a:r>
              <a:rPr lang="es-CO" sz="2400" dirty="0">
                <a:latin typeface="Arial" panose="020B0604020202020204" pitchFamily="34" charset="0"/>
                <a:cs typeface="Arial" panose="020B0604020202020204" pitchFamily="34" charset="0"/>
              </a:rPr>
              <a:t>. Para cada requisito se aplican 	checklist y criterios de aceptación en formato Gherkin, siguiendo la norma 	</a:t>
            </a:r>
            <a:r>
              <a:rPr lang="es-CO" sz="2400" b="1" dirty="0">
                <a:latin typeface="Arial" panose="020B0604020202020204" pitchFamily="34" charset="0"/>
                <a:cs typeface="Arial" panose="020B0604020202020204" pitchFamily="34" charset="0"/>
              </a:rPr>
              <a:t>ISO/IEC/IEEE 29148:2018</a:t>
            </a:r>
            <a:r>
              <a:rPr lang="es-CO" sz="2400" dirty="0">
                <a:latin typeface="Arial" panose="020B0604020202020204" pitchFamily="34" charset="0"/>
                <a:cs typeface="Arial" panose="020B0604020202020204" pitchFamily="34" charset="0"/>
              </a:rPr>
              <a:t>, lo que asegura trazabilidad y verificabilidad.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3716000" h="10287000">
                <a:moveTo>
                  <a:pt x="0" y="0"/>
                </a:moveTo>
                <a:lnTo>
                  <a:pt x="13716000" y="0"/>
                </a:lnTo>
                <a:lnTo>
                  <a:pt x="13716000" y="10287000"/>
                </a:lnTo>
                <a:lnTo>
                  <a:pt x="0" y="10287000"/>
                </a:lnTo>
                <a:lnTo>
                  <a:pt x="0" y="0"/>
                </a:lnTo>
                <a:close/>
              </a:path>
            </a:pathLst>
          </a:custGeom>
          <a:blipFill>
            <a:blip r:embed="rId2"/>
            <a:stretch>
              <a:fillRect/>
            </a:stretch>
          </a:blipFill>
        </p:spPr>
        <p:txBody>
          <a:bodyPr/>
          <a:lstStyle/>
          <a:p>
            <a:endParaRPr lang="es-CO"/>
          </a:p>
        </p:txBody>
      </p:sp>
      <p:sp>
        <p:nvSpPr>
          <p:cNvPr id="3" name="TextBox 3"/>
          <p:cNvSpPr txBox="1"/>
          <p:nvPr/>
        </p:nvSpPr>
        <p:spPr>
          <a:xfrm>
            <a:off x="2018194" y="936498"/>
            <a:ext cx="13716000" cy="764440"/>
          </a:xfrm>
          <a:prstGeom prst="rect">
            <a:avLst/>
          </a:prstGeom>
        </p:spPr>
        <p:txBody>
          <a:bodyPr lIns="0" tIns="0" rIns="0" bIns="0" rtlCol="0" anchor="t">
            <a:spAutoFit/>
          </a:bodyPr>
          <a:lstStyle/>
          <a:p>
            <a:pPr algn="ctr">
              <a:lnSpc>
                <a:spcPts val="6444"/>
              </a:lnSpc>
            </a:pPr>
            <a:r>
              <a:rPr lang="en-US" sz="4800" b="1" dirty="0">
                <a:solidFill>
                  <a:srgbClr val="000000"/>
                </a:solidFill>
                <a:latin typeface="Arial"/>
                <a:ea typeface="HK Modular"/>
                <a:cs typeface="HK Modular"/>
                <a:sym typeface="HK Modular"/>
              </a:rPr>
              <a:t>RESULTADOS</a:t>
            </a:r>
            <a:endParaRPr lang="en-US" sz="4800" b="1" dirty="0">
              <a:solidFill>
                <a:srgbClr val="000000"/>
              </a:solidFill>
              <a:latin typeface="Arial"/>
              <a:ea typeface="HK Modular"/>
              <a:cs typeface="HK Modular"/>
            </a:endParaRPr>
          </a:p>
        </p:txBody>
      </p:sp>
      <p:sp>
        <p:nvSpPr>
          <p:cNvPr id="4" name="TextBox 4"/>
          <p:cNvSpPr txBox="1"/>
          <p:nvPr/>
        </p:nvSpPr>
        <p:spPr>
          <a:xfrm>
            <a:off x="2015837" y="1963620"/>
            <a:ext cx="14248820" cy="8687891"/>
          </a:xfrm>
          <a:prstGeom prst="rect">
            <a:avLst/>
          </a:prstGeom>
        </p:spPr>
        <p:txBody>
          <a:bodyPr wrap="square" lIns="0" tIns="0" rIns="0" bIns="0" rtlCol="0" anchor="t">
            <a:spAutoFit/>
          </a:bodyPr>
          <a:lstStyle/>
          <a:p>
            <a:r>
              <a:rPr lang="en-US" sz="2400" dirty="0">
                <a:latin typeface="Arial"/>
                <a:ea typeface="+mn-lt"/>
                <a:cs typeface="+mn-lt"/>
              </a:rPr>
              <a:t>La </a:t>
            </a:r>
            <a:r>
              <a:rPr lang="en-US" sz="2400" dirty="0" err="1">
                <a:latin typeface="Arial"/>
                <a:ea typeface="+mn-lt"/>
                <a:cs typeface="+mn-lt"/>
              </a:rPr>
              <a:t>aplicación</a:t>
            </a:r>
            <a:r>
              <a:rPr lang="en-US" sz="2400" dirty="0">
                <a:latin typeface="Arial"/>
                <a:ea typeface="+mn-lt"/>
                <a:cs typeface="+mn-lt"/>
              </a:rPr>
              <a:t> de la </a:t>
            </a:r>
            <a:r>
              <a:rPr lang="en-US" sz="2400" dirty="0" err="1">
                <a:latin typeface="Arial"/>
                <a:ea typeface="+mn-lt"/>
                <a:cs typeface="+mn-lt"/>
              </a:rPr>
              <a:t>metodología</a:t>
            </a:r>
            <a:r>
              <a:rPr lang="en-US" sz="2400" dirty="0">
                <a:latin typeface="Arial"/>
                <a:ea typeface="+mn-lt"/>
                <a:cs typeface="+mn-lt"/>
              </a:rPr>
              <a:t> </a:t>
            </a:r>
            <a:r>
              <a:rPr lang="en-US" sz="2400" dirty="0" err="1">
                <a:latin typeface="Arial"/>
                <a:ea typeface="+mn-lt"/>
                <a:cs typeface="+mn-lt"/>
              </a:rPr>
              <a:t>propuesta</a:t>
            </a:r>
            <a:r>
              <a:rPr lang="en-US" sz="2400" dirty="0">
                <a:latin typeface="Arial"/>
                <a:ea typeface="+mn-lt"/>
                <a:cs typeface="+mn-lt"/>
              </a:rPr>
              <a:t> </a:t>
            </a:r>
            <a:r>
              <a:rPr lang="en-US" sz="2400" dirty="0" err="1">
                <a:latin typeface="Arial"/>
                <a:ea typeface="+mn-lt"/>
                <a:cs typeface="+mn-lt"/>
              </a:rPr>
              <a:t>permitirá</a:t>
            </a:r>
            <a:r>
              <a:rPr lang="en-US" sz="2400" dirty="0">
                <a:latin typeface="Arial"/>
                <a:ea typeface="+mn-lt"/>
                <a:cs typeface="+mn-lt"/>
              </a:rPr>
              <a:t> </a:t>
            </a:r>
            <a:r>
              <a:rPr lang="en-US" sz="2400" dirty="0" err="1">
                <a:latin typeface="Arial"/>
                <a:ea typeface="+mn-lt"/>
                <a:cs typeface="+mn-lt"/>
              </a:rPr>
              <a:t>alcanzar</a:t>
            </a:r>
            <a:r>
              <a:rPr lang="en-US" sz="2400" dirty="0">
                <a:latin typeface="Arial"/>
                <a:ea typeface="+mn-lt"/>
                <a:cs typeface="+mn-lt"/>
              </a:rPr>
              <a:t> un </a:t>
            </a:r>
            <a:r>
              <a:rPr lang="en-US" sz="2400" dirty="0" err="1">
                <a:latin typeface="Arial"/>
                <a:ea typeface="+mn-lt"/>
                <a:cs typeface="+mn-lt"/>
              </a:rPr>
              <a:t>estado</a:t>
            </a:r>
            <a:r>
              <a:rPr lang="en-US" sz="2400" dirty="0">
                <a:latin typeface="Arial"/>
                <a:ea typeface="+mn-lt"/>
                <a:cs typeface="+mn-lt"/>
              </a:rPr>
              <a:t> </a:t>
            </a:r>
            <a:r>
              <a:rPr lang="en-US" sz="2400" dirty="0" err="1">
                <a:latin typeface="Arial"/>
                <a:ea typeface="+mn-lt"/>
                <a:cs typeface="+mn-lt"/>
              </a:rPr>
              <a:t>futuro</a:t>
            </a:r>
            <a:r>
              <a:rPr lang="en-US" sz="2400" dirty="0">
                <a:latin typeface="Arial"/>
                <a:ea typeface="+mn-lt"/>
                <a:cs typeface="+mn-lt"/>
              </a:rPr>
              <a:t> </a:t>
            </a:r>
            <a:r>
              <a:rPr lang="en-US" sz="2400" dirty="0" err="1">
                <a:latin typeface="Arial"/>
                <a:ea typeface="+mn-lt"/>
                <a:cs typeface="+mn-lt"/>
              </a:rPr>
              <a:t>caracterizado</a:t>
            </a:r>
            <a:r>
              <a:rPr lang="en-US" sz="2400" dirty="0">
                <a:latin typeface="Arial"/>
                <a:ea typeface="+mn-lt"/>
                <a:cs typeface="+mn-lt"/>
              </a:rPr>
              <a:t> </a:t>
            </a:r>
            <a:r>
              <a:rPr lang="en-US" sz="2400" dirty="0" err="1">
                <a:latin typeface="Arial"/>
                <a:ea typeface="+mn-lt"/>
                <a:cs typeface="+mn-lt"/>
              </a:rPr>
              <a:t>por</a:t>
            </a:r>
            <a:r>
              <a:rPr lang="en-US" sz="2400" dirty="0">
                <a:latin typeface="Arial"/>
                <a:ea typeface="+mn-lt"/>
                <a:cs typeface="+mn-lt"/>
              </a:rPr>
              <a:t> mayor </a:t>
            </a:r>
            <a:r>
              <a:rPr lang="en-US" sz="2400" dirty="0" err="1">
                <a:latin typeface="Arial"/>
                <a:ea typeface="+mn-lt"/>
                <a:cs typeface="+mn-lt"/>
              </a:rPr>
              <a:t>trazabilidad</a:t>
            </a:r>
            <a:r>
              <a:rPr lang="en-US" sz="2400" dirty="0">
                <a:latin typeface="Arial"/>
                <a:ea typeface="+mn-lt"/>
                <a:cs typeface="+mn-lt"/>
              </a:rPr>
              <a:t>, control, </a:t>
            </a:r>
            <a:r>
              <a:rPr lang="en-US" sz="2400" dirty="0" err="1">
                <a:latin typeface="Arial"/>
                <a:ea typeface="+mn-lt"/>
                <a:cs typeface="+mn-lt"/>
              </a:rPr>
              <a:t>eficiencia</a:t>
            </a:r>
            <a:r>
              <a:rPr lang="en-US" sz="2400" dirty="0">
                <a:latin typeface="Arial"/>
                <a:ea typeface="+mn-lt"/>
                <a:cs typeface="+mn-lt"/>
              </a:rPr>
              <a:t> y </a:t>
            </a:r>
            <a:r>
              <a:rPr lang="en-US" sz="2400" dirty="0" err="1">
                <a:latin typeface="Arial"/>
                <a:ea typeface="+mn-lt"/>
                <a:cs typeface="+mn-lt"/>
              </a:rPr>
              <a:t>cumplimiento</a:t>
            </a:r>
            <a:r>
              <a:rPr lang="en-US" sz="2400" dirty="0">
                <a:latin typeface="Arial"/>
                <a:ea typeface="+mn-lt"/>
                <a:cs typeface="+mn-lt"/>
              </a:rPr>
              <a:t> </a:t>
            </a:r>
            <a:r>
              <a:rPr lang="en-US" sz="2400" dirty="0" err="1">
                <a:latin typeface="Arial"/>
                <a:ea typeface="+mn-lt"/>
                <a:cs typeface="+mn-lt"/>
              </a:rPr>
              <a:t>ético</a:t>
            </a:r>
            <a:r>
              <a:rPr lang="en-US" sz="2400" dirty="0">
                <a:latin typeface="Arial"/>
                <a:ea typeface="+mn-lt"/>
                <a:cs typeface="+mn-lt"/>
              </a:rPr>
              <a:t> </a:t>
            </a:r>
            <a:r>
              <a:rPr lang="en-US" sz="2400" dirty="0" err="1">
                <a:latin typeface="Arial"/>
                <a:ea typeface="+mn-lt"/>
                <a:cs typeface="+mn-lt"/>
              </a:rPr>
              <a:t>en</a:t>
            </a:r>
            <a:r>
              <a:rPr lang="en-US" sz="2400" dirty="0">
                <a:latin typeface="Arial"/>
                <a:ea typeface="+mn-lt"/>
                <a:cs typeface="+mn-lt"/>
              </a:rPr>
              <a:t> la </a:t>
            </a:r>
            <a:r>
              <a:rPr lang="en-US" sz="2400" dirty="0" err="1">
                <a:latin typeface="Arial"/>
                <a:ea typeface="+mn-lt"/>
                <a:cs typeface="+mn-lt"/>
              </a:rPr>
              <a:t>gestión</a:t>
            </a:r>
            <a:r>
              <a:rPr lang="en-US" sz="2400" dirty="0">
                <a:latin typeface="Arial"/>
                <a:ea typeface="+mn-lt"/>
                <a:cs typeface="+mn-lt"/>
              </a:rPr>
              <a:t> de </a:t>
            </a:r>
            <a:r>
              <a:rPr lang="en-US" sz="2400" dirty="0" err="1">
                <a:latin typeface="Arial"/>
                <a:ea typeface="+mn-lt"/>
                <a:cs typeface="+mn-lt"/>
              </a:rPr>
              <a:t>proyectos</a:t>
            </a:r>
            <a:r>
              <a:rPr lang="en-US" sz="2400" dirty="0">
                <a:latin typeface="Arial"/>
                <a:ea typeface="+mn-lt"/>
                <a:cs typeface="+mn-lt"/>
              </a:rPr>
              <a:t> de TI. Los </a:t>
            </a:r>
            <a:r>
              <a:rPr lang="en-US" sz="2400" dirty="0" err="1">
                <a:latin typeface="Arial"/>
                <a:ea typeface="+mn-lt"/>
                <a:cs typeface="+mn-lt"/>
              </a:rPr>
              <a:t>principales</a:t>
            </a:r>
            <a:r>
              <a:rPr lang="en-US" sz="2400" dirty="0">
                <a:latin typeface="Arial"/>
                <a:ea typeface="+mn-lt"/>
                <a:cs typeface="+mn-lt"/>
              </a:rPr>
              <a:t> </a:t>
            </a:r>
            <a:r>
              <a:rPr lang="en-US" sz="2400" dirty="0" err="1">
                <a:latin typeface="Arial"/>
                <a:ea typeface="+mn-lt"/>
                <a:cs typeface="+mn-lt"/>
              </a:rPr>
              <a:t>resultados</a:t>
            </a:r>
            <a:r>
              <a:rPr lang="en-US" sz="2400" dirty="0">
                <a:latin typeface="Arial"/>
                <a:ea typeface="+mn-lt"/>
                <a:cs typeface="+mn-lt"/>
              </a:rPr>
              <a:t> </a:t>
            </a:r>
            <a:r>
              <a:rPr lang="en-US" sz="2400" dirty="0" err="1">
                <a:latin typeface="Arial"/>
                <a:ea typeface="+mn-lt"/>
                <a:cs typeface="+mn-lt"/>
              </a:rPr>
              <a:t>esperados</a:t>
            </a:r>
            <a:r>
              <a:rPr lang="en-US" sz="2400" dirty="0">
                <a:latin typeface="Arial"/>
                <a:ea typeface="+mn-lt"/>
                <a:cs typeface="+mn-lt"/>
              </a:rPr>
              <a:t> son:</a:t>
            </a:r>
            <a:br>
              <a:rPr lang="en-US" sz="2400" dirty="0">
                <a:latin typeface="Arial"/>
                <a:ea typeface="+mn-lt"/>
                <a:cs typeface="+mn-lt"/>
              </a:rPr>
            </a:br>
            <a:r>
              <a:rPr lang="en-US" sz="2400" dirty="0">
                <a:latin typeface="Arial"/>
                <a:ea typeface="+mn-lt"/>
                <a:cs typeface="+mn-lt"/>
              </a:rPr>
              <a:t> </a:t>
            </a:r>
          </a:p>
          <a:p>
            <a:pPr marL="285750" indent="-285750">
              <a:buFont typeface="Arial"/>
              <a:buChar char="•"/>
            </a:pPr>
            <a:r>
              <a:rPr lang="en-US" sz="2400" b="1" dirty="0" err="1">
                <a:latin typeface="Arial"/>
                <a:ea typeface="+mn-lt"/>
                <a:cs typeface="+mn-lt"/>
              </a:rPr>
              <a:t>Trazabilidad</a:t>
            </a:r>
            <a:r>
              <a:rPr lang="en-US" sz="2400" b="1" dirty="0">
                <a:latin typeface="Arial"/>
                <a:ea typeface="+mn-lt"/>
                <a:cs typeface="+mn-lt"/>
              </a:rPr>
              <a:t> </a:t>
            </a:r>
            <a:r>
              <a:rPr lang="en-US" sz="2400" b="1" dirty="0" err="1">
                <a:latin typeface="Arial"/>
                <a:ea typeface="+mn-lt"/>
                <a:cs typeface="+mn-lt"/>
              </a:rPr>
              <a:t>completa</a:t>
            </a:r>
            <a:r>
              <a:rPr lang="en-US" sz="2400" b="1" dirty="0">
                <a:latin typeface="Arial"/>
                <a:ea typeface="+mn-lt"/>
                <a:cs typeface="+mn-lt"/>
              </a:rPr>
              <a:t>:</a:t>
            </a:r>
            <a:r>
              <a:rPr lang="en-US" sz="2400" dirty="0">
                <a:latin typeface="Arial"/>
                <a:ea typeface="+mn-lt"/>
                <a:cs typeface="+mn-lt"/>
              </a:rPr>
              <a:t> </a:t>
            </a:r>
            <a:r>
              <a:rPr lang="en-US" sz="2400" dirty="0" err="1">
                <a:latin typeface="Arial"/>
                <a:ea typeface="+mn-lt"/>
                <a:cs typeface="+mn-lt"/>
              </a:rPr>
              <a:t>establecer</a:t>
            </a:r>
            <a:r>
              <a:rPr lang="en-US" sz="2400" dirty="0">
                <a:latin typeface="Arial"/>
                <a:ea typeface="+mn-lt"/>
                <a:cs typeface="+mn-lt"/>
              </a:rPr>
              <a:t> un </a:t>
            </a:r>
            <a:r>
              <a:rPr lang="en-US" sz="2400" dirty="0" err="1">
                <a:latin typeface="Arial"/>
                <a:ea typeface="+mn-lt"/>
                <a:cs typeface="+mn-lt"/>
              </a:rPr>
              <a:t>encadenamiento</a:t>
            </a:r>
            <a:r>
              <a:rPr lang="en-US" sz="2400" dirty="0">
                <a:latin typeface="Arial"/>
                <a:ea typeface="+mn-lt"/>
                <a:cs typeface="+mn-lt"/>
              </a:rPr>
              <a:t> integral </a:t>
            </a:r>
            <a:r>
              <a:rPr lang="en-US" sz="2400" dirty="0" err="1">
                <a:latin typeface="Arial"/>
                <a:ea typeface="+mn-lt"/>
                <a:cs typeface="+mn-lt"/>
              </a:rPr>
              <a:t>Requisito</a:t>
            </a:r>
            <a:r>
              <a:rPr lang="en-US" sz="2400" dirty="0">
                <a:latin typeface="Arial"/>
                <a:ea typeface="+mn-lt"/>
                <a:cs typeface="+mn-lt"/>
              </a:rPr>
              <a:t> → Tarea → </a:t>
            </a:r>
            <a:r>
              <a:rPr lang="en-US" sz="2400" dirty="0" err="1">
                <a:latin typeface="Arial"/>
                <a:ea typeface="+mn-lt"/>
                <a:cs typeface="+mn-lt"/>
              </a:rPr>
              <a:t>Prueba</a:t>
            </a:r>
            <a:r>
              <a:rPr lang="en-US" sz="2400" dirty="0">
                <a:latin typeface="Arial"/>
                <a:ea typeface="+mn-lt"/>
                <a:cs typeface="+mn-lt"/>
              </a:rPr>
              <a:t> → </a:t>
            </a:r>
            <a:r>
              <a:rPr lang="en-US" sz="2400" dirty="0" err="1">
                <a:latin typeface="Arial"/>
                <a:ea typeface="+mn-lt"/>
                <a:cs typeface="+mn-lt"/>
              </a:rPr>
              <a:t>Defecto</a:t>
            </a:r>
            <a:r>
              <a:rPr lang="en-US" sz="2400" dirty="0">
                <a:latin typeface="Arial"/>
                <a:ea typeface="+mn-lt"/>
                <a:cs typeface="+mn-lt"/>
              </a:rPr>
              <a:t> con </a:t>
            </a:r>
            <a:r>
              <a:rPr lang="en-US" sz="2400" dirty="0" err="1">
                <a:latin typeface="Arial"/>
                <a:ea typeface="+mn-lt"/>
                <a:cs typeface="+mn-lt"/>
              </a:rPr>
              <a:t>una</a:t>
            </a:r>
            <a:r>
              <a:rPr lang="en-US" sz="2400" dirty="0">
                <a:latin typeface="Arial"/>
                <a:ea typeface="+mn-lt"/>
                <a:cs typeface="+mn-lt"/>
              </a:rPr>
              <a:t> </a:t>
            </a:r>
            <a:r>
              <a:rPr lang="en-US" sz="2400" dirty="0" err="1">
                <a:latin typeface="Arial"/>
                <a:ea typeface="+mn-lt"/>
                <a:cs typeface="+mn-lt"/>
              </a:rPr>
              <a:t>cobertura</a:t>
            </a:r>
            <a:r>
              <a:rPr lang="en-US" sz="2400" dirty="0">
                <a:latin typeface="Arial"/>
                <a:ea typeface="+mn-lt"/>
                <a:cs typeface="+mn-lt"/>
              </a:rPr>
              <a:t> </a:t>
            </a:r>
            <a:r>
              <a:rPr lang="en-US" sz="2400" dirty="0" err="1">
                <a:latin typeface="Arial"/>
                <a:ea typeface="+mn-lt"/>
                <a:cs typeface="+mn-lt"/>
              </a:rPr>
              <a:t>mínima</a:t>
            </a:r>
            <a:r>
              <a:rPr lang="en-US" sz="2400" dirty="0">
                <a:latin typeface="Arial"/>
                <a:ea typeface="+mn-lt"/>
                <a:cs typeface="+mn-lt"/>
              </a:rPr>
              <a:t> del 90%, </a:t>
            </a:r>
            <a:r>
              <a:rPr lang="en-US" sz="2400" dirty="0" err="1">
                <a:latin typeface="Arial"/>
                <a:ea typeface="+mn-lt"/>
                <a:cs typeface="+mn-lt"/>
              </a:rPr>
              <a:t>asegurando</a:t>
            </a:r>
            <a:r>
              <a:rPr lang="en-US" sz="2400" dirty="0">
                <a:latin typeface="Arial"/>
                <a:ea typeface="+mn-lt"/>
                <a:cs typeface="+mn-lt"/>
              </a:rPr>
              <a:t> que </a:t>
            </a:r>
            <a:r>
              <a:rPr lang="en-US" sz="2400" dirty="0" err="1">
                <a:latin typeface="Arial"/>
                <a:ea typeface="+mn-lt"/>
                <a:cs typeface="+mn-lt"/>
              </a:rPr>
              <a:t>cada</a:t>
            </a:r>
            <a:r>
              <a:rPr lang="en-US" sz="2400" dirty="0">
                <a:latin typeface="Arial"/>
                <a:ea typeface="+mn-lt"/>
                <a:cs typeface="+mn-lt"/>
              </a:rPr>
              <a:t> </a:t>
            </a:r>
            <a:r>
              <a:rPr lang="en-US" sz="2400" dirty="0" err="1">
                <a:latin typeface="Arial"/>
                <a:ea typeface="+mn-lt"/>
                <a:cs typeface="+mn-lt"/>
              </a:rPr>
              <a:t>requisito</a:t>
            </a:r>
            <a:r>
              <a:rPr lang="en-US" sz="2400" dirty="0">
                <a:latin typeface="Arial"/>
                <a:ea typeface="+mn-lt"/>
                <a:cs typeface="+mn-lt"/>
              </a:rPr>
              <a:t> </a:t>
            </a:r>
            <a:r>
              <a:rPr lang="en-US" sz="2400" dirty="0" err="1">
                <a:latin typeface="Arial"/>
                <a:ea typeface="+mn-lt"/>
                <a:cs typeface="+mn-lt"/>
              </a:rPr>
              <a:t>tenga</a:t>
            </a:r>
            <a:r>
              <a:rPr lang="en-US" sz="2400" dirty="0">
                <a:latin typeface="Arial"/>
                <a:ea typeface="+mn-lt"/>
                <a:cs typeface="+mn-lt"/>
              </a:rPr>
              <a:t> </a:t>
            </a:r>
            <a:r>
              <a:rPr lang="en-US" sz="2400" dirty="0" err="1">
                <a:latin typeface="Arial"/>
                <a:ea typeface="+mn-lt"/>
                <a:cs typeface="+mn-lt"/>
              </a:rPr>
              <a:t>su</a:t>
            </a:r>
            <a:r>
              <a:rPr lang="en-US" sz="2400" dirty="0">
                <a:latin typeface="Arial"/>
                <a:ea typeface="+mn-lt"/>
                <a:cs typeface="+mn-lt"/>
              </a:rPr>
              <a:t> </a:t>
            </a:r>
            <a:r>
              <a:rPr lang="en-US" sz="2400" dirty="0" err="1">
                <a:latin typeface="Arial"/>
                <a:ea typeface="+mn-lt"/>
                <a:cs typeface="+mn-lt"/>
              </a:rPr>
              <a:t>respectiva</a:t>
            </a:r>
            <a:r>
              <a:rPr lang="en-US" sz="2400" dirty="0">
                <a:latin typeface="Arial"/>
                <a:ea typeface="+mn-lt"/>
                <a:cs typeface="+mn-lt"/>
              </a:rPr>
              <a:t> </a:t>
            </a:r>
            <a:r>
              <a:rPr lang="en-US" sz="2400" dirty="0" err="1">
                <a:latin typeface="Arial"/>
                <a:ea typeface="+mn-lt"/>
                <a:cs typeface="+mn-lt"/>
              </a:rPr>
              <a:t>implementación</a:t>
            </a:r>
            <a:r>
              <a:rPr lang="en-US" sz="2400" dirty="0">
                <a:latin typeface="Arial"/>
                <a:ea typeface="+mn-lt"/>
                <a:cs typeface="+mn-lt"/>
              </a:rPr>
              <a:t>, </a:t>
            </a:r>
            <a:r>
              <a:rPr lang="en-US" sz="2400" dirty="0" err="1">
                <a:latin typeface="Arial"/>
                <a:ea typeface="+mn-lt"/>
                <a:cs typeface="+mn-lt"/>
              </a:rPr>
              <a:t>prueba</a:t>
            </a:r>
            <a:r>
              <a:rPr lang="en-US" sz="2400" dirty="0">
                <a:latin typeface="Arial"/>
                <a:ea typeface="+mn-lt"/>
                <a:cs typeface="+mn-lt"/>
              </a:rPr>
              <a:t> y control de </a:t>
            </a:r>
            <a:r>
              <a:rPr lang="en-US" sz="2400" dirty="0" err="1">
                <a:latin typeface="Arial"/>
                <a:ea typeface="+mn-lt"/>
                <a:cs typeface="+mn-lt"/>
              </a:rPr>
              <a:t>calidad</a:t>
            </a:r>
            <a:r>
              <a:rPr lang="en-US" sz="2400" dirty="0">
                <a:latin typeface="Arial"/>
                <a:ea typeface="+mn-lt"/>
                <a:cs typeface="+mn-lt"/>
              </a:rPr>
              <a:t>.</a:t>
            </a:r>
            <a:br>
              <a:rPr lang="en-US" sz="2400" dirty="0">
                <a:latin typeface="Arial"/>
                <a:ea typeface="+mn-lt"/>
                <a:cs typeface="+mn-lt"/>
              </a:rPr>
            </a:br>
            <a:r>
              <a:rPr lang="en-US" sz="2400" b="1" dirty="0" err="1">
                <a:latin typeface="Arial"/>
                <a:ea typeface="+mn-lt"/>
                <a:cs typeface="+mn-lt"/>
              </a:rPr>
              <a:t>Reducción</a:t>
            </a:r>
            <a:r>
              <a:rPr lang="en-US" sz="2400" b="1" dirty="0">
                <a:latin typeface="Arial"/>
                <a:ea typeface="+mn-lt"/>
                <a:cs typeface="+mn-lt"/>
              </a:rPr>
              <a:t> del </a:t>
            </a:r>
            <a:r>
              <a:rPr lang="en-US" sz="2400" b="1" dirty="0" err="1">
                <a:latin typeface="Arial"/>
                <a:ea typeface="+mn-lt"/>
                <a:cs typeface="+mn-lt"/>
              </a:rPr>
              <a:t>tiempo</a:t>
            </a:r>
            <a:r>
              <a:rPr lang="en-US" sz="2400" b="1" dirty="0">
                <a:latin typeface="Arial"/>
                <a:ea typeface="+mn-lt"/>
                <a:cs typeface="+mn-lt"/>
              </a:rPr>
              <a:t> de </a:t>
            </a:r>
            <a:r>
              <a:rPr lang="en-US" sz="2400" b="1" dirty="0" err="1">
                <a:latin typeface="Arial"/>
                <a:ea typeface="+mn-lt"/>
                <a:cs typeface="+mn-lt"/>
              </a:rPr>
              <a:t>entrega</a:t>
            </a:r>
            <a:r>
              <a:rPr lang="en-US" sz="2400" b="1" dirty="0">
                <a:latin typeface="Arial"/>
                <a:ea typeface="+mn-lt"/>
                <a:cs typeface="+mn-lt"/>
              </a:rPr>
              <a:t> (lead time):</a:t>
            </a:r>
            <a:r>
              <a:rPr lang="en-US" sz="2400" dirty="0">
                <a:latin typeface="Arial"/>
                <a:ea typeface="+mn-lt"/>
                <a:cs typeface="+mn-lt"/>
              </a:rPr>
              <a:t> </a:t>
            </a:r>
            <a:r>
              <a:rPr lang="en-US" sz="2400" dirty="0" err="1">
                <a:latin typeface="Arial"/>
                <a:ea typeface="+mn-lt"/>
                <a:cs typeface="+mn-lt"/>
              </a:rPr>
              <a:t>disminuir</a:t>
            </a:r>
            <a:r>
              <a:rPr lang="en-US" sz="2400" dirty="0">
                <a:latin typeface="Arial"/>
                <a:ea typeface="+mn-lt"/>
                <a:cs typeface="+mn-lt"/>
              </a:rPr>
              <a:t> </a:t>
            </a:r>
            <a:r>
              <a:rPr lang="en-US" sz="2400" dirty="0" err="1">
                <a:latin typeface="Arial"/>
                <a:ea typeface="+mn-lt"/>
                <a:cs typeface="+mn-lt"/>
              </a:rPr>
              <a:t>en</a:t>
            </a:r>
            <a:r>
              <a:rPr lang="en-US" sz="2400" dirty="0">
                <a:latin typeface="Arial"/>
                <a:ea typeface="+mn-lt"/>
                <a:cs typeface="+mn-lt"/>
              </a:rPr>
              <a:t> al </a:t>
            </a:r>
            <a:r>
              <a:rPr lang="en-US" sz="2400" dirty="0" err="1">
                <a:latin typeface="Arial"/>
                <a:ea typeface="+mn-lt"/>
                <a:cs typeface="+mn-lt"/>
              </a:rPr>
              <a:t>menos</a:t>
            </a:r>
            <a:r>
              <a:rPr lang="en-US" sz="2400" dirty="0">
                <a:latin typeface="Arial"/>
                <a:ea typeface="+mn-lt"/>
                <a:cs typeface="+mn-lt"/>
              </a:rPr>
              <a:t> un 25% </a:t>
            </a:r>
            <a:r>
              <a:rPr lang="en-US" sz="2400" dirty="0" err="1">
                <a:latin typeface="Arial"/>
                <a:ea typeface="+mn-lt"/>
                <a:cs typeface="+mn-lt"/>
              </a:rPr>
              <a:t>el</a:t>
            </a:r>
            <a:r>
              <a:rPr lang="en-US" sz="2400" dirty="0">
                <a:latin typeface="Arial"/>
                <a:ea typeface="+mn-lt"/>
                <a:cs typeface="+mn-lt"/>
              </a:rPr>
              <a:t> </a:t>
            </a:r>
            <a:r>
              <a:rPr lang="en-US" sz="2400" dirty="0" err="1">
                <a:latin typeface="Arial"/>
                <a:ea typeface="+mn-lt"/>
                <a:cs typeface="+mn-lt"/>
              </a:rPr>
              <a:t>tiempo</a:t>
            </a:r>
            <a:r>
              <a:rPr lang="en-US" sz="2400" dirty="0">
                <a:latin typeface="Arial"/>
                <a:ea typeface="+mn-lt"/>
                <a:cs typeface="+mn-lt"/>
              </a:rPr>
              <a:t> </a:t>
            </a:r>
            <a:r>
              <a:rPr lang="en-US" sz="2400" dirty="0" err="1">
                <a:latin typeface="Arial"/>
                <a:ea typeface="+mn-lt"/>
                <a:cs typeface="+mn-lt"/>
              </a:rPr>
              <a:t>promedio</a:t>
            </a:r>
            <a:r>
              <a:rPr lang="en-US" sz="2400" dirty="0">
                <a:latin typeface="Arial"/>
                <a:ea typeface="+mn-lt"/>
                <a:cs typeface="+mn-lt"/>
              </a:rPr>
              <a:t> de </a:t>
            </a:r>
            <a:r>
              <a:rPr lang="en-US" sz="2400" dirty="0" err="1">
                <a:latin typeface="Arial"/>
                <a:ea typeface="+mn-lt"/>
                <a:cs typeface="+mn-lt"/>
              </a:rPr>
              <a:t>resolución</a:t>
            </a:r>
            <a:r>
              <a:rPr lang="en-US" sz="2400" dirty="0">
                <a:latin typeface="Arial"/>
                <a:ea typeface="+mn-lt"/>
                <a:cs typeface="+mn-lt"/>
              </a:rPr>
              <a:t> de </a:t>
            </a:r>
            <a:r>
              <a:rPr lang="en-US" sz="2400" dirty="0" err="1">
                <a:latin typeface="Arial"/>
                <a:ea typeface="+mn-lt"/>
                <a:cs typeface="+mn-lt"/>
              </a:rPr>
              <a:t>tareas</a:t>
            </a:r>
            <a:r>
              <a:rPr lang="en-US" sz="2400" dirty="0">
                <a:latin typeface="Arial"/>
                <a:ea typeface="+mn-lt"/>
                <a:cs typeface="+mn-lt"/>
              </a:rPr>
              <a:t> </a:t>
            </a:r>
            <a:r>
              <a:rPr lang="en-US" sz="2400" dirty="0" err="1">
                <a:latin typeface="Arial"/>
                <a:ea typeface="+mn-lt"/>
                <a:cs typeface="+mn-lt"/>
              </a:rPr>
              <a:t>frente</a:t>
            </a:r>
            <a:r>
              <a:rPr lang="en-US" sz="2400" dirty="0">
                <a:latin typeface="Arial"/>
                <a:ea typeface="+mn-lt"/>
                <a:cs typeface="+mn-lt"/>
              </a:rPr>
              <a:t> a la </a:t>
            </a:r>
            <a:r>
              <a:rPr lang="en-US" sz="2400" dirty="0" err="1">
                <a:latin typeface="Arial"/>
                <a:ea typeface="+mn-lt"/>
                <a:cs typeface="+mn-lt"/>
              </a:rPr>
              <a:t>línea</a:t>
            </a:r>
            <a:r>
              <a:rPr lang="en-US" sz="2400" dirty="0">
                <a:latin typeface="Arial"/>
                <a:ea typeface="+mn-lt"/>
                <a:cs typeface="+mn-lt"/>
              </a:rPr>
              <a:t> base </a:t>
            </a:r>
            <a:r>
              <a:rPr lang="en-US" sz="2400" dirty="0" err="1">
                <a:latin typeface="Arial"/>
                <a:ea typeface="+mn-lt"/>
                <a:cs typeface="+mn-lt"/>
              </a:rPr>
              <a:t>inicial</a:t>
            </a:r>
            <a:r>
              <a:rPr lang="en-US" sz="2400" dirty="0">
                <a:latin typeface="Arial"/>
                <a:ea typeface="+mn-lt"/>
                <a:cs typeface="+mn-lt"/>
              </a:rPr>
              <a:t>, </a:t>
            </a:r>
            <a:r>
              <a:rPr lang="en-US" sz="2400" dirty="0" err="1">
                <a:latin typeface="Arial"/>
                <a:ea typeface="+mn-lt"/>
                <a:cs typeface="+mn-lt"/>
              </a:rPr>
              <a:t>optimizando</a:t>
            </a:r>
            <a:r>
              <a:rPr lang="en-US" sz="2400" dirty="0">
                <a:latin typeface="Arial"/>
                <a:ea typeface="+mn-lt"/>
                <a:cs typeface="+mn-lt"/>
              </a:rPr>
              <a:t> la </a:t>
            </a:r>
            <a:r>
              <a:rPr lang="en-US" sz="2400" dirty="0" err="1">
                <a:latin typeface="Arial"/>
                <a:ea typeface="+mn-lt"/>
                <a:cs typeface="+mn-lt"/>
              </a:rPr>
              <a:t>eficiencia</a:t>
            </a:r>
            <a:r>
              <a:rPr lang="en-US" sz="2400" dirty="0">
                <a:latin typeface="Arial"/>
                <a:ea typeface="+mn-lt"/>
                <a:cs typeface="+mn-lt"/>
              </a:rPr>
              <a:t> </a:t>
            </a:r>
            <a:r>
              <a:rPr lang="en-US" sz="2400" dirty="0" err="1">
                <a:latin typeface="Arial"/>
                <a:ea typeface="+mn-lt"/>
                <a:cs typeface="+mn-lt"/>
              </a:rPr>
              <a:t>operativa</a:t>
            </a:r>
            <a:r>
              <a:rPr lang="en-US" sz="2400" dirty="0">
                <a:latin typeface="Arial"/>
                <a:ea typeface="+mn-lt"/>
                <a:cs typeface="+mn-lt"/>
              </a:rPr>
              <a:t>.</a:t>
            </a:r>
            <a:br>
              <a:rPr lang="en-US" sz="2400" dirty="0">
                <a:latin typeface="Arial"/>
                <a:ea typeface="+mn-lt"/>
                <a:cs typeface="+mn-lt"/>
              </a:rPr>
            </a:br>
            <a:r>
              <a:rPr lang="en-US" sz="2400" b="1" dirty="0" err="1">
                <a:latin typeface="Arial"/>
                <a:ea typeface="+mn-lt"/>
                <a:cs typeface="+mn-lt"/>
              </a:rPr>
              <a:t>Cumplimiento</a:t>
            </a:r>
            <a:r>
              <a:rPr lang="en-US" sz="2400" b="1" dirty="0">
                <a:latin typeface="Arial"/>
                <a:ea typeface="+mn-lt"/>
                <a:cs typeface="+mn-lt"/>
              </a:rPr>
              <a:t> del </a:t>
            </a:r>
            <a:r>
              <a:rPr lang="en-US" sz="2400" b="1" dirty="0" err="1">
                <a:latin typeface="Arial"/>
                <a:ea typeface="+mn-lt"/>
                <a:cs typeface="+mn-lt"/>
              </a:rPr>
              <a:t>cronograma</a:t>
            </a:r>
            <a:r>
              <a:rPr lang="en-US" sz="2400" b="1" dirty="0">
                <a:latin typeface="Arial"/>
                <a:ea typeface="+mn-lt"/>
                <a:cs typeface="+mn-lt"/>
              </a:rPr>
              <a:t>:</a:t>
            </a:r>
            <a:r>
              <a:rPr lang="en-US" sz="2400" dirty="0">
                <a:latin typeface="Arial"/>
                <a:ea typeface="+mn-lt"/>
                <a:cs typeface="+mn-lt"/>
              </a:rPr>
              <a:t> </a:t>
            </a:r>
            <a:r>
              <a:rPr lang="en-US" sz="2400" dirty="0" err="1">
                <a:latin typeface="Arial"/>
                <a:ea typeface="+mn-lt"/>
                <a:cs typeface="+mn-lt"/>
              </a:rPr>
              <a:t>alcanzar</a:t>
            </a:r>
            <a:r>
              <a:rPr lang="en-US" sz="2400" dirty="0">
                <a:latin typeface="Arial"/>
                <a:ea typeface="+mn-lt"/>
                <a:cs typeface="+mn-lt"/>
              </a:rPr>
              <a:t> </a:t>
            </a:r>
            <a:r>
              <a:rPr lang="en-US" sz="2400" dirty="0" err="1">
                <a:latin typeface="Arial"/>
                <a:ea typeface="+mn-lt"/>
                <a:cs typeface="+mn-lt"/>
              </a:rPr>
              <a:t>indicadores</a:t>
            </a:r>
            <a:r>
              <a:rPr lang="en-US" sz="2400" dirty="0">
                <a:latin typeface="Arial"/>
                <a:ea typeface="+mn-lt"/>
                <a:cs typeface="+mn-lt"/>
              </a:rPr>
              <a:t> de </a:t>
            </a:r>
            <a:r>
              <a:rPr lang="en-US" sz="2400" dirty="0" err="1">
                <a:latin typeface="Arial"/>
                <a:ea typeface="+mn-lt"/>
                <a:cs typeface="+mn-lt"/>
              </a:rPr>
              <a:t>desempeño</a:t>
            </a:r>
            <a:r>
              <a:rPr lang="en-US" sz="2400" dirty="0">
                <a:latin typeface="Arial"/>
                <a:ea typeface="+mn-lt"/>
                <a:cs typeface="+mn-lt"/>
              </a:rPr>
              <a:t> </a:t>
            </a:r>
            <a:r>
              <a:rPr lang="en-US" sz="2400" dirty="0" err="1">
                <a:latin typeface="Arial"/>
                <a:ea typeface="+mn-lt"/>
                <a:cs typeface="+mn-lt"/>
              </a:rPr>
              <a:t>dentro</a:t>
            </a:r>
            <a:r>
              <a:rPr lang="en-US" sz="2400" dirty="0">
                <a:latin typeface="Arial"/>
                <a:ea typeface="+mn-lt"/>
                <a:cs typeface="+mn-lt"/>
              </a:rPr>
              <a:t> de </a:t>
            </a:r>
            <a:r>
              <a:rPr lang="en-US" sz="2400" dirty="0" err="1">
                <a:latin typeface="Arial"/>
                <a:ea typeface="+mn-lt"/>
                <a:cs typeface="+mn-lt"/>
              </a:rPr>
              <a:t>los</a:t>
            </a:r>
            <a:r>
              <a:rPr lang="en-US" sz="2400" dirty="0">
                <a:latin typeface="Arial"/>
                <a:ea typeface="+mn-lt"/>
                <a:cs typeface="+mn-lt"/>
              </a:rPr>
              <a:t> </a:t>
            </a:r>
            <a:r>
              <a:rPr lang="en-US" sz="2400" dirty="0" err="1">
                <a:latin typeface="Arial"/>
                <a:ea typeface="+mn-lt"/>
                <a:cs typeface="+mn-lt"/>
              </a:rPr>
              <a:t>rangos</a:t>
            </a:r>
            <a:r>
              <a:rPr lang="en-US" sz="2400" dirty="0">
                <a:latin typeface="Arial"/>
                <a:ea typeface="+mn-lt"/>
                <a:cs typeface="+mn-lt"/>
              </a:rPr>
              <a:t> </a:t>
            </a:r>
            <a:r>
              <a:rPr lang="en-US" sz="2400" dirty="0" err="1">
                <a:latin typeface="Arial"/>
                <a:ea typeface="+mn-lt"/>
                <a:cs typeface="+mn-lt"/>
              </a:rPr>
              <a:t>aceptables</a:t>
            </a:r>
            <a:r>
              <a:rPr lang="en-US" sz="2400" dirty="0">
                <a:latin typeface="Arial"/>
                <a:ea typeface="+mn-lt"/>
                <a:cs typeface="+mn-lt"/>
              </a:rPr>
              <a:t> al </a:t>
            </a:r>
            <a:r>
              <a:rPr lang="en-US" sz="2400" dirty="0" err="1">
                <a:latin typeface="Arial"/>
                <a:ea typeface="+mn-lt"/>
                <a:cs typeface="+mn-lt"/>
              </a:rPr>
              <a:t>finalizar</a:t>
            </a:r>
            <a:r>
              <a:rPr lang="en-US" sz="2400" dirty="0">
                <a:latin typeface="Arial"/>
                <a:ea typeface="+mn-lt"/>
                <a:cs typeface="+mn-lt"/>
              </a:rPr>
              <a:t> </a:t>
            </a:r>
            <a:r>
              <a:rPr lang="en-US" sz="2400" dirty="0" err="1">
                <a:latin typeface="Arial"/>
                <a:ea typeface="+mn-lt"/>
                <a:cs typeface="+mn-lt"/>
              </a:rPr>
              <a:t>el</a:t>
            </a:r>
            <a:r>
              <a:rPr lang="en-US" sz="2400" dirty="0">
                <a:latin typeface="Arial"/>
                <a:ea typeface="+mn-lt"/>
                <a:cs typeface="+mn-lt"/>
              </a:rPr>
              <a:t> </a:t>
            </a:r>
            <a:r>
              <a:rPr lang="en-US" sz="2400" dirty="0" err="1">
                <a:latin typeface="Arial"/>
                <a:ea typeface="+mn-lt"/>
                <a:cs typeface="+mn-lt"/>
              </a:rPr>
              <a:t>proyecto</a:t>
            </a:r>
            <a:r>
              <a:rPr lang="en-US" sz="2400" dirty="0">
                <a:latin typeface="Arial"/>
                <a:ea typeface="+mn-lt"/>
                <a:cs typeface="+mn-lt"/>
              </a:rPr>
              <a:t>, con un </a:t>
            </a:r>
            <a:r>
              <a:rPr lang="en-US" sz="2400" b="1" dirty="0">
                <a:latin typeface="Arial"/>
                <a:ea typeface="+mn-lt"/>
                <a:cs typeface="+mn-lt"/>
              </a:rPr>
              <a:t>SPI (Schedule Performance Index) ≥ 0,9</a:t>
            </a:r>
            <a:r>
              <a:rPr lang="en-US" sz="2400" dirty="0">
                <a:latin typeface="Arial"/>
                <a:ea typeface="+mn-lt"/>
                <a:cs typeface="+mn-lt"/>
              </a:rPr>
              <a:t> y un </a:t>
            </a:r>
            <a:r>
              <a:rPr lang="en-US" sz="2400" b="1" dirty="0">
                <a:latin typeface="Arial"/>
                <a:ea typeface="+mn-lt"/>
                <a:cs typeface="+mn-lt"/>
              </a:rPr>
              <a:t>CPI (Cost Performance Index) ≥ 0,95</a:t>
            </a:r>
            <a:r>
              <a:rPr lang="en-US" sz="2400" dirty="0">
                <a:latin typeface="Arial"/>
                <a:ea typeface="+mn-lt"/>
                <a:cs typeface="+mn-lt"/>
              </a:rPr>
              <a:t>, </a:t>
            </a:r>
            <a:r>
              <a:rPr lang="en-US" sz="2400" dirty="0" err="1">
                <a:latin typeface="Arial"/>
                <a:ea typeface="+mn-lt"/>
                <a:cs typeface="+mn-lt"/>
              </a:rPr>
              <a:t>reflejando</a:t>
            </a:r>
            <a:r>
              <a:rPr lang="en-US" sz="2400" dirty="0">
                <a:latin typeface="Arial"/>
                <a:ea typeface="+mn-lt"/>
                <a:cs typeface="+mn-lt"/>
              </a:rPr>
              <a:t> </a:t>
            </a:r>
            <a:r>
              <a:rPr lang="en-US" sz="2400" dirty="0" err="1">
                <a:latin typeface="Arial"/>
                <a:ea typeface="+mn-lt"/>
                <a:cs typeface="+mn-lt"/>
              </a:rPr>
              <a:t>cumplimiento</a:t>
            </a:r>
            <a:r>
              <a:rPr lang="en-US" sz="2400" dirty="0">
                <a:latin typeface="Arial"/>
                <a:ea typeface="+mn-lt"/>
                <a:cs typeface="+mn-lt"/>
              </a:rPr>
              <a:t> </a:t>
            </a:r>
            <a:r>
              <a:rPr lang="en-US" sz="2400" dirty="0" err="1">
                <a:latin typeface="Arial"/>
                <a:ea typeface="+mn-lt"/>
                <a:cs typeface="+mn-lt"/>
              </a:rPr>
              <a:t>en</a:t>
            </a:r>
            <a:r>
              <a:rPr lang="en-US" sz="2400" dirty="0">
                <a:latin typeface="Arial"/>
                <a:ea typeface="+mn-lt"/>
                <a:cs typeface="+mn-lt"/>
              </a:rPr>
              <a:t> </a:t>
            </a:r>
            <a:r>
              <a:rPr lang="en-US" sz="2400" dirty="0" err="1">
                <a:latin typeface="Arial"/>
                <a:ea typeface="+mn-lt"/>
                <a:cs typeface="+mn-lt"/>
              </a:rPr>
              <a:t>tiempos</a:t>
            </a:r>
            <a:r>
              <a:rPr lang="en-US" sz="2400" dirty="0">
                <a:latin typeface="Arial"/>
                <a:ea typeface="+mn-lt"/>
                <a:cs typeface="+mn-lt"/>
              </a:rPr>
              <a:t> y </a:t>
            </a:r>
            <a:r>
              <a:rPr lang="en-US" sz="2400" dirty="0" err="1">
                <a:latin typeface="Arial"/>
                <a:ea typeface="+mn-lt"/>
                <a:cs typeface="+mn-lt"/>
              </a:rPr>
              <a:t>uso</a:t>
            </a:r>
            <a:r>
              <a:rPr lang="en-US" sz="2400" dirty="0">
                <a:latin typeface="Arial"/>
                <a:ea typeface="+mn-lt"/>
                <a:cs typeface="+mn-lt"/>
              </a:rPr>
              <a:t> </a:t>
            </a:r>
            <a:r>
              <a:rPr lang="en-US" sz="2400" dirty="0" err="1">
                <a:latin typeface="Arial"/>
                <a:ea typeface="+mn-lt"/>
                <a:cs typeface="+mn-lt"/>
              </a:rPr>
              <a:t>eficiente</a:t>
            </a:r>
            <a:r>
              <a:rPr lang="en-US" sz="2400" dirty="0">
                <a:latin typeface="Arial"/>
                <a:ea typeface="+mn-lt"/>
                <a:cs typeface="+mn-lt"/>
              </a:rPr>
              <a:t> de </a:t>
            </a:r>
            <a:r>
              <a:rPr lang="en-US" sz="2400" dirty="0" err="1">
                <a:latin typeface="Arial"/>
                <a:ea typeface="+mn-lt"/>
                <a:cs typeface="+mn-lt"/>
              </a:rPr>
              <a:t>recursos</a:t>
            </a:r>
            <a:r>
              <a:rPr lang="en-US" sz="2400" dirty="0">
                <a:latin typeface="Arial"/>
                <a:ea typeface="+mn-lt"/>
                <a:cs typeface="+mn-lt"/>
              </a:rPr>
              <a:t>.</a:t>
            </a:r>
            <a:endParaRPr lang="en-US" sz="2400">
              <a:latin typeface="Arial"/>
              <a:cs typeface="Arial"/>
            </a:endParaRPr>
          </a:p>
          <a:p>
            <a:pPr marL="285750" indent="-285750">
              <a:buFont typeface="Arial"/>
              <a:buChar char="•"/>
            </a:pPr>
            <a:r>
              <a:rPr lang="en-US" sz="2400" b="1" dirty="0">
                <a:latin typeface="Arial"/>
                <a:ea typeface="+mn-lt"/>
                <a:cs typeface="+mn-lt"/>
              </a:rPr>
              <a:t>Calidad del </a:t>
            </a:r>
            <a:r>
              <a:rPr lang="en-US" sz="2400" b="1" dirty="0" err="1">
                <a:latin typeface="Arial"/>
                <a:ea typeface="+mn-lt"/>
                <a:cs typeface="+mn-lt"/>
              </a:rPr>
              <a:t>producto</a:t>
            </a:r>
            <a:r>
              <a:rPr lang="en-US" sz="2400" b="1" dirty="0">
                <a:latin typeface="Arial"/>
                <a:ea typeface="+mn-lt"/>
                <a:cs typeface="+mn-lt"/>
              </a:rPr>
              <a:t>:</a:t>
            </a:r>
            <a:r>
              <a:rPr lang="en-US" sz="2400" dirty="0">
                <a:latin typeface="Arial"/>
                <a:ea typeface="+mn-lt"/>
                <a:cs typeface="+mn-lt"/>
              </a:rPr>
              <a:t> </a:t>
            </a:r>
            <a:r>
              <a:rPr lang="en-US" sz="2400" dirty="0" err="1">
                <a:latin typeface="Arial"/>
                <a:ea typeface="+mn-lt"/>
                <a:cs typeface="+mn-lt"/>
              </a:rPr>
              <a:t>garantizar</a:t>
            </a:r>
            <a:r>
              <a:rPr lang="en-US" sz="2400" dirty="0">
                <a:latin typeface="Arial"/>
                <a:ea typeface="+mn-lt"/>
                <a:cs typeface="+mn-lt"/>
              </a:rPr>
              <a:t> que la </a:t>
            </a:r>
            <a:r>
              <a:rPr lang="en-US" sz="2400" dirty="0" err="1">
                <a:latin typeface="Arial"/>
                <a:ea typeface="+mn-lt"/>
                <a:cs typeface="+mn-lt"/>
              </a:rPr>
              <a:t>densidad</a:t>
            </a:r>
            <a:r>
              <a:rPr lang="en-US" sz="2400" dirty="0">
                <a:latin typeface="Arial"/>
                <a:ea typeface="+mn-lt"/>
                <a:cs typeface="+mn-lt"/>
              </a:rPr>
              <a:t> de </a:t>
            </a:r>
            <a:r>
              <a:rPr lang="en-US" sz="2400" dirty="0" err="1">
                <a:latin typeface="Arial"/>
                <a:ea typeface="+mn-lt"/>
                <a:cs typeface="+mn-lt"/>
              </a:rPr>
              <a:t>defectos</a:t>
            </a:r>
            <a:r>
              <a:rPr lang="en-US" sz="2400" dirty="0">
                <a:latin typeface="Arial"/>
                <a:ea typeface="+mn-lt"/>
                <a:cs typeface="+mn-lt"/>
              </a:rPr>
              <a:t> no </a:t>
            </a:r>
            <a:r>
              <a:rPr lang="en-US" sz="2400" dirty="0" err="1">
                <a:latin typeface="Arial"/>
                <a:ea typeface="+mn-lt"/>
                <a:cs typeface="+mn-lt"/>
              </a:rPr>
              <a:t>supere</a:t>
            </a:r>
            <a:r>
              <a:rPr lang="en-US" sz="2400" dirty="0">
                <a:latin typeface="Arial"/>
                <a:ea typeface="+mn-lt"/>
                <a:cs typeface="+mn-lt"/>
              </a:rPr>
              <a:t> 1,0 </a:t>
            </a:r>
            <a:r>
              <a:rPr lang="en-US" sz="2400" dirty="0" err="1">
                <a:latin typeface="Arial"/>
                <a:ea typeface="+mn-lt"/>
                <a:cs typeface="+mn-lt"/>
              </a:rPr>
              <a:t>por</a:t>
            </a:r>
            <a:r>
              <a:rPr lang="en-US" sz="2400" dirty="0">
                <a:latin typeface="Arial"/>
                <a:ea typeface="+mn-lt"/>
                <a:cs typeface="+mn-lt"/>
              </a:rPr>
              <a:t> </a:t>
            </a:r>
            <a:r>
              <a:rPr lang="en-US" sz="2400" dirty="0" err="1">
                <a:latin typeface="Arial"/>
                <a:ea typeface="+mn-lt"/>
                <a:cs typeface="+mn-lt"/>
              </a:rPr>
              <a:t>cada</a:t>
            </a:r>
            <a:r>
              <a:rPr lang="en-US" sz="2400" dirty="0">
                <a:latin typeface="Arial"/>
                <a:ea typeface="+mn-lt"/>
                <a:cs typeface="+mn-lt"/>
              </a:rPr>
              <a:t> KLOC (mil </a:t>
            </a:r>
            <a:r>
              <a:rPr lang="en-US" sz="2400" dirty="0" err="1">
                <a:latin typeface="Arial"/>
                <a:ea typeface="+mn-lt"/>
                <a:cs typeface="+mn-lt"/>
              </a:rPr>
              <a:t>líneas</a:t>
            </a:r>
            <a:r>
              <a:rPr lang="en-US" sz="2400" dirty="0">
                <a:latin typeface="Arial"/>
                <a:ea typeface="+mn-lt"/>
                <a:cs typeface="+mn-lt"/>
              </a:rPr>
              <a:t> de </a:t>
            </a:r>
            <a:r>
              <a:rPr lang="en-US" sz="2400" dirty="0" err="1">
                <a:latin typeface="Arial"/>
                <a:ea typeface="+mn-lt"/>
                <a:cs typeface="+mn-lt"/>
              </a:rPr>
              <a:t>código</a:t>
            </a:r>
            <a:r>
              <a:rPr lang="en-US" sz="2400" dirty="0">
                <a:latin typeface="Arial"/>
                <a:ea typeface="+mn-lt"/>
                <a:cs typeface="+mn-lt"/>
              </a:rPr>
              <a:t>) o ≤ X </a:t>
            </a:r>
            <a:r>
              <a:rPr lang="en-US" sz="2400" dirty="0" err="1">
                <a:latin typeface="Arial"/>
                <a:ea typeface="+mn-lt"/>
                <a:cs typeface="+mn-lt"/>
              </a:rPr>
              <a:t>por</a:t>
            </a:r>
            <a:r>
              <a:rPr lang="en-US" sz="2400" dirty="0">
                <a:latin typeface="Arial"/>
                <a:ea typeface="+mn-lt"/>
                <a:cs typeface="+mn-lt"/>
              </a:rPr>
              <a:t> sprint, y que al </a:t>
            </a:r>
            <a:r>
              <a:rPr lang="en-US" sz="2400" dirty="0" err="1">
                <a:latin typeface="Arial"/>
                <a:ea typeface="+mn-lt"/>
                <a:cs typeface="+mn-lt"/>
              </a:rPr>
              <a:t>menos</a:t>
            </a:r>
            <a:r>
              <a:rPr lang="en-US" sz="2400" dirty="0">
                <a:latin typeface="Arial"/>
                <a:ea typeface="+mn-lt"/>
                <a:cs typeface="+mn-lt"/>
              </a:rPr>
              <a:t> </a:t>
            </a:r>
            <a:r>
              <a:rPr lang="en-US" sz="2400" dirty="0" err="1">
                <a:latin typeface="Arial"/>
                <a:ea typeface="+mn-lt"/>
                <a:cs typeface="+mn-lt"/>
              </a:rPr>
              <a:t>el</a:t>
            </a:r>
            <a:r>
              <a:rPr lang="en-US" sz="2400" dirty="0">
                <a:latin typeface="Arial"/>
                <a:ea typeface="+mn-lt"/>
                <a:cs typeface="+mn-lt"/>
              </a:rPr>
              <a:t> 95% de las </a:t>
            </a:r>
            <a:r>
              <a:rPr lang="en-US" sz="2400" dirty="0" err="1">
                <a:latin typeface="Arial"/>
                <a:ea typeface="+mn-lt"/>
                <a:cs typeface="+mn-lt"/>
              </a:rPr>
              <a:t>historias</a:t>
            </a:r>
            <a:r>
              <a:rPr lang="en-US" sz="2400" dirty="0">
                <a:latin typeface="Arial"/>
                <a:ea typeface="+mn-lt"/>
                <a:cs typeface="+mn-lt"/>
              </a:rPr>
              <a:t> de </a:t>
            </a:r>
            <a:r>
              <a:rPr lang="en-US" sz="2400" dirty="0" err="1">
                <a:latin typeface="Arial"/>
                <a:ea typeface="+mn-lt"/>
                <a:cs typeface="+mn-lt"/>
              </a:rPr>
              <a:t>usuario</a:t>
            </a:r>
            <a:r>
              <a:rPr lang="en-US" sz="2400" dirty="0">
                <a:latin typeface="Arial"/>
                <a:ea typeface="+mn-lt"/>
                <a:cs typeface="+mn-lt"/>
              </a:rPr>
              <a:t> </a:t>
            </a:r>
            <a:r>
              <a:rPr lang="en-US" sz="2400" dirty="0" err="1">
                <a:latin typeface="Arial"/>
                <a:ea typeface="+mn-lt"/>
                <a:cs typeface="+mn-lt"/>
              </a:rPr>
              <a:t>tengan</a:t>
            </a:r>
            <a:r>
              <a:rPr lang="en-US" sz="2400" dirty="0">
                <a:latin typeface="Arial"/>
                <a:ea typeface="+mn-lt"/>
                <a:cs typeface="+mn-lt"/>
              </a:rPr>
              <a:t> </a:t>
            </a:r>
            <a:r>
              <a:rPr lang="en-US" sz="2400" dirty="0" err="1">
                <a:latin typeface="Arial"/>
                <a:ea typeface="+mn-lt"/>
                <a:cs typeface="+mn-lt"/>
              </a:rPr>
              <a:t>criterios</a:t>
            </a:r>
            <a:r>
              <a:rPr lang="en-US" sz="2400" dirty="0">
                <a:latin typeface="Arial"/>
                <a:ea typeface="+mn-lt"/>
                <a:cs typeface="+mn-lt"/>
              </a:rPr>
              <a:t> de </a:t>
            </a:r>
            <a:r>
              <a:rPr lang="en-US" sz="2400" dirty="0" err="1">
                <a:latin typeface="Arial"/>
                <a:ea typeface="+mn-lt"/>
                <a:cs typeface="+mn-lt"/>
              </a:rPr>
              <a:t>aceptación</a:t>
            </a:r>
            <a:r>
              <a:rPr lang="en-US" sz="2400" dirty="0">
                <a:latin typeface="Arial"/>
                <a:ea typeface="+mn-lt"/>
                <a:cs typeface="+mn-lt"/>
              </a:rPr>
              <a:t> </a:t>
            </a:r>
            <a:r>
              <a:rPr lang="en-US" sz="2400" dirty="0" err="1">
                <a:latin typeface="Arial"/>
                <a:ea typeface="+mn-lt"/>
                <a:cs typeface="+mn-lt"/>
              </a:rPr>
              <a:t>definidos</a:t>
            </a:r>
            <a:r>
              <a:rPr lang="en-US" sz="2400" dirty="0">
                <a:latin typeface="Arial"/>
                <a:ea typeface="+mn-lt"/>
                <a:cs typeface="+mn-lt"/>
              </a:rPr>
              <a:t> y </a:t>
            </a:r>
            <a:r>
              <a:rPr lang="en-US" sz="2400" dirty="0" err="1">
                <a:latin typeface="Arial"/>
                <a:ea typeface="+mn-lt"/>
                <a:cs typeface="+mn-lt"/>
              </a:rPr>
              <a:t>verificados</a:t>
            </a:r>
            <a:r>
              <a:rPr lang="en-US" sz="2400" dirty="0">
                <a:latin typeface="Arial"/>
                <a:ea typeface="+mn-lt"/>
                <a:cs typeface="+mn-lt"/>
              </a:rPr>
              <a:t> </a:t>
            </a:r>
            <a:r>
              <a:rPr lang="en-US" sz="2400" dirty="0" err="1">
                <a:latin typeface="Arial"/>
                <a:ea typeface="+mn-lt"/>
                <a:cs typeface="+mn-lt"/>
              </a:rPr>
              <a:t>mediante</a:t>
            </a:r>
            <a:r>
              <a:rPr lang="en-US" sz="2400" dirty="0">
                <a:latin typeface="Arial"/>
                <a:ea typeface="+mn-lt"/>
                <a:cs typeface="+mn-lt"/>
              </a:rPr>
              <a:t> </a:t>
            </a:r>
            <a:r>
              <a:rPr lang="en-US" sz="2400" dirty="0" err="1">
                <a:latin typeface="Arial"/>
                <a:ea typeface="+mn-lt"/>
                <a:cs typeface="+mn-lt"/>
              </a:rPr>
              <a:t>pruebas</a:t>
            </a:r>
            <a:r>
              <a:rPr lang="en-US" sz="2400" dirty="0">
                <a:latin typeface="Arial"/>
                <a:ea typeface="+mn-lt"/>
                <a:cs typeface="+mn-lt"/>
              </a:rPr>
              <a:t> </a:t>
            </a:r>
            <a:r>
              <a:rPr lang="en-US" sz="2400" dirty="0" err="1">
                <a:latin typeface="Arial"/>
                <a:ea typeface="+mn-lt"/>
                <a:cs typeface="+mn-lt"/>
              </a:rPr>
              <a:t>unitarias</a:t>
            </a:r>
            <a:r>
              <a:rPr lang="en-US" sz="2400" dirty="0">
                <a:latin typeface="Arial"/>
                <a:ea typeface="+mn-lt"/>
                <a:cs typeface="+mn-lt"/>
              </a:rPr>
              <a:t> y </a:t>
            </a:r>
            <a:r>
              <a:rPr lang="en-US" sz="2400" dirty="0" err="1">
                <a:latin typeface="Arial"/>
                <a:ea typeface="+mn-lt"/>
                <a:cs typeface="+mn-lt"/>
              </a:rPr>
              <a:t>funcionales</a:t>
            </a:r>
            <a:r>
              <a:rPr lang="en-US" sz="2400" dirty="0">
                <a:latin typeface="Arial"/>
                <a:ea typeface="+mn-lt"/>
                <a:cs typeface="+mn-lt"/>
              </a:rPr>
              <a:t>. </a:t>
            </a:r>
          </a:p>
          <a:p>
            <a:pPr marL="285750" indent="-285750">
              <a:buFont typeface="Arial"/>
              <a:buChar char="•"/>
            </a:pPr>
            <a:r>
              <a:rPr lang="en-US" sz="2400" b="1" err="1">
                <a:latin typeface="Arial"/>
                <a:ea typeface="+mn-lt"/>
                <a:cs typeface="+mn-lt"/>
              </a:rPr>
              <a:t>Cumplimiento</a:t>
            </a:r>
            <a:r>
              <a:rPr lang="en-US" sz="2400" b="1" dirty="0">
                <a:latin typeface="Arial"/>
                <a:ea typeface="+mn-lt"/>
                <a:cs typeface="+mn-lt"/>
              </a:rPr>
              <a:t> </a:t>
            </a:r>
            <a:r>
              <a:rPr lang="en-US" sz="2400" b="1" err="1">
                <a:latin typeface="Arial"/>
                <a:ea typeface="+mn-lt"/>
                <a:cs typeface="+mn-lt"/>
              </a:rPr>
              <a:t>ético</a:t>
            </a:r>
            <a:r>
              <a:rPr lang="en-US" sz="2400" b="1" dirty="0">
                <a:latin typeface="Arial"/>
                <a:ea typeface="+mn-lt"/>
                <a:cs typeface="+mn-lt"/>
              </a:rPr>
              <a:t>:</a:t>
            </a:r>
            <a:r>
              <a:rPr lang="en-US" sz="2400" dirty="0">
                <a:latin typeface="Arial"/>
                <a:ea typeface="+mn-lt"/>
                <a:cs typeface="+mn-lt"/>
              </a:rPr>
              <a:t> </a:t>
            </a:r>
            <a:r>
              <a:rPr lang="en-US" sz="2400" err="1">
                <a:latin typeface="Arial"/>
                <a:ea typeface="+mn-lt"/>
                <a:cs typeface="+mn-lt"/>
              </a:rPr>
              <a:t>asegurar</a:t>
            </a:r>
            <a:r>
              <a:rPr lang="en-US" sz="2400" dirty="0">
                <a:latin typeface="Arial"/>
                <a:ea typeface="+mn-lt"/>
                <a:cs typeface="+mn-lt"/>
              </a:rPr>
              <a:t> que </a:t>
            </a:r>
            <a:r>
              <a:rPr lang="en-US" sz="2400" err="1">
                <a:latin typeface="Arial"/>
                <a:ea typeface="+mn-lt"/>
                <a:cs typeface="+mn-lt"/>
              </a:rPr>
              <a:t>el</a:t>
            </a:r>
            <a:r>
              <a:rPr lang="en-US" sz="2400" dirty="0">
                <a:latin typeface="Arial"/>
                <a:ea typeface="+mn-lt"/>
                <a:cs typeface="+mn-lt"/>
              </a:rPr>
              <a:t> 100% de las </a:t>
            </a:r>
            <a:r>
              <a:rPr lang="en-US" sz="2400" err="1">
                <a:latin typeface="Arial"/>
                <a:ea typeface="+mn-lt"/>
                <a:cs typeface="+mn-lt"/>
              </a:rPr>
              <a:t>entregas</a:t>
            </a:r>
            <a:r>
              <a:rPr lang="en-US" sz="2400" dirty="0">
                <a:latin typeface="Arial"/>
                <a:ea typeface="+mn-lt"/>
                <a:cs typeface="+mn-lt"/>
              </a:rPr>
              <a:t> </a:t>
            </a:r>
            <a:r>
              <a:rPr lang="en-US" sz="2400" err="1">
                <a:latin typeface="Arial"/>
                <a:ea typeface="+mn-lt"/>
                <a:cs typeface="+mn-lt"/>
              </a:rPr>
              <a:t>incluyan</a:t>
            </a:r>
            <a:r>
              <a:rPr lang="en-US" sz="2400" dirty="0">
                <a:latin typeface="Arial"/>
                <a:ea typeface="+mn-lt"/>
                <a:cs typeface="+mn-lt"/>
              </a:rPr>
              <a:t> la </a:t>
            </a:r>
            <a:r>
              <a:rPr lang="en-US" sz="2400" err="1">
                <a:latin typeface="Arial"/>
                <a:ea typeface="+mn-lt"/>
                <a:cs typeface="+mn-lt"/>
              </a:rPr>
              <a:t>declaración</a:t>
            </a:r>
            <a:r>
              <a:rPr lang="en-US" sz="2400" dirty="0">
                <a:latin typeface="Arial"/>
                <a:ea typeface="+mn-lt"/>
                <a:cs typeface="+mn-lt"/>
              </a:rPr>
              <a:t> de </a:t>
            </a:r>
            <a:r>
              <a:rPr lang="en-US" sz="2400" err="1">
                <a:latin typeface="Arial"/>
                <a:ea typeface="+mn-lt"/>
                <a:cs typeface="+mn-lt"/>
              </a:rPr>
              <a:t>uso</a:t>
            </a:r>
            <a:r>
              <a:rPr lang="en-US" sz="2400" dirty="0">
                <a:latin typeface="Arial"/>
                <a:ea typeface="+mn-lt"/>
                <a:cs typeface="+mn-lt"/>
              </a:rPr>
              <a:t> o no </a:t>
            </a:r>
            <a:r>
              <a:rPr lang="en-US" sz="2400" err="1">
                <a:latin typeface="Arial"/>
                <a:ea typeface="+mn-lt"/>
                <a:cs typeface="+mn-lt"/>
              </a:rPr>
              <a:t>uso</a:t>
            </a:r>
            <a:r>
              <a:rPr lang="en-US" sz="2400" dirty="0">
                <a:latin typeface="Arial"/>
                <a:ea typeface="+mn-lt"/>
                <a:cs typeface="+mn-lt"/>
              </a:rPr>
              <a:t> de IA, </a:t>
            </a:r>
            <a:r>
              <a:rPr lang="en-US" sz="2400" err="1">
                <a:latin typeface="Arial"/>
                <a:ea typeface="+mn-lt"/>
                <a:cs typeface="+mn-lt"/>
              </a:rPr>
              <a:t>conforme</a:t>
            </a:r>
            <a:r>
              <a:rPr lang="en-US" sz="2400" dirty="0">
                <a:latin typeface="Arial"/>
                <a:ea typeface="+mn-lt"/>
                <a:cs typeface="+mn-lt"/>
              </a:rPr>
              <a:t> a la Circular DGI 001, </a:t>
            </a:r>
            <a:r>
              <a:rPr lang="en-US" sz="2400" err="1">
                <a:latin typeface="Arial"/>
                <a:ea typeface="+mn-lt"/>
                <a:cs typeface="+mn-lt"/>
              </a:rPr>
              <a:t>previniendo</a:t>
            </a:r>
            <a:r>
              <a:rPr lang="en-US" sz="2400" dirty="0">
                <a:latin typeface="Arial"/>
                <a:ea typeface="+mn-lt"/>
                <a:cs typeface="+mn-lt"/>
              </a:rPr>
              <a:t> </a:t>
            </a:r>
            <a:r>
              <a:rPr lang="en-US" sz="2400" err="1">
                <a:latin typeface="Arial"/>
                <a:ea typeface="+mn-lt"/>
                <a:cs typeface="+mn-lt"/>
              </a:rPr>
              <a:t>incidentes</a:t>
            </a:r>
            <a:r>
              <a:rPr lang="en-US" sz="2400" dirty="0">
                <a:latin typeface="Arial"/>
                <a:ea typeface="+mn-lt"/>
                <a:cs typeface="+mn-lt"/>
              </a:rPr>
              <a:t> de </a:t>
            </a:r>
            <a:r>
              <a:rPr lang="en-US" sz="2400" err="1">
                <a:latin typeface="Arial"/>
                <a:ea typeface="+mn-lt"/>
                <a:cs typeface="+mn-lt"/>
              </a:rPr>
              <a:t>plagio</a:t>
            </a:r>
            <a:r>
              <a:rPr lang="en-US" sz="2400" dirty="0">
                <a:latin typeface="Arial"/>
                <a:ea typeface="+mn-lt"/>
                <a:cs typeface="+mn-lt"/>
              </a:rPr>
              <a:t>, </a:t>
            </a:r>
            <a:r>
              <a:rPr lang="en-US" sz="2400" err="1">
                <a:latin typeface="Arial"/>
                <a:ea typeface="+mn-lt"/>
                <a:cs typeface="+mn-lt"/>
              </a:rPr>
              <a:t>opacidad</a:t>
            </a:r>
            <a:r>
              <a:rPr lang="en-US" sz="2400" dirty="0">
                <a:latin typeface="Arial"/>
                <a:ea typeface="+mn-lt"/>
                <a:cs typeface="+mn-lt"/>
              </a:rPr>
              <a:t> o </a:t>
            </a:r>
            <a:r>
              <a:rPr lang="en-US" sz="2400" err="1">
                <a:latin typeface="Arial"/>
                <a:ea typeface="+mn-lt"/>
                <a:cs typeface="+mn-lt"/>
              </a:rPr>
              <a:t>uso</a:t>
            </a:r>
            <a:r>
              <a:rPr lang="en-US" sz="2400" dirty="0">
                <a:latin typeface="Arial"/>
                <a:ea typeface="+mn-lt"/>
                <a:cs typeface="+mn-lt"/>
              </a:rPr>
              <a:t> </a:t>
            </a:r>
            <a:r>
              <a:rPr lang="en-US" sz="2400" err="1">
                <a:latin typeface="Arial"/>
                <a:ea typeface="+mn-lt"/>
                <a:cs typeface="+mn-lt"/>
              </a:rPr>
              <a:t>indebido</a:t>
            </a:r>
            <a:r>
              <a:rPr lang="en-US" sz="2400" dirty="0">
                <a:latin typeface="Arial"/>
                <a:ea typeface="+mn-lt"/>
                <a:cs typeface="+mn-lt"/>
              </a:rPr>
              <a:t> de </a:t>
            </a:r>
            <a:r>
              <a:rPr lang="en-US" sz="2400" err="1">
                <a:latin typeface="Arial"/>
                <a:ea typeface="+mn-lt"/>
                <a:cs typeface="+mn-lt"/>
              </a:rPr>
              <a:t>tecnologías</a:t>
            </a:r>
            <a:r>
              <a:rPr lang="en-US" sz="2400" dirty="0">
                <a:latin typeface="Arial"/>
                <a:ea typeface="+mn-lt"/>
                <a:cs typeface="+mn-lt"/>
              </a:rPr>
              <a:t> de </a:t>
            </a:r>
            <a:r>
              <a:rPr lang="en-US" sz="2400" err="1">
                <a:latin typeface="Arial"/>
                <a:ea typeface="+mn-lt"/>
                <a:cs typeface="+mn-lt"/>
              </a:rPr>
              <a:t>apoyo</a:t>
            </a:r>
            <a:r>
              <a:rPr lang="en-US" sz="2400" dirty="0">
                <a:latin typeface="Arial"/>
                <a:ea typeface="+mn-lt"/>
                <a:cs typeface="+mn-lt"/>
              </a:rPr>
              <a:t>.</a:t>
            </a:r>
            <a:endParaRPr lang="en-US" sz="2400" dirty="0">
              <a:latin typeface="Arial"/>
              <a:cs typeface="Arial"/>
            </a:endParaRPr>
          </a:p>
          <a:p>
            <a:pPr marL="285750" indent="-285750">
              <a:buFont typeface="Arial"/>
              <a:buChar char="•"/>
            </a:pPr>
            <a:r>
              <a:rPr lang="en-US" sz="2400" b="1" err="1">
                <a:latin typeface="Arial"/>
                <a:ea typeface="+mn-lt"/>
                <a:cs typeface="+mn-lt"/>
              </a:rPr>
              <a:t>Repositorio</a:t>
            </a:r>
            <a:r>
              <a:rPr lang="en-US" sz="2400" b="1" dirty="0">
                <a:latin typeface="Arial"/>
                <a:ea typeface="+mn-lt"/>
                <a:cs typeface="+mn-lt"/>
              </a:rPr>
              <a:t> de </a:t>
            </a:r>
            <a:r>
              <a:rPr lang="en-US" sz="2400" b="1" err="1">
                <a:latin typeface="Arial"/>
                <a:ea typeface="+mn-lt"/>
                <a:cs typeface="+mn-lt"/>
              </a:rPr>
              <a:t>conocimiento</a:t>
            </a:r>
            <a:r>
              <a:rPr lang="en-US" sz="2400" b="1" dirty="0">
                <a:latin typeface="Arial"/>
                <a:ea typeface="+mn-lt"/>
                <a:cs typeface="+mn-lt"/>
              </a:rPr>
              <a:t>:</a:t>
            </a:r>
            <a:r>
              <a:rPr lang="en-US" sz="2400" dirty="0">
                <a:latin typeface="Arial"/>
                <a:ea typeface="+mn-lt"/>
                <a:cs typeface="+mn-lt"/>
              </a:rPr>
              <a:t> </a:t>
            </a:r>
            <a:r>
              <a:rPr lang="en-US" sz="2400" err="1">
                <a:latin typeface="Arial"/>
                <a:ea typeface="+mn-lt"/>
                <a:cs typeface="+mn-lt"/>
              </a:rPr>
              <a:t>construir</a:t>
            </a:r>
            <a:r>
              <a:rPr lang="en-US" sz="2400" dirty="0">
                <a:latin typeface="Arial"/>
                <a:ea typeface="+mn-lt"/>
                <a:cs typeface="+mn-lt"/>
              </a:rPr>
              <a:t> un </a:t>
            </a:r>
            <a:r>
              <a:rPr lang="en-US" sz="2400" err="1">
                <a:latin typeface="Arial"/>
                <a:ea typeface="+mn-lt"/>
                <a:cs typeface="+mn-lt"/>
              </a:rPr>
              <a:t>repositorio</a:t>
            </a:r>
            <a:r>
              <a:rPr lang="en-US" sz="2400" dirty="0">
                <a:latin typeface="Arial"/>
                <a:ea typeface="+mn-lt"/>
                <a:cs typeface="+mn-lt"/>
              </a:rPr>
              <a:t> con </a:t>
            </a:r>
            <a:r>
              <a:rPr lang="en-US" sz="2400" err="1">
                <a:latin typeface="Arial"/>
                <a:ea typeface="+mn-lt"/>
                <a:cs typeface="+mn-lt"/>
              </a:rPr>
              <a:t>plantillas</a:t>
            </a:r>
            <a:r>
              <a:rPr lang="en-US" sz="2400" dirty="0">
                <a:latin typeface="Arial"/>
                <a:ea typeface="+mn-lt"/>
                <a:cs typeface="+mn-lt"/>
              </a:rPr>
              <a:t>, </a:t>
            </a:r>
            <a:r>
              <a:rPr lang="en-US" sz="2400" err="1">
                <a:latin typeface="Arial"/>
                <a:ea typeface="+mn-lt"/>
                <a:cs typeface="+mn-lt"/>
              </a:rPr>
              <a:t>guías</a:t>
            </a:r>
            <a:r>
              <a:rPr lang="en-US" sz="2400" dirty="0">
                <a:latin typeface="Arial"/>
                <a:ea typeface="+mn-lt"/>
                <a:cs typeface="+mn-lt"/>
              </a:rPr>
              <a:t> </a:t>
            </a:r>
            <a:r>
              <a:rPr lang="en-US" sz="2400" err="1">
                <a:latin typeface="Arial"/>
                <a:ea typeface="+mn-lt"/>
                <a:cs typeface="+mn-lt"/>
              </a:rPr>
              <a:t>metodológicas</a:t>
            </a:r>
            <a:r>
              <a:rPr lang="en-US" sz="2400" dirty="0">
                <a:latin typeface="Arial"/>
                <a:ea typeface="+mn-lt"/>
                <a:cs typeface="+mn-lt"/>
              </a:rPr>
              <a:t> y </a:t>
            </a:r>
            <a:r>
              <a:rPr lang="en-US" sz="2400" b="1" err="1">
                <a:latin typeface="Arial"/>
                <a:ea typeface="+mn-lt"/>
                <a:cs typeface="+mn-lt"/>
              </a:rPr>
              <a:t>tableros</a:t>
            </a:r>
            <a:r>
              <a:rPr lang="en-US" sz="2400" b="1" dirty="0">
                <a:latin typeface="Arial"/>
                <a:ea typeface="+mn-lt"/>
                <a:cs typeface="+mn-lt"/>
              </a:rPr>
              <a:t> </a:t>
            </a:r>
            <a:r>
              <a:rPr lang="en-US" sz="2400" b="1" err="1">
                <a:latin typeface="Arial"/>
                <a:ea typeface="+mn-lt"/>
                <a:cs typeface="+mn-lt"/>
              </a:rPr>
              <a:t>configurados</a:t>
            </a:r>
            <a:r>
              <a:rPr lang="en-US" sz="2400" b="1" dirty="0">
                <a:latin typeface="Arial"/>
                <a:ea typeface="+mn-lt"/>
                <a:cs typeface="+mn-lt"/>
              </a:rPr>
              <a:t> </a:t>
            </a:r>
            <a:r>
              <a:rPr lang="en-US" sz="2400" b="1" err="1">
                <a:latin typeface="Arial"/>
                <a:ea typeface="+mn-lt"/>
                <a:cs typeface="+mn-lt"/>
              </a:rPr>
              <a:t>en</a:t>
            </a:r>
            <a:r>
              <a:rPr lang="en-US" sz="2400" b="1" dirty="0">
                <a:latin typeface="Arial"/>
                <a:ea typeface="+mn-lt"/>
                <a:cs typeface="+mn-lt"/>
              </a:rPr>
              <a:t> Jira</a:t>
            </a:r>
            <a:r>
              <a:rPr lang="en-US" sz="2400" dirty="0">
                <a:latin typeface="Arial"/>
                <a:ea typeface="+mn-lt"/>
                <a:cs typeface="+mn-lt"/>
              </a:rPr>
              <a:t> que </a:t>
            </a:r>
            <a:r>
              <a:rPr lang="en-US" sz="2400" err="1">
                <a:latin typeface="Arial"/>
                <a:ea typeface="+mn-lt"/>
                <a:cs typeface="+mn-lt"/>
              </a:rPr>
              <a:t>sirva</a:t>
            </a:r>
            <a:r>
              <a:rPr lang="en-US" sz="2400" dirty="0">
                <a:latin typeface="Arial"/>
                <a:ea typeface="+mn-lt"/>
                <a:cs typeface="+mn-lt"/>
              </a:rPr>
              <a:t> </a:t>
            </a:r>
            <a:r>
              <a:rPr lang="en-US" sz="2400" err="1">
                <a:latin typeface="Arial"/>
                <a:ea typeface="+mn-lt"/>
                <a:cs typeface="+mn-lt"/>
              </a:rPr>
              <a:t>como</a:t>
            </a:r>
            <a:r>
              <a:rPr lang="en-US" sz="2400" dirty="0">
                <a:latin typeface="Arial"/>
                <a:ea typeface="+mn-lt"/>
                <a:cs typeface="+mn-lt"/>
              </a:rPr>
              <a:t> base </a:t>
            </a:r>
            <a:r>
              <a:rPr lang="en-US" sz="2400" err="1">
                <a:latin typeface="Arial"/>
                <a:ea typeface="+mn-lt"/>
                <a:cs typeface="+mn-lt"/>
              </a:rPr>
              <a:t>reutilizable</a:t>
            </a:r>
            <a:r>
              <a:rPr lang="en-US" sz="2400" dirty="0">
                <a:latin typeface="Arial"/>
                <a:ea typeface="+mn-lt"/>
                <a:cs typeface="+mn-lt"/>
              </a:rPr>
              <a:t> para </a:t>
            </a:r>
            <a:r>
              <a:rPr lang="en-US" sz="2400" err="1">
                <a:latin typeface="Arial"/>
                <a:ea typeface="+mn-lt"/>
                <a:cs typeface="+mn-lt"/>
              </a:rPr>
              <a:t>futuros</a:t>
            </a:r>
            <a:r>
              <a:rPr lang="en-US" sz="2400" dirty="0">
                <a:latin typeface="Arial"/>
                <a:ea typeface="+mn-lt"/>
                <a:cs typeface="+mn-lt"/>
              </a:rPr>
              <a:t> </a:t>
            </a:r>
            <a:r>
              <a:rPr lang="en-US" sz="2400" err="1">
                <a:latin typeface="Arial"/>
                <a:ea typeface="+mn-lt"/>
                <a:cs typeface="+mn-lt"/>
              </a:rPr>
              <a:t>proyectos</a:t>
            </a:r>
            <a:r>
              <a:rPr lang="en-US" sz="2400" dirty="0">
                <a:latin typeface="Arial"/>
                <a:ea typeface="+mn-lt"/>
                <a:cs typeface="+mn-lt"/>
              </a:rPr>
              <a:t> </a:t>
            </a:r>
            <a:r>
              <a:rPr lang="en-US" sz="2400" err="1">
                <a:latin typeface="Arial"/>
                <a:ea typeface="+mn-lt"/>
                <a:cs typeface="+mn-lt"/>
              </a:rPr>
              <a:t>en</a:t>
            </a:r>
            <a:r>
              <a:rPr lang="en-US" sz="2400" dirty="0">
                <a:latin typeface="Arial"/>
                <a:ea typeface="+mn-lt"/>
                <a:cs typeface="+mn-lt"/>
              </a:rPr>
              <a:t> </a:t>
            </a:r>
            <a:r>
              <a:rPr lang="en-US" sz="2400" err="1">
                <a:latin typeface="Arial"/>
                <a:ea typeface="+mn-lt"/>
                <a:cs typeface="+mn-lt"/>
              </a:rPr>
              <a:t>diferentes</a:t>
            </a:r>
            <a:r>
              <a:rPr lang="en-US" sz="2400" dirty="0">
                <a:latin typeface="Arial"/>
                <a:ea typeface="+mn-lt"/>
                <a:cs typeface="+mn-lt"/>
              </a:rPr>
              <a:t> </a:t>
            </a:r>
            <a:r>
              <a:rPr lang="en-US" sz="2400" err="1">
                <a:latin typeface="Arial"/>
                <a:ea typeface="+mn-lt"/>
                <a:cs typeface="+mn-lt"/>
              </a:rPr>
              <a:t>contextos</a:t>
            </a:r>
            <a:r>
              <a:rPr lang="en-US" sz="2400" dirty="0">
                <a:latin typeface="Arial"/>
                <a:ea typeface="+mn-lt"/>
                <a:cs typeface="+mn-lt"/>
              </a:rPr>
              <a:t> </a:t>
            </a:r>
            <a:r>
              <a:rPr lang="en-US" sz="2400" err="1">
                <a:latin typeface="Arial"/>
                <a:ea typeface="+mn-lt"/>
                <a:cs typeface="+mn-lt"/>
              </a:rPr>
              <a:t>organizacionales</a:t>
            </a:r>
            <a:r>
              <a:rPr lang="en-US" sz="2400" dirty="0">
                <a:latin typeface="Arial"/>
                <a:ea typeface="+mn-lt"/>
                <a:cs typeface="+mn-lt"/>
              </a:rPr>
              <a:t>.</a:t>
            </a:r>
            <a:endParaRPr lang="en-US" sz="2400">
              <a:latin typeface="Calibri"/>
              <a:ea typeface="Calibri"/>
              <a:cs typeface="Calibri"/>
            </a:endParaRPr>
          </a:p>
          <a:p>
            <a:pPr>
              <a:lnSpc>
                <a:spcPts val="3904"/>
              </a:lnSpc>
            </a:pPr>
            <a:endParaRPr lang="en-US" sz="2750" b="1" dirty="0">
              <a:latin typeface="Raleway Bold"/>
            </a:endParaRPr>
          </a:p>
          <a:p>
            <a:pPr algn="l">
              <a:lnSpc>
                <a:spcPts val="3642"/>
              </a:lnSpc>
            </a:pPr>
            <a:endParaRPr lang="en-US" sz="2789" dirty="0">
              <a:solidFill>
                <a:srgbClr val="000000"/>
              </a:solidFill>
              <a:latin typeface="Raleway Light"/>
              <a:ea typeface="Raleway Light"/>
              <a:cs typeface="Raleway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3716000" h="10287000">
                <a:moveTo>
                  <a:pt x="0" y="0"/>
                </a:moveTo>
                <a:lnTo>
                  <a:pt x="13716000" y="0"/>
                </a:lnTo>
                <a:lnTo>
                  <a:pt x="13716000" y="10287000"/>
                </a:lnTo>
                <a:lnTo>
                  <a:pt x="0" y="10287000"/>
                </a:lnTo>
                <a:lnTo>
                  <a:pt x="0" y="0"/>
                </a:lnTo>
                <a:close/>
              </a:path>
            </a:pathLst>
          </a:custGeom>
          <a:blipFill>
            <a:blip r:embed="rId2"/>
            <a:stretch>
              <a:fillRect/>
            </a:stretch>
          </a:blipFill>
        </p:spPr>
        <p:txBody>
          <a:bodyPr/>
          <a:lstStyle/>
          <a:p>
            <a:endParaRPr lang="es-CO"/>
          </a:p>
        </p:txBody>
      </p:sp>
      <p:sp>
        <p:nvSpPr>
          <p:cNvPr id="3" name="TextBox 3"/>
          <p:cNvSpPr txBox="1"/>
          <p:nvPr/>
        </p:nvSpPr>
        <p:spPr>
          <a:xfrm>
            <a:off x="1914285" y="901861"/>
            <a:ext cx="13716000" cy="738664"/>
          </a:xfrm>
          <a:prstGeom prst="rect">
            <a:avLst/>
          </a:prstGeom>
        </p:spPr>
        <p:txBody>
          <a:bodyPr lIns="0" tIns="0" rIns="0" bIns="0" rtlCol="0" anchor="t">
            <a:spAutoFit/>
          </a:bodyPr>
          <a:lstStyle/>
          <a:p>
            <a:pPr algn="ctr"/>
            <a:r>
              <a:rPr lang="en-US" sz="4800" b="1" dirty="0">
                <a:solidFill>
                  <a:srgbClr val="000000"/>
                </a:solidFill>
                <a:latin typeface="Arial"/>
                <a:cs typeface="Arial"/>
                <a:sym typeface="HK Modular"/>
              </a:rPr>
              <a:t>CONCLUSIONES</a:t>
            </a:r>
            <a:endParaRPr lang="es-ES" sz="4800" b="1">
              <a:latin typeface="Arial"/>
              <a:cs typeface="Arial"/>
            </a:endParaRPr>
          </a:p>
        </p:txBody>
      </p:sp>
      <p:sp>
        <p:nvSpPr>
          <p:cNvPr id="4" name="TextBox 4"/>
          <p:cNvSpPr txBox="1"/>
          <p:nvPr/>
        </p:nvSpPr>
        <p:spPr>
          <a:xfrm>
            <a:off x="3314700" y="1961001"/>
            <a:ext cx="12309184" cy="6278642"/>
          </a:xfrm>
          <a:prstGeom prst="rect">
            <a:avLst/>
          </a:prstGeom>
        </p:spPr>
        <p:txBody>
          <a:bodyPr wrap="square" lIns="0" tIns="0" rIns="0" bIns="0" rtlCol="0" anchor="t">
            <a:spAutoFit/>
          </a:bodyPr>
          <a:lstStyle/>
          <a:p>
            <a:pPr marL="914400" indent="-457200">
              <a:buFont typeface="Arial"/>
              <a:buChar char="•"/>
            </a:pPr>
            <a:r>
              <a:rPr lang="en-US" sz="2400" b="1" dirty="0">
                <a:solidFill>
                  <a:srgbClr val="000000"/>
                </a:solidFill>
                <a:latin typeface="Arial"/>
                <a:ea typeface="Raleway Light"/>
                <a:cs typeface="Raleway Light"/>
                <a:sym typeface="Raleway Light"/>
              </a:rPr>
              <a:t>Disponibilidad </a:t>
            </a:r>
            <a:r>
              <a:rPr lang="en-US" sz="2400" b="1" err="1">
                <a:solidFill>
                  <a:srgbClr val="000000"/>
                </a:solidFill>
                <a:latin typeface="Arial"/>
                <a:ea typeface="Raleway Light"/>
                <a:cs typeface="Raleway Light"/>
                <a:sym typeface="Raleway Light"/>
              </a:rPr>
              <a:t>Tecnológica</a:t>
            </a:r>
            <a:r>
              <a:rPr lang="en-US" sz="2400" b="1" dirty="0">
                <a:solidFill>
                  <a:srgbClr val="000000"/>
                </a:solidFill>
                <a:latin typeface="Arial"/>
                <a:ea typeface="Raleway Light"/>
                <a:cs typeface="Raleway Light"/>
                <a:sym typeface="Raleway Light"/>
              </a:rPr>
              <a:t>:</a:t>
            </a:r>
            <a:r>
              <a:rPr lang="en-US" sz="2400" dirty="0">
                <a:solidFill>
                  <a:srgbClr val="000000"/>
                </a:solidFill>
                <a:latin typeface="Arial"/>
                <a:ea typeface="Raleway Light"/>
                <a:cs typeface="Raleway Light"/>
                <a:sym typeface="Raleway Light"/>
              </a:rPr>
              <a:t> Acceso a Jira Cloud con </a:t>
            </a:r>
            <a:r>
              <a:rPr lang="en-US" sz="2400" err="1">
                <a:solidFill>
                  <a:srgbClr val="000000"/>
                </a:solidFill>
                <a:latin typeface="Arial"/>
                <a:ea typeface="Raleway Light"/>
                <a:cs typeface="Raleway Light"/>
                <a:sym typeface="Raleway Light"/>
              </a:rPr>
              <a:t>permisos</a:t>
            </a:r>
            <a:r>
              <a:rPr lang="en-US" sz="2400" dirty="0">
                <a:solidFill>
                  <a:srgbClr val="000000"/>
                </a:solidFill>
                <a:latin typeface="Arial"/>
                <a:ea typeface="Raleway Light"/>
                <a:cs typeface="Raleway Light"/>
                <a:sym typeface="Raleway Light"/>
              </a:rPr>
              <a:t> de </a:t>
            </a:r>
            <a:r>
              <a:rPr lang="en-US" sz="2400" err="1">
                <a:solidFill>
                  <a:srgbClr val="000000"/>
                </a:solidFill>
                <a:latin typeface="Arial"/>
                <a:ea typeface="Raleway Light"/>
                <a:cs typeface="Raleway Light"/>
                <a:sym typeface="Raleway Light"/>
              </a:rPr>
              <a:t>administración</a:t>
            </a:r>
            <a:r>
              <a:rPr lang="en-US" sz="2400" dirty="0">
                <a:solidFill>
                  <a:srgbClr val="000000"/>
                </a:solidFill>
                <a:latin typeface="Arial"/>
                <a:ea typeface="Raleway Light"/>
                <a:cs typeface="Raleway Light"/>
                <a:sym typeface="Raleway Light"/>
              </a:rPr>
              <a:t> </a:t>
            </a:r>
            <a:r>
              <a:rPr lang="en-US" sz="2400" err="1">
                <a:solidFill>
                  <a:srgbClr val="000000"/>
                </a:solidFill>
                <a:latin typeface="Arial"/>
                <a:ea typeface="Raleway Light"/>
                <a:cs typeface="Raleway Light"/>
                <a:sym typeface="Raleway Light"/>
              </a:rPr>
              <a:t>suficientes</a:t>
            </a:r>
            <a:r>
              <a:rPr lang="en-US" sz="2400" dirty="0">
                <a:solidFill>
                  <a:srgbClr val="000000"/>
                </a:solidFill>
                <a:latin typeface="Arial"/>
                <a:ea typeface="Raleway Light"/>
                <a:cs typeface="Raleway Light"/>
                <a:sym typeface="Raleway Light"/>
              </a:rPr>
              <a:t> para roles</a:t>
            </a:r>
            <a:endParaRPr lang="en-US" sz="2400" dirty="0">
              <a:latin typeface="Arial"/>
              <a:ea typeface="Calibri"/>
              <a:cs typeface="Calibri"/>
            </a:endParaRPr>
          </a:p>
          <a:p>
            <a:pPr marL="914400" indent="-457200">
              <a:buFont typeface="Arial"/>
              <a:buChar char="•"/>
            </a:pPr>
            <a:endParaRPr lang="en-US" sz="2400" dirty="0">
              <a:solidFill>
                <a:srgbClr val="000000"/>
              </a:solidFill>
              <a:latin typeface="Arial"/>
              <a:ea typeface="Raleway Light"/>
              <a:cs typeface="Raleway Light"/>
            </a:endParaRPr>
          </a:p>
          <a:p>
            <a:pPr marL="914400" lvl="1" indent="-457200">
              <a:buFont typeface="Arial"/>
              <a:buChar char="•"/>
            </a:pPr>
            <a:r>
              <a:rPr lang="en-US" sz="2400" b="1" dirty="0">
                <a:solidFill>
                  <a:srgbClr val="000000"/>
                </a:solidFill>
                <a:latin typeface="Arial"/>
                <a:ea typeface="Raleway Light"/>
                <a:cs typeface="Raleway Light"/>
                <a:sym typeface="Raleway Light"/>
              </a:rPr>
              <a:t>Herramientas </a:t>
            </a:r>
            <a:r>
              <a:rPr lang="en-US" sz="2400" b="1" err="1">
                <a:solidFill>
                  <a:srgbClr val="000000"/>
                </a:solidFill>
                <a:latin typeface="Arial"/>
                <a:ea typeface="Raleway Light"/>
                <a:cs typeface="Raleway Light"/>
                <a:sym typeface="Raleway Light"/>
              </a:rPr>
              <a:t>Complementarias</a:t>
            </a:r>
            <a:r>
              <a:rPr lang="en-US" sz="2400" b="1" dirty="0">
                <a:solidFill>
                  <a:srgbClr val="000000"/>
                </a:solidFill>
                <a:latin typeface="Arial"/>
                <a:ea typeface="Raleway Light"/>
                <a:cs typeface="Raleway Light"/>
                <a:sym typeface="Raleway Light"/>
              </a:rPr>
              <a:t>: </a:t>
            </a:r>
            <a:r>
              <a:rPr lang="en-US" sz="2400" err="1">
                <a:solidFill>
                  <a:srgbClr val="000000"/>
                </a:solidFill>
                <a:latin typeface="Arial"/>
                <a:ea typeface="Raleway Light"/>
                <a:cs typeface="Raleway Light"/>
                <a:sym typeface="Raleway Light"/>
              </a:rPr>
              <a:t>Plataformas</a:t>
            </a:r>
            <a:r>
              <a:rPr lang="en-US" sz="2400" dirty="0">
                <a:solidFill>
                  <a:srgbClr val="000000"/>
                </a:solidFill>
                <a:latin typeface="Arial"/>
                <a:ea typeface="Raleway Light"/>
                <a:cs typeface="Raleway Light"/>
                <a:sym typeface="Raleway Light"/>
              </a:rPr>
              <a:t> de </a:t>
            </a:r>
            <a:r>
              <a:rPr lang="en-US" sz="2400" err="1">
                <a:solidFill>
                  <a:srgbClr val="000000"/>
                </a:solidFill>
                <a:latin typeface="Arial"/>
                <a:ea typeface="Raleway Light"/>
                <a:cs typeface="Raleway Light"/>
                <a:sym typeface="Raleway Light"/>
              </a:rPr>
              <a:t>integración</a:t>
            </a:r>
            <a:r>
              <a:rPr lang="en-US" sz="2400" dirty="0">
                <a:solidFill>
                  <a:srgbClr val="000000"/>
                </a:solidFill>
                <a:latin typeface="Arial"/>
                <a:ea typeface="Raleway Light"/>
                <a:cs typeface="Raleway Light"/>
                <a:sym typeface="Raleway Light"/>
              </a:rPr>
              <a:t> </a:t>
            </a:r>
            <a:r>
              <a:rPr lang="en-US" sz="2400" err="1">
                <a:solidFill>
                  <a:srgbClr val="000000"/>
                </a:solidFill>
                <a:latin typeface="Arial"/>
                <a:ea typeface="Raleway Light"/>
                <a:cs typeface="Raleway Light"/>
                <a:sym typeface="Raleway Light"/>
              </a:rPr>
              <a:t>como</a:t>
            </a:r>
            <a:r>
              <a:rPr lang="en-US" sz="2400" dirty="0">
                <a:solidFill>
                  <a:srgbClr val="000000"/>
                </a:solidFill>
                <a:latin typeface="Arial"/>
                <a:ea typeface="Raleway Light"/>
                <a:cs typeface="Raleway Light"/>
                <a:sym typeface="Raleway Light"/>
              </a:rPr>
              <a:t> Confluence, Git o </a:t>
            </a:r>
            <a:r>
              <a:rPr lang="en-US" sz="2400" err="1">
                <a:solidFill>
                  <a:srgbClr val="000000"/>
                </a:solidFill>
                <a:latin typeface="Arial"/>
                <a:ea typeface="Raleway Light"/>
                <a:cs typeface="Raleway Light"/>
                <a:sym typeface="Raleway Light"/>
              </a:rPr>
              <a:t>equivalentes</a:t>
            </a:r>
            <a:r>
              <a:rPr lang="en-US" sz="2400" dirty="0">
                <a:solidFill>
                  <a:srgbClr val="000000"/>
                </a:solidFill>
                <a:latin typeface="Arial"/>
                <a:ea typeface="Raleway Light"/>
                <a:cs typeface="Raleway Light"/>
                <a:sym typeface="Raleway Light"/>
              </a:rPr>
              <a:t>.</a:t>
            </a:r>
            <a:endParaRPr lang="en-US" sz="2400">
              <a:solidFill>
                <a:srgbClr val="000000"/>
              </a:solidFill>
              <a:latin typeface="Arial"/>
              <a:ea typeface="Calibri"/>
              <a:cs typeface="Calibri"/>
            </a:endParaRPr>
          </a:p>
          <a:p>
            <a:pPr marL="914400" lvl="1" indent="-457200">
              <a:buFont typeface="Arial"/>
              <a:buChar char="•"/>
            </a:pPr>
            <a:endParaRPr lang="en-US" sz="2400" dirty="0">
              <a:latin typeface="Arial"/>
              <a:ea typeface="Calibri"/>
              <a:cs typeface="Calibri"/>
            </a:endParaRPr>
          </a:p>
          <a:p>
            <a:pPr marL="914400" lvl="1" indent="-457200">
              <a:buFont typeface="Arial"/>
              <a:buChar char="•"/>
            </a:pPr>
            <a:r>
              <a:rPr lang="en-US" sz="2400" b="1" err="1">
                <a:solidFill>
                  <a:srgbClr val="000000"/>
                </a:solidFill>
                <a:latin typeface="Arial"/>
                <a:ea typeface="Raleway Light"/>
                <a:cs typeface="Raleway Light"/>
                <a:sym typeface="Raleway Light"/>
              </a:rPr>
              <a:t>Capacitación</a:t>
            </a:r>
            <a:r>
              <a:rPr lang="en-US" sz="2400" b="1" dirty="0">
                <a:solidFill>
                  <a:srgbClr val="000000"/>
                </a:solidFill>
                <a:latin typeface="Arial"/>
                <a:ea typeface="Raleway Light"/>
                <a:cs typeface="Raleway Light"/>
                <a:sym typeface="Raleway Light"/>
              </a:rPr>
              <a:t> Previa:</a:t>
            </a:r>
            <a:r>
              <a:rPr lang="en-US" sz="2400" dirty="0">
                <a:solidFill>
                  <a:srgbClr val="000000"/>
                </a:solidFill>
                <a:latin typeface="Arial"/>
                <a:ea typeface="Raleway Light"/>
                <a:cs typeface="Raleway Light"/>
                <a:sym typeface="Raleway Light"/>
              </a:rPr>
              <a:t> Los </a:t>
            </a:r>
            <a:r>
              <a:rPr lang="en-US" sz="2400" err="1">
                <a:solidFill>
                  <a:srgbClr val="000000"/>
                </a:solidFill>
                <a:latin typeface="Arial"/>
                <a:ea typeface="Raleway Light"/>
                <a:cs typeface="Raleway Light"/>
                <a:sym typeface="Raleway Light"/>
              </a:rPr>
              <a:t>integrantes</a:t>
            </a:r>
            <a:r>
              <a:rPr lang="en-US" sz="2400" dirty="0">
                <a:solidFill>
                  <a:srgbClr val="000000"/>
                </a:solidFill>
                <a:latin typeface="Arial"/>
                <a:ea typeface="Raleway Light"/>
                <a:cs typeface="Raleway Light"/>
                <a:sym typeface="Raleway Light"/>
              </a:rPr>
              <a:t> del </a:t>
            </a:r>
            <a:r>
              <a:rPr lang="en-US" sz="2400" err="1">
                <a:solidFill>
                  <a:srgbClr val="000000"/>
                </a:solidFill>
                <a:latin typeface="Arial"/>
                <a:ea typeface="Raleway Light"/>
                <a:cs typeface="Raleway Light"/>
                <a:sym typeface="Raleway Light"/>
              </a:rPr>
              <a:t>equipo</a:t>
            </a:r>
            <a:r>
              <a:rPr lang="en-US" sz="2400" dirty="0">
                <a:solidFill>
                  <a:srgbClr val="000000"/>
                </a:solidFill>
                <a:latin typeface="Arial"/>
                <a:ea typeface="Raleway Light"/>
                <a:cs typeface="Raleway Light"/>
                <a:sym typeface="Raleway Light"/>
              </a:rPr>
              <a:t> </a:t>
            </a:r>
            <a:r>
              <a:rPr lang="en-US" sz="2400" err="1">
                <a:solidFill>
                  <a:srgbClr val="000000"/>
                </a:solidFill>
                <a:latin typeface="Arial"/>
                <a:ea typeface="Raleway Light"/>
                <a:cs typeface="Raleway Light"/>
                <a:sym typeface="Raleway Light"/>
              </a:rPr>
              <a:t>cuentan</a:t>
            </a:r>
            <a:r>
              <a:rPr lang="en-US" sz="2400" dirty="0">
                <a:solidFill>
                  <a:srgbClr val="000000"/>
                </a:solidFill>
                <a:latin typeface="Arial"/>
                <a:ea typeface="Raleway Light"/>
                <a:cs typeface="Raleway Light"/>
                <a:sym typeface="Raleway Light"/>
              </a:rPr>
              <a:t> con </a:t>
            </a:r>
            <a:r>
              <a:rPr lang="en-US" sz="2400" err="1">
                <a:solidFill>
                  <a:srgbClr val="000000"/>
                </a:solidFill>
                <a:latin typeface="Arial"/>
                <a:ea typeface="Raleway Light"/>
                <a:cs typeface="Raleway Light"/>
                <a:sym typeface="Raleway Light"/>
              </a:rPr>
              <a:t>formación</a:t>
            </a:r>
            <a:r>
              <a:rPr lang="en-US" sz="2400" dirty="0">
                <a:solidFill>
                  <a:srgbClr val="000000"/>
                </a:solidFill>
                <a:latin typeface="Arial"/>
                <a:ea typeface="Raleway Light"/>
                <a:cs typeface="Raleway Light"/>
                <a:sym typeface="Raleway Light"/>
              </a:rPr>
              <a:t> </a:t>
            </a:r>
            <a:r>
              <a:rPr lang="en-US" sz="2400" err="1">
                <a:solidFill>
                  <a:srgbClr val="000000"/>
                </a:solidFill>
                <a:latin typeface="Arial"/>
                <a:ea typeface="Raleway Light"/>
                <a:cs typeface="Raleway Light"/>
                <a:sym typeface="Raleway Light"/>
              </a:rPr>
              <a:t>basica</a:t>
            </a:r>
            <a:r>
              <a:rPr lang="en-US" sz="2400" dirty="0">
                <a:solidFill>
                  <a:srgbClr val="000000"/>
                </a:solidFill>
                <a:latin typeface="Arial"/>
                <a:ea typeface="Raleway Light"/>
                <a:cs typeface="Raleway Light"/>
                <a:sym typeface="Raleway Light"/>
              </a:rPr>
              <a:t> </a:t>
            </a:r>
            <a:r>
              <a:rPr lang="en-US" sz="2400" err="1">
                <a:solidFill>
                  <a:srgbClr val="000000"/>
                </a:solidFill>
                <a:latin typeface="Arial"/>
                <a:ea typeface="Raleway Light"/>
                <a:cs typeface="Raleway Light"/>
                <a:sym typeface="Raleway Light"/>
              </a:rPr>
              <a:t>en</a:t>
            </a:r>
            <a:r>
              <a:rPr lang="en-US" sz="2400" dirty="0">
                <a:solidFill>
                  <a:srgbClr val="000000"/>
                </a:solidFill>
                <a:latin typeface="Arial"/>
                <a:ea typeface="Raleway Light"/>
                <a:cs typeface="Raleway Light"/>
                <a:sym typeface="Raleway Light"/>
              </a:rPr>
              <a:t> PMBOK 6, SCRUM, SDLC, PSP y Jira</a:t>
            </a:r>
            <a:endParaRPr lang="en-US" sz="2400">
              <a:latin typeface="Arial"/>
              <a:ea typeface="Calibri"/>
              <a:cs typeface="Calibri"/>
            </a:endParaRPr>
          </a:p>
          <a:p>
            <a:pPr marL="914400" lvl="1" indent="-457200">
              <a:buFont typeface="Arial"/>
              <a:buChar char="•"/>
            </a:pPr>
            <a:endParaRPr lang="en-US" sz="2400" dirty="0">
              <a:solidFill>
                <a:srgbClr val="000000"/>
              </a:solidFill>
              <a:latin typeface="Arial"/>
              <a:ea typeface="Raleway Light"/>
              <a:cs typeface="Raleway Light"/>
            </a:endParaRPr>
          </a:p>
          <a:p>
            <a:pPr marL="914400" lvl="1" indent="-457200">
              <a:buFont typeface="Arial"/>
              <a:buChar char="•"/>
            </a:pPr>
            <a:r>
              <a:rPr lang="en-US" sz="2400" b="1" dirty="0">
                <a:solidFill>
                  <a:srgbClr val="000000"/>
                </a:solidFill>
                <a:latin typeface="Arial"/>
                <a:ea typeface="Raleway Light"/>
                <a:cs typeface="Raleway Light"/>
                <a:sym typeface="Raleway Light"/>
              </a:rPr>
              <a:t>IA </a:t>
            </a:r>
            <a:r>
              <a:rPr lang="en-US" sz="2400" b="1" err="1">
                <a:solidFill>
                  <a:srgbClr val="000000"/>
                </a:solidFill>
                <a:latin typeface="Arial"/>
                <a:ea typeface="Raleway Light"/>
                <a:cs typeface="Raleway Light"/>
                <a:sym typeface="Raleway Light"/>
              </a:rPr>
              <a:t>Responsable</a:t>
            </a:r>
            <a:r>
              <a:rPr lang="en-US" sz="2400" b="1" dirty="0">
                <a:solidFill>
                  <a:srgbClr val="000000"/>
                </a:solidFill>
                <a:latin typeface="Arial"/>
                <a:ea typeface="Raleway Light"/>
                <a:cs typeface="Raleway Light"/>
                <a:sym typeface="Raleway Light"/>
              </a:rPr>
              <a:t>: </a:t>
            </a:r>
            <a:r>
              <a:rPr lang="en-US" sz="2400" err="1">
                <a:solidFill>
                  <a:srgbClr val="000000"/>
                </a:solidFill>
                <a:latin typeface="Arial"/>
                <a:ea typeface="Raleway Light"/>
                <a:cs typeface="Raleway Light"/>
                <a:sym typeface="Raleway Light"/>
              </a:rPr>
              <a:t>Permitir</a:t>
            </a:r>
            <a:r>
              <a:rPr lang="en-US" sz="2400" dirty="0">
                <a:solidFill>
                  <a:srgbClr val="000000"/>
                </a:solidFill>
                <a:latin typeface="Arial"/>
                <a:ea typeface="Raleway Light"/>
                <a:cs typeface="Raleway Light"/>
                <a:sym typeface="Raleway Light"/>
              </a:rPr>
              <a:t> </a:t>
            </a:r>
            <a:r>
              <a:rPr lang="en-US" sz="2400" err="1">
                <a:solidFill>
                  <a:srgbClr val="000000"/>
                </a:solidFill>
                <a:latin typeface="Arial"/>
                <a:ea typeface="Raleway Light"/>
                <a:cs typeface="Raleway Light"/>
                <a:sym typeface="Raleway Light"/>
              </a:rPr>
              <a:t>asistencia</a:t>
            </a:r>
            <a:r>
              <a:rPr lang="en-US" sz="2400" dirty="0">
                <a:solidFill>
                  <a:srgbClr val="000000"/>
                </a:solidFill>
                <a:latin typeface="Arial"/>
                <a:ea typeface="Raleway Light"/>
                <a:cs typeface="Raleway Light"/>
                <a:sym typeface="Raleway Light"/>
              </a:rPr>
              <a:t> de IA para </a:t>
            </a:r>
            <a:r>
              <a:rPr lang="en-US" sz="2400" err="1">
                <a:solidFill>
                  <a:srgbClr val="000000"/>
                </a:solidFill>
                <a:latin typeface="Arial"/>
                <a:ea typeface="Raleway Light"/>
                <a:cs typeface="Raleway Light"/>
                <a:sym typeface="Raleway Light"/>
              </a:rPr>
              <a:t>documentación</a:t>
            </a:r>
            <a:r>
              <a:rPr lang="en-US" sz="2400" dirty="0">
                <a:solidFill>
                  <a:srgbClr val="000000"/>
                </a:solidFill>
                <a:latin typeface="Arial"/>
                <a:ea typeface="Raleway Light"/>
                <a:cs typeface="Raleway Light"/>
                <a:sym typeface="Raleway Light"/>
              </a:rPr>
              <a:t>, </a:t>
            </a:r>
            <a:r>
              <a:rPr lang="en-US" sz="2400" err="1">
                <a:solidFill>
                  <a:srgbClr val="000000"/>
                </a:solidFill>
                <a:latin typeface="Arial"/>
                <a:ea typeface="Raleway Light"/>
                <a:cs typeface="Raleway Light"/>
                <a:sym typeface="Raleway Light"/>
              </a:rPr>
              <a:t>analisis</a:t>
            </a:r>
            <a:r>
              <a:rPr lang="en-US" sz="2400" dirty="0">
                <a:solidFill>
                  <a:srgbClr val="000000"/>
                </a:solidFill>
                <a:latin typeface="Arial"/>
                <a:ea typeface="Raleway Light"/>
                <a:cs typeface="Raleway Light"/>
                <a:sym typeface="Raleway Light"/>
              </a:rPr>
              <a:t>, </a:t>
            </a:r>
            <a:r>
              <a:rPr lang="en-US" sz="2400" err="1">
                <a:solidFill>
                  <a:srgbClr val="000000"/>
                </a:solidFill>
                <a:latin typeface="Arial"/>
                <a:ea typeface="Raleway Light"/>
                <a:cs typeface="Raleway Light"/>
                <a:sym typeface="Raleway Light"/>
              </a:rPr>
              <a:t>predicciones</a:t>
            </a:r>
            <a:r>
              <a:rPr lang="en-US" sz="2400" dirty="0">
                <a:solidFill>
                  <a:srgbClr val="000000"/>
                </a:solidFill>
                <a:latin typeface="Arial"/>
                <a:ea typeface="Raleway Light"/>
                <a:cs typeface="Raleway Light"/>
                <a:sym typeface="Raleway Light"/>
              </a:rPr>
              <a:t> y </a:t>
            </a:r>
            <a:r>
              <a:rPr lang="en-US" sz="2400" err="1">
                <a:solidFill>
                  <a:srgbClr val="000000"/>
                </a:solidFill>
                <a:latin typeface="Arial"/>
                <a:ea typeface="Raleway Light"/>
                <a:cs typeface="Raleway Light"/>
                <a:sym typeface="Raleway Light"/>
              </a:rPr>
              <a:t>pruebas</a:t>
            </a:r>
            <a:endParaRPr lang="en-US" sz="2400">
              <a:latin typeface="Arial"/>
              <a:ea typeface="Calibri"/>
              <a:cs typeface="Calibri"/>
            </a:endParaRPr>
          </a:p>
          <a:p>
            <a:pPr marL="914400" lvl="1" indent="-457200">
              <a:buFont typeface="Arial"/>
              <a:buChar char="•"/>
            </a:pPr>
            <a:endParaRPr lang="en-US" sz="2400" dirty="0">
              <a:solidFill>
                <a:srgbClr val="000000"/>
              </a:solidFill>
              <a:latin typeface="Arial"/>
              <a:ea typeface="Raleway Light"/>
              <a:cs typeface="Raleway Light"/>
            </a:endParaRPr>
          </a:p>
          <a:p>
            <a:pPr marL="914400" lvl="1" indent="-457200">
              <a:buFont typeface="Arial"/>
              <a:buChar char="•"/>
            </a:pPr>
            <a:r>
              <a:rPr lang="en-US" sz="2400" b="1" err="1">
                <a:solidFill>
                  <a:srgbClr val="000000"/>
                </a:solidFill>
                <a:latin typeface="Arial"/>
                <a:ea typeface="Raleway Light"/>
                <a:cs typeface="Raleway Light"/>
                <a:sym typeface="Raleway Light"/>
              </a:rPr>
              <a:t>Protección</a:t>
            </a:r>
            <a:r>
              <a:rPr lang="en-US" sz="2400" b="1" dirty="0">
                <a:solidFill>
                  <a:srgbClr val="000000"/>
                </a:solidFill>
                <a:latin typeface="Arial"/>
                <a:ea typeface="Raleway Light"/>
                <a:cs typeface="Raleway Light"/>
                <a:sym typeface="Raleway Light"/>
              </a:rPr>
              <a:t> de Datos: </a:t>
            </a:r>
            <a:r>
              <a:rPr lang="en-US" sz="2400" err="1">
                <a:solidFill>
                  <a:srgbClr val="000000"/>
                </a:solidFill>
                <a:latin typeface="Arial"/>
                <a:ea typeface="Raleway Light"/>
                <a:cs typeface="Raleway Light"/>
                <a:sym typeface="Raleway Light"/>
              </a:rPr>
              <a:t>Asegurar</a:t>
            </a:r>
            <a:r>
              <a:rPr lang="en-US" sz="2400" dirty="0">
                <a:solidFill>
                  <a:srgbClr val="000000"/>
                </a:solidFill>
                <a:latin typeface="Arial"/>
                <a:ea typeface="Raleway Light"/>
                <a:cs typeface="Raleway Light"/>
                <a:sym typeface="Raleway Light"/>
              </a:rPr>
              <a:t> que </a:t>
            </a:r>
            <a:r>
              <a:rPr lang="en-US" sz="2400" err="1">
                <a:solidFill>
                  <a:srgbClr val="000000"/>
                </a:solidFill>
                <a:latin typeface="Arial"/>
                <a:ea typeface="Raleway Light"/>
                <a:cs typeface="Raleway Light"/>
                <a:sym typeface="Raleway Light"/>
              </a:rPr>
              <a:t>los</a:t>
            </a:r>
            <a:r>
              <a:rPr lang="en-US" sz="2400" dirty="0">
                <a:solidFill>
                  <a:srgbClr val="000000"/>
                </a:solidFill>
                <a:latin typeface="Arial"/>
                <a:ea typeface="Raleway Light"/>
                <a:cs typeface="Raleway Light"/>
                <a:sym typeface="Raleway Light"/>
              </a:rPr>
              <a:t> </a:t>
            </a:r>
            <a:r>
              <a:rPr lang="en-US" sz="2400" err="1">
                <a:solidFill>
                  <a:srgbClr val="000000"/>
                </a:solidFill>
                <a:latin typeface="Arial"/>
                <a:ea typeface="Raleway Light"/>
                <a:cs typeface="Raleway Light"/>
                <a:sym typeface="Raleway Light"/>
              </a:rPr>
              <a:t>datos</a:t>
            </a:r>
            <a:r>
              <a:rPr lang="en-US" sz="2400" dirty="0">
                <a:solidFill>
                  <a:srgbClr val="000000"/>
                </a:solidFill>
                <a:latin typeface="Arial"/>
                <a:ea typeface="Raleway Light"/>
                <a:cs typeface="Raleway Light"/>
                <a:sym typeface="Raleway Light"/>
              </a:rPr>
              <a:t> </a:t>
            </a:r>
            <a:r>
              <a:rPr lang="en-US" sz="2400" err="1">
                <a:solidFill>
                  <a:srgbClr val="000000"/>
                </a:solidFill>
                <a:latin typeface="Arial"/>
                <a:ea typeface="Raleway Light"/>
                <a:cs typeface="Raleway Light"/>
                <a:sym typeface="Raleway Light"/>
              </a:rPr>
              <a:t>involucrados</a:t>
            </a:r>
            <a:r>
              <a:rPr lang="en-US" sz="2400" dirty="0">
                <a:solidFill>
                  <a:srgbClr val="000000"/>
                </a:solidFill>
                <a:latin typeface="Arial"/>
                <a:ea typeface="Raleway Light"/>
                <a:cs typeface="Raleway Light"/>
                <a:sym typeface="Raleway Light"/>
              </a:rPr>
              <a:t> no </a:t>
            </a:r>
            <a:r>
              <a:rPr lang="en-US" sz="2400" err="1">
                <a:solidFill>
                  <a:srgbClr val="000000"/>
                </a:solidFill>
                <a:latin typeface="Arial"/>
                <a:ea typeface="Raleway Light"/>
                <a:cs typeface="Raleway Light"/>
                <a:sym typeface="Raleway Light"/>
              </a:rPr>
              <a:t>posean</a:t>
            </a:r>
            <a:r>
              <a:rPr lang="en-US" sz="2400" dirty="0">
                <a:solidFill>
                  <a:srgbClr val="000000"/>
                </a:solidFill>
                <a:latin typeface="Arial"/>
                <a:ea typeface="Raleway Light"/>
                <a:cs typeface="Raleway Light"/>
                <a:sym typeface="Raleway Light"/>
              </a:rPr>
              <a:t> </a:t>
            </a:r>
            <a:r>
              <a:rPr lang="en-US" sz="2400" err="1">
                <a:solidFill>
                  <a:srgbClr val="000000"/>
                </a:solidFill>
                <a:latin typeface="Arial"/>
                <a:ea typeface="Raleway Light"/>
                <a:cs typeface="Raleway Light"/>
                <a:sym typeface="Raleway Light"/>
              </a:rPr>
              <a:t>información</a:t>
            </a:r>
            <a:r>
              <a:rPr lang="en-US" sz="2400" dirty="0">
                <a:solidFill>
                  <a:srgbClr val="000000"/>
                </a:solidFill>
                <a:latin typeface="Arial"/>
                <a:ea typeface="Raleway Light"/>
                <a:cs typeface="Raleway Light"/>
                <a:sym typeface="Raleway Light"/>
              </a:rPr>
              <a:t> sensible</a:t>
            </a:r>
            <a:endParaRPr lang="en-US" sz="2400" dirty="0">
              <a:latin typeface="Arial"/>
              <a:ea typeface="Calibri"/>
              <a:cs typeface="Calibri"/>
            </a:endParaRPr>
          </a:p>
          <a:p>
            <a:pPr marL="914400" lvl="1" indent="-457200">
              <a:buFont typeface="Arial"/>
              <a:buChar char="•"/>
            </a:pPr>
            <a:endParaRPr lang="en-US" sz="2400" dirty="0">
              <a:solidFill>
                <a:srgbClr val="000000"/>
              </a:solidFill>
              <a:latin typeface="Arial"/>
              <a:ea typeface="Raleway Light"/>
              <a:cs typeface="Raleway Light"/>
            </a:endParaRPr>
          </a:p>
          <a:p>
            <a:pPr marL="914400" lvl="1" indent="-457200">
              <a:buFont typeface="Arial"/>
              <a:buChar char="•"/>
            </a:pPr>
            <a:r>
              <a:rPr lang="en-US" sz="2400" b="1" dirty="0">
                <a:solidFill>
                  <a:srgbClr val="000000"/>
                </a:solidFill>
                <a:latin typeface="Arial"/>
                <a:ea typeface="Raleway Light"/>
                <a:cs typeface="Raleway Light"/>
                <a:sym typeface="Raleway Light"/>
              </a:rPr>
              <a:t>Disponibilidad de Tiempo: </a:t>
            </a:r>
            <a:r>
              <a:rPr lang="en-US" sz="2400" err="1">
                <a:solidFill>
                  <a:srgbClr val="000000"/>
                </a:solidFill>
                <a:latin typeface="Arial"/>
                <a:ea typeface="Raleway Light"/>
                <a:cs typeface="Raleway Light"/>
                <a:sym typeface="Raleway Light"/>
              </a:rPr>
              <a:t>Garantizar</a:t>
            </a:r>
            <a:r>
              <a:rPr lang="en-US" sz="2400" dirty="0">
                <a:solidFill>
                  <a:srgbClr val="000000"/>
                </a:solidFill>
                <a:latin typeface="Arial"/>
                <a:ea typeface="Raleway Light"/>
                <a:cs typeface="Raleway Light"/>
                <a:sym typeface="Raleway Light"/>
              </a:rPr>
              <a:t> que </a:t>
            </a:r>
            <a:r>
              <a:rPr lang="en-US" sz="2400" err="1">
                <a:solidFill>
                  <a:srgbClr val="000000"/>
                </a:solidFill>
                <a:latin typeface="Arial"/>
                <a:ea typeface="Raleway Light"/>
                <a:cs typeface="Raleway Light"/>
                <a:sym typeface="Raleway Light"/>
              </a:rPr>
              <a:t>el</a:t>
            </a:r>
            <a:r>
              <a:rPr lang="en-US" sz="2400" dirty="0">
                <a:solidFill>
                  <a:srgbClr val="000000"/>
                </a:solidFill>
                <a:latin typeface="Arial"/>
                <a:ea typeface="Raleway Light"/>
                <a:cs typeface="Raleway Light"/>
                <a:sym typeface="Raleway Light"/>
              </a:rPr>
              <a:t> </a:t>
            </a:r>
            <a:r>
              <a:rPr lang="en-US" sz="2400" err="1">
                <a:solidFill>
                  <a:srgbClr val="000000"/>
                </a:solidFill>
                <a:latin typeface="Arial"/>
                <a:ea typeface="Raleway Light"/>
                <a:cs typeface="Raleway Light"/>
                <a:sym typeface="Raleway Light"/>
              </a:rPr>
              <a:t>tiempo</a:t>
            </a:r>
            <a:r>
              <a:rPr lang="en-US" sz="2400" dirty="0">
                <a:solidFill>
                  <a:srgbClr val="000000"/>
                </a:solidFill>
                <a:latin typeface="Arial"/>
                <a:ea typeface="Raleway Light"/>
                <a:cs typeface="Raleway Light"/>
                <a:sym typeface="Raleway Light"/>
              </a:rPr>
              <a:t> se </a:t>
            </a:r>
            <a:r>
              <a:rPr lang="en-US" sz="2400" err="1">
                <a:solidFill>
                  <a:srgbClr val="000000"/>
                </a:solidFill>
                <a:latin typeface="Arial"/>
                <a:ea typeface="Raleway Light"/>
                <a:cs typeface="Raleway Light"/>
                <a:sym typeface="Raleway Light"/>
              </a:rPr>
              <a:t>ajuste</a:t>
            </a:r>
            <a:r>
              <a:rPr lang="en-US" sz="2400" dirty="0">
                <a:solidFill>
                  <a:srgbClr val="000000"/>
                </a:solidFill>
                <a:latin typeface="Arial"/>
                <a:ea typeface="Raleway Light"/>
                <a:cs typeface="Raleway Light"/>
                <a:sym typeface="Raleway Light"/>
              </a:rPr>
              <a:t> a sprints de 2 </a:t>
            </a:r>
            <a:r>
              <a:rPr lang="en-US" sz="2400" err="1">
                <a:solidFill>
                  <a:srgbClr val="000000"/>
                </a:solidFill>
                <a:latin typeface="Arial"/>
                <a:ea typeface="Raleway Light"/>
                <a:cs typeface="Raleway Light"/>
                <a:sym typeface="Raleway Light"/>
              </a:rPr>
              <a:t>semanas</a:t>
            </a:r>
            <a:r>
              <a:rPr lang="en-US" sz="2400" dirty="0">
                <a:solidFill>
                  <a:srgbClr val="000000"/>
                </a:solidFill>
                <a:latin typeface="Arial"/>
                <a:ea typeface="Raleway Light"/>
                <a:cs typeface="Raleway Light"/>
                <a:sym typeface="Raleway Light"/>
              </a:rPr>
              <a:t>, con </a:t>
            </a:r>
            <a:r>
              <a:rPr lang="en-US" sz="2400" err="1">
                <a:solidFill>
                  <a:srgbClr val="000000"/>
                </a:solidFill>
                <a:latin typeface="Arial"/>
                <a:ea typeface="Raleway Light"/>
                <a:cs typeface="Raleway Light"/>
                <a:sym typeface="Raleway Light"/>
              </a:rPr>
              <a:t>ceremonias</a:t>
            </a:r>
            <a:r>
              <a:rPr lang="en-US" sz="2400" dirty="0">
                <a:solidFill>
                  <a:srgbClr val="000000"/>
                </a:solidFill>
                <a:latin typeface="Arial"/>
                <a:ea typeface="Raleway Light"/>
                <a:cs typeface="Raleway Light"/>
                <a:sym typeface="Raleway Light"/>
              </a:rPr>
              <a:t> de SCRUM</a:t>
            </a:r>
            <a:endParaRPr lang="en-US">
              <a:latin typeface="Calibri"/>
              <a:ea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3716000" h="10287000">
                <a:moveTo>
                  <a:pt x="0" y="0"/>
                </a:moveTo>
                <a:lnTo>
                  <a:pt x="13716000" y="0"/>
                </a:lnTo>
                <a:lnTo>
                  <a:pt x="13716000" y="10287000"/>
                </a:lnTo>
                <a:lnTo>
                  <a:pt x="0" y="10287000"/>
                </a:lnTo>
                <a:lnTo>
                  <a:pt x="0" y="0"/>
                </a:lnTo>
                <a:close/>
              </a:path>
            </a:pathLst>
          </a:custGeom>
          <a:blipFill>
            <a:blip r:embed="rId2"/>
            <a:stretch>
              <a:fillRect/>
            </a:stretch>
          </a:blipFill>
        </p:spPr>
        <p:txBody>
          <a:bodyPr/>
          <a:lstStyle/>
          <a:p>
            <a:endParaRPr lang="es-CO"/>
          </a:p>
        </p:txBody>
      </p:sp>
      <p:sp>
        <p:nvSpPr>
          <p:cNvPr id="3" name="TextBox 3"/>
          <p:cNvSpPr txBox="1"/>
          <p:nvPr/>
        </p:nvSpPr>
        <p:spPr>
          <a:xfrm>
            <a:off x="1879649" y="988452"/>
            <a:ext cx="13716000" cy="764440"/>
          </a:xfrm>
          <a:prstGeom prst="rect">
            <a:avLst/>
          </a:prstGeom>
        </p:spPr>
        <p:txBody>
          <a:bodyPr lIns="0" tIns="0" rIns="0" bIns="0" rtlCol="0" anchor="t">
            <a:spAutoFit/>
          </a:bodyPr>
          <a:lstStyle/>
          <a:p>
            <a:pPr algn="ctr">
              <a:lnSpc>
                <a:spcPts val="6444"/>
              </a:lnSpc>
            </a:pPr>
            <a:r>
              <a:rPr lang="en-US" sz="4800" dirty="0">
                <a:solidFill>
                  <a:srgbClr val="000000"/>
                </a:solidFill>
                <a:latin typeface="Arial"/>
                <a:ea typeface="HK Modular"/>
                <a:cs typeface="Arial"/>
                <a:sym typeface="HK Modular"/>
              </a:rPr>
              <a:t>BIBLIOGRAFIA</a:t>
            </a:r>
            <a:endParaRPr lang="es-ES" sz="4800" dirty="0">
              <a:latin typeface="Arial"/>
              <a:cs typeface="Arial"/>
            </a:endParaRPr>
          </a:p>
        </p:txBody>
      </p:sp>
      <p:sp>
        <p:nvSpPr>
          <p:cNvPr id="4" name="TextBox 4"/>
          <p:cNvSpPr txBox="1"/>
          <p:nvPr/>
        </p:nvSpPr>
        <p:spPr>
          <a:xfrm>
            <a:off x="3182556" y="2237951"/>
            <a:ext cx="12413093" cy="5260799"/>
          </a:xfrm>
          <a:prstGeom prst="rect">
            <a:avLst/>
          </a:prstGeom>
        </p:spPr>
        <p:txBody>
          <a:bodyPr lIns="0" tIns="0" rIns="0" bIns="0" rtlCol="0" anchor="t">
            <a:spAutoFit/>
          </a:bodyPr>
          <a:lstStyle/>
          <a:p>
            <a:pPr marL="914400" lvl="1" indent="-457200">
              <a:buFont typeface="Arial"/>
              <a:buChar char="•"/>
            </a:pPr>
            <a:r>
              <a:rPr lang="en-US" sz="2400" err="1">
                <a:solidFill>
                  <a:srgbClr val="000000"/>
                </a:solidFill>
                <a:latin typeface="Arial"/>
                <a:cs typeface="Arial"/>
              </a:rPr>
              <a:t>Avramovska</a:t>
            </a:r>
            <a:r>
              <a:rPr lang="en-US" sz="2400" dirty="0">
                <a:solidFill>
                  <a:srgbClr val="000000"/>
                </a:solidFill>
                <a:latin typeface="Arial"/>
                <a:cs typeface="Arial"/>
              </a:rPr>
              <a:t>, M., Hristovska, E., &amp; Calamani, S. (2024). Applying Jira-A Tool for the Organization and Optimization of Work Processes in the Machine Industry Based on the Experience of the IT Industry. SAR Journal.</a:t>
            </a:r>
            <a:endParaRPr lang="en-US" sz="2400">
              <a:latin typeface="Arial"/>
              <a:ea typeface="Calibri"/>
              <a:cs typeface="Arial"/>
            </a:endParaRPr>
          </a:p>
          <a:p>
            <a:pPr marL="914400" lvl="1" indent="-457200">
              <a:buFont typeface="Arial"/>
              <a:buChar char="•"/>
            </a:pPr>
            <a:endParaRPr lang="en-US" sz="2400" dirty="0">
              <a:solidFill>
                <a:srgbClr val="000000"/>
              </a:solidFill>
              <a:latin typeface="Arial"/>
              <a:cs typeface="Arial"/>
            </a:endParaRPr>
          </a:p>
          <a:p>
            <a:pPr marL="914400" lvl="1" indent="-457200">
              <a:buFont typeface="Arial"/>
              <a:buChar char="•"/>
            </a:pPr>
            <a:r>
              <a:rPr lang="en-US" sz="2400" err="1">
                <a:solidFill>
                  <a:srgbClr val="000000"/>
                </a:solidFill>
                <a:latin typeface="Arial"/>
                <a:cs typeface="Arial"/>
              </a:rPr>
              <a:t>Azabache</a:t>
            </a:r>
            <a:r>
              <a:rPr lang="en-US" sz="2400" dirty="0">
                <a:solidFill>
                  <a:srgbClr val="000000"/>
                </a:solidFill>
                <a:latin typeface="Arial"/>
                <a:cs typeface="Arial"/>
              </a:rPr>
              <a:t> Santos, J. D., Ángeles Piedra, N. A., &amp; Mendoza de </a:t>
            </a:r>
            <a:r>
              <a:rPr lang="en-US" sz="2400" err="1">
                <a:solidFill>
                  <a:srgbClr val="000000"/>
                </a:solidFill>
                <a:latin typeface="Arial"/>
                <a:cs typeface="Arial"/>
              </a:rPr>
              <a:t>los</a:t>
            </a:r>
            <a:r>
              <a:rPr lang="en-US" sz="2400" dirty="0">
                <a:solidFill>
                  <a:srgbClr val="000000"/>
                </a:solidFill>
                <a:latin typeface="Arial"/>
                <a:cs typeface="Arial"/>
              </a:rPr>
              <a:t> Santos, A. C. (2023). Impacto de la </a:t>
            </a:r>
            <a:r>
              <a:rPr lang="en-US" sz="2400" err="1">
                <a:solidFill>
                  <a:srgbClr val="000000"/>
                </a:solidFill>
                <a:latin typeface="Arial"/>
                <a:cs typeface="Arial"/>
              </a:rPr>
              <a:t>integración</a:t>
            </a:r>
            <a:r>
              <a:rPr lang="en-US" sz="2400" dirty="0">
                <a:solidFill>
                  <a:srgbClr val="000000"/>
                </a:solidFill>
                <a:latin typeface="Arial"/>
                <a:cs typeface="Arial"/>
              </a:rPr>
              <a:t> del </a:t>
            </a:r>
            <a:r>
              <a:rPr lang="en-US" sz="2400" err="1">
                <a:solidFill>
                  <a:srgbClr val="000000"/>
                </a:solidFill>
                <a:latin typeface="Arial"/>
                <a:cs typeface="Arial"/>
              </a:rPr>
              <a:t>gobierno</a:t>
            </a:r>
            <a:r>
              <a:rPr lang="en-US" sz="2400" dirty="0">
                <a:solidFill>
                  <a:srgbClr val="000000"/>
                </a:solidFill>
                <a:latin typeface="Arial"/>
                <a:cs typeface="Arial"/>
              </a:rPr>
              <a:t> de TI </a:t>
            </a:r>
            <a:r>
              <a:rPr lang="en-US" sz="2400" err="1">
                <a:solidFill>
                  <a:srgbClr val="000000"/>
                </a:solidFill>
                <a:latin typeface="Arial"/>
                <a:cs typeface="Arial"/>
              </a:rPr>
              <a:t>en</a:t>
            </a:r>
            <a:r>
              <a:rPr lang="en-US" sz="2400" dirty="0">
                <a:solidFill>
                  <a:srgbClr val="000000"/>
                </a:solidFill>
                <a:latin typeface="Arial"/>
                <a:cs typeface="Arial"/>
              </a:rPr>
              <a:t> la </a:t>
            </a:r>
            <a:r>
              <a:rPr lang="en-US" sz="2400" err="1">
                <a:solidFill>
                  <a:srgbClr val="000000"/>
                </a:solidFill>
                <a:latin typeface="Arial"/>
                <a:cs typeface="Arial"/>
              </a:rPr>
              <a:t>adopción</a:t>
            </a:r>
            <a:r>
              <a:rPr lang="en-US" sz="2400" dirty="0">
                <a:solidFill>
                  <a:srgbClr val="000000"/>
                </a:solidFill>
                <a:latin typeface="Arial"/>
                <a:cs typeface="Arial"/>
              </a:rPr>
              <a:t> de la </a:t>
            </a:r>
            <a:r>
              <a:rPr lang="en-US" sz="2400" err="1">
                <a:solidFill>
                  <a:srgbClr val="000000"/>
                </a:solidFill>
                <a:latin typeface="Arial"/>
                <a:cs typeface="Arial"/>
              </a:rPr>
              <a:t>inteligencia</a:t>
            </a:r>
            <a:r>
              <a:rPr lang="en-US" sz="2400" dirty="0">
                <a:solidFill>
                  <a:srgbClr val="000000"/>
                </a:solidFill>
                <a:latin typeface="Arial"/>
                <a:cs typeface="Arial"/>
              </a:rPr>
              <a:t> artificial. </a:t>
            </a:r>
            <a:r>
              <a:rPr lang="en-US" sz="2400" err="1">
                <a:solidFill>
                  <a:srgbClr val="000000"/>
                </a:solidFill>
                <a:latin typeface="Arial"/>
                <a:cs typeface="Arial"/>
              </a:rPr>
              <a:t>Investigación</a:t>
            </a:r>
            <a:r>
              <a:rPr lang="en-US" sz="2400" dirty="0">
                <a:solidFill>
                  <a:srgbClr val="000000"/>
                </a:solidFill>
                <a:latin typeface="Arial"/>
                <a:cs typeface="Arial"/>
              </a:rPr>
              <a:t> &amp; Desarrollo, 23(2), 153–162. </a:t>
            </a:r>
            <a:r>
              <a:rPr lang="en-US" sz="2400" dirty="0">
                <a:solidFill>
                  <a:srgbClr val="000000"/>
                </a:solidFill>
                <a:latin typeface="Arial"/>
                <a:cs typeface="Arial"/>
                <a:hlinkClick r:id="rId3"/>
              </a:rPr>
              <a:t>https://doi.org/10.23881/idupbo.023.2-9e</a:t>
            </a:r>
            <a:endParaRPr lang="en-US" sz="2400">
              <a:latin typeface="Arial"/>
              <a:ea typeface="Calibri"/>
              <a:cs typeface="Arial"/>
            </a:endParaRPr>
          </a:p>
          <a:p>
            <a:pPr marL="914400" lvl="1" indent="-457200">
              <a:buFont typeface="Arial"/>
              <a:buChar char="•"/>
            </a:pPr>
            <a:endParaRPr lang="en-US" sz="2400" dirty="0">
              <a:solidFill>
                <a:srgbClr val="000000"/>
              </a:solidFill>
              <a:latin typeface="Arial"/>
              <a:cs typeface="Arial"/>
            </a:endParaRPr>
          </a:p>
          <a:p>
            <a:pPr marL="914400" lvl="1" indent="-457200">
              <a:buFont typeface="Arial"/>
              <a:buChar char="•"/>
            </a:pPr>
            <a:r>
              <a:rPr lang="en-US" sz="2400" dirty="0">
                <a:solidFill>
                  <a:srgbClr val="000000"/>
                </a:solidFill>
                <a:latin typeface="Arial"/>
                <a:cs typeface="Arial"/>
              </a:rPr>
              <a:t>Basu, A., &amp; Banerjee, K. (2021). Designing a Bot for Efficient Distribution of Service Requests. In 2021 IEEE/ACM Third International Workshop on Bots in Software Engineering (BotSE) (pp. 1–8). IEEE. </a:t>
            </a:r>
            <a:r>
              <a:rPr lang="en-US" sz="2400" dirty="0">
                <a:solidFill>
                  <a:srgbClr val="000000"/>
                </a:solidFill>
                <a:latin typeface="Arial"/>
                <a:cs typeface="Arial"/>
                <a:hlinkClick r:id="rId4"/>
              </a:rPr>
              <a:t>https://doi.org/10.1109/BotSE52550.2021.00011</a:t>
            </a:r>
            <a:endParaRPr lang="en-US" sz="2400">
              <a:latin typeface="Arial"/>
              <a:ea typeface="Calibri"/>
              <a:cs typeface="Arial"/>
            </a:endParaRPr>
          </a:p>
          <a:p>
            <a:pPr marL="300990" lvl="1" algn="l">
              <a:lnSpc>
                <a:spcPts val="3904"/>
              </a:lnSpc>
              <a:buFont typeface="Arial"/>
            </a:pPr>
            <a:endParaRPr lang="en-US" sz="2750" dirty="0">
              <a:solidFill>
                <a:srgbClr val="000000"/>
              </a:solidFill>
              <a:latin typeface="Raleway Light"/>
              <a:ea typeface="Raleway Light"/>
              <a:cs typeface="Raleway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ED44B-181D-5D8B-D5A5-33CC0883522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59196F2-A403-6946-AF31-A93F011468C2}"/>
              </a:ext>
            </a:extLst>
          </p:cNvPr>
          <p:cNvSpPr/>
          <p:nvPr/>
        </p:nvSpPr>
        <p:spPr>
          <a:xfrm>
            <a:off x="0" y="0"/>
            <a:ext cx="18288000" cy="10287000"/>
          </a:xfrm>
          <a:custGeom>
            <a:avLst/>
            <a:gdLst/>
            <a:ahLst/>
            <a:cxnLst/>
            <a:rect l="l" t="t" r="r" b="b"/>
            <a:pathLst>
              <a:path w="13716000" h="10287000">
                <a:moveTo>
                  <a:pt x="0" y="0"/>
                </a:moveTo>
                <a:lnTo>
                  <a:pt x="13716000" y="0"/>
                </a:lnTo>
                <a:lnTo>
                  <a:pt x="13716000" y="10287000"/>
                </a:lnTo>
                <a:lnTo>
                  <a:pt x="0" y="10287000"/>
                </a:lnTo>
                <a:lnTo>
                  <a:pt x="0" y="0"/>
                </a:lnTo>
                <a:close/>
              </a:path>
            </a:pathLst>
          </a:custGeom>
          <a:blipFill>
            <a:blip r:embed="rId2"/>
            <a:stretch>
              <a:fillRect/>
            </a:stretch>
          </a:blipFill>
        </p:spPr>
        <p:txBody>
          <a:bodyPr/>
          <a:lstStyle/>
          <a:p>
            <a:endParaRPr lang="es-CO"/>
          </a:p>
        </p:txBody>
      </p:sp>
      <p:sp>
        <p:nvSpPr>
          <p:cNvPr id="4" name="TextBox 4">
            <a:extLst>
              <a:ext uri="{FF2B5EF4-FFF2-40B4-BE49-F238E27FC236}">
                <a16:creationId xmlns:a16="http://schemas.microsoft.com/office/drawing/2014/main" id="{E56EA07F-E716-3023-4015-45C2E306B120}"/>
              </a:ext>
            </a:extLst>
          </p:cNvPr>
          <p:cNvSpPr txBox="1"/>
          <p:nvPr/>
        </p:nvSpPr>
        <p:spPr>
          <a:xfrm>
            <a:off x="2928556" y="1934471"/>
            <a:ext cx="12413093" cy="6430350"/>
          </a:xfrm>
          <a:prstGeom prst="rect">
            <a:avLst/>
          </a:prstGeom>
        </p:spPr>
        <p:txBody>
          <a:bodyPr lIns="0" tIns="0" rIns="0" bIns="0" rtlCol="0" anchor="t">
            <a:spAutoFit/>
          </a:bodyPr>
          <a:lstStyle/>
          <a:p>
            <a:pPr marL="914400" lvl="1" indent="-457200">
              <a:buFont typeface="Arial"/>
              <a:buChar char="•"/>
            </a:pPr>
            <a:r>
              <a:rPr lang="en-US" sz="2400" dirty="0">
                <a:solidFill>
                  <a:srgbClr val="000000"/>
                </a:solidFill>
                <a:latin typeface="Arial"/>
                <a:cs typeface="Arial"/>
              </a:rPr>
              <a:t>Departamento Nacional de </a:t>
            </a:r>
            <a:r>
              <a:rPr lang="en-US" sz="2400" err="1">
                <a:solidFill>
                  <a:srgbClr val="000000"/>
                </a:solidFill>
                <a:latin typeface="Arial"/>
                <a:cs typeface="Arial"/>
              </a:rPr>
              <a:t>Planeación</a:t>
            </a:r>
            <a:r>
              <a:rPr lang="en-US" sz="2400" dirty="0">
                <a:solidFill>
                  <a:srgbClr val="000000"/>
                </a:solidFill>
                <a:latin typeface="Arial"/>
                <a:cs typeface="Arial"/>
              </a:rPr>
              <a:t>. (2025). CONPES 4144 – Política Nacional para la </a:t>
            </a:r>
            <a:r>
              <a:rPr lang="en-US" sz="2400" err="1">
                <a:solidFill>
                  <a:srgbClr val="000000"/>
                </a:solidFill>
                <a:latin typeface="Arial"/>
                <a:cs typeface="Arial"/>
              </a:rPr>
              <a:t>Adopción</a:t>
            </a:r>
            <a:r>
              <a:rPr lang="en-US" sz="2400" dirty="0">
                <a:solidFill>
                  <a:srgbClr val="000000"/>
                </a:solidFill>
                <a:latin typeface="Arial"/>
                <a:cs typeface="Arial"/>
              </a:rPr>
              <a:t> </a:t>
            </a:r>
            <a:r>
              <a:rPr lang="en-US" sz="2400" err="1">
                <a:solidFill>
                  <a:srgbClr val="000000"/>
                </a:solidFill>
                <a:latin typeface="Arial"/>
                <a:cs typeface="Arial"/>
              </a:rPr>
              <a:t>Responsable</a:t>
            </a:r>
            <a:r>
              <a:rPr lang="en-US" sz="2400" dirty="0">
                <a:solidFill>
                  <a:srgbClr val="000000"/>
                </a:solidFill>
                <a:latin typeface="Arial"/>
                <a:cs typeface="Arial"/>
              </a:rPr>
              <a:t> de </a:t>
            </a:r>
            <a:r>
              <a:rPr lang="en-US" sz="2400" err="1">
                <a:solidFill>
                  <a:srgbClr val="000000"/>
                </a:solidFill>
                <a:latin typeface="Arial"/>
                <a:cs typeface="Arial"/>
              </a:rPr>
              <a:t>Inteligencia</a:t>
            </a:r>
            <a:r>
              <a:rPr lang="en-US" sz="2400" dirty="0">
                <a:solidFill>
                  <a:srgbClr val="000000"/>
                </a:solidFill>
                <a:latin typeface="Arial"/>
                <a:cs typeface="Arial"/>
              </a:rPr>
              <a:t> Artificial </a:t>
            </a:r>
            <a:r>
              <a:rPr lang="en-US" sz="2400" err="1">
                <a:solidFill>
                  <a:srgbClr val="000000"/>
                </a:solidFill>
                <a:latin typeface="Arial"/>
                <a:cs typeface="Arial"/>
              </a:rPr>
              <a:t>en</a:t>
            </a:r>
            <a:r>
              <a:rPr lang="en-US" sz="2400" dirty="0">
                <a:solidFill>
                  <a:srgbClr val="000000"/>
                </a:solidFill>
                <a:latin typeface="Arial"/>
                <a:cs typeface="Arial"/>
              </a:rPr>
              <a:t> Colombia. DNP.</a:t>
            </a:r>
            <a:endParaRPr lang="en-US" sz="2400">
              <a:latin typeface="Arial"/>
              <a:ea typeface="Calibri"/>
              <a:cs typeface="Arial"/>
            </a:endParaRPr>
          </a:p>
          <a:p>
            <a:pPr marL="914400" lvl="1" indent="-457200">
              <a:buFont typeface="Arial"/>
              <a:buChar char="•"/>
            </a:pPr>
            <a:endParaRPr lang="en-US" sz="2400" dirty="0">
              <a:solidFill>
                <a:srgbClr val="000000"/>
              </a:solidFill>
              <a:latin typeface="Arial"/>
              <a:cs typeface="Arial"/>
            </a:endParaRPr>
          </a:p>
          <a:p>
            <a:pPr marL="914400" lvl="1" indent="-457200">
              <a:buFont typeface="Arial"/>
              <a:buChar char="•"/>
            </a:pPr>
            <a:r>
              <a:rPr lang="en-US" sz="2400" dirty="0">
                <a:solidFill>
                  <a:srgbClr val="000000"/>
                </a:solidFill>
                <a:latin typeface="Arial"/>
                <a:cs typeface="Arial"/>
              </a:rPr>
              <a:t>IEEE. (1997). IEEE Std 1074 – Standard for Developing Software Life Cycle Processes.</a:t>
            </a:r>
            <a:endParaRPr lang="en-US" sz="2400">
              <a:latin typeface="Arial"/>
              <a:ea typeface="Calibri"/>
              <a:cs typeface="Arial"/>
            </a:endParaRPr>
          </a:p>
          <a:p>
            <a:pPr marL="914400" lvl="1" indent="-457200">
              <a:buFont typeface="Arial"/>
              <a:buChar char="•"/>
            </a:pPr>
            <a:endParaRPr lang="en-US" sz="2400" dirty="0">
              <a:solidFill>
                <a:srgbClr val="000000"/>
              </a:solidFill>
              <a:latin typeface="Arial"/>
              <a:cs typeface="Arial"/>
            </a:endParaRPr>
          </a:p>
          <a:p>
            <a:pPr marL="914400" lvl="1" indent="-457200">
              <a:buFont typeface="Arial"/>
              <a:buChar char="•"/>
            </a:pPr>
            <a:r>
              <a:rPr lang="en-US" sz="2400" dirty="0">
                <a:solidFill>
                  <a:srgbClr val="000000"/>
                </a:solidFill>
                <a:latin typeface="Arial"/>
                <a:cs typeface="Arial"/>
              </a:rPr>
              <a:t>IEEE. (1998). IEEE Std 830 – Recommended Practice for Software Requirements Specifications (SRS).</a:t>
            </a:r>
            <a:endParaRPr lang="en-US" sz="2400">
              <a:latin typeface="Arial"/>
              <a:ea typeface="Calibri"/>
              <a:cs typeface="Arial"/>
            </a:endParaRPr>
          </a:p>
          <a:p>
            <a:pPr marL="914400" lvl="1" indent="-457200">
              <a:buFont typeface="Arial"/>
              <a:buChar char="•"/>
            </a:pPr>
            <a:endParaRPr lang="en-US" sz="2400" dirty="0">
              <a:solidFill>
                <a:srgbClr val="000000"/>
              </a:solidFill>
              <a:latin typeface="Arial"/>
              <a:cs typeface="Arial"/>
            </a:endParaRPr>
          </a:p>
          <a:p>
            <a:pPr marL="914400" lvl="1" indent="-457200">
              <a:buFont typeface="Arial"/>
              <a:buChar char="•"/>
            </a:pPr>
            <a:r>
              <a:rPr lang="en-US" sz="2400" dirty="0">
                <a:solidFill>
                  <a:srgbClr val="000000"/>
                </a:solidFill>
                <a:latin typeface="Arial"/>
                <a:cs typeface="Arial"/>
              </a:rPr>
              <a:t>ISO. (2015). ISO 9001: Quality management systems — Requirements. International Organization for Standardization.</a:t>
            </a:r>
            <a:endParaRPr lang="en-US" sz="2400">
              <a:latin typeface="Arial"/>
              <a:ea typeface="Calibri"/>
              <a:cs typeface="Arial"/>
            </a:endParaRPr>
          </a:p>
          <a:p>
            <a:pPr marL="914400" lvl="1" indent="-457200">
              <a:buFont typeface="Arial"/>
              <a:buChar char="•"/>
            </a:pPr>
            <a:endParaRPr lang="en-US" sz="2400" dirty="0">
              <a:solidFill>
                <a:srgbClr val="000000"/>
              </a:solidFill>
              <a:latin typeface="Arial"/>
              <a:cs typeface="Arial"/>
            </a:endParaRPr>
          </a:p>
          <a:p>
            <a:pPr marL="914400" lvl="1" indent="-457200">
              <a:buFont typeface="Arial"/>
              <a:buChar char="•"/>
            </a:pPr>
            <a:r>
              <a:rPr lang="en-US" sz="2400" dirty="0">
                <a:solidFill>
                  <a:srgbClr val="000000"/>
                </a:solidFill>
                <a:latin typeface="Arial"/>
                <a:cs typeface="Arial"/>
              </a:rPr>
              <a:t>ISO/IEC. (2013). ISO/IEC 27001: Information technology — Security techniques — Information security management systems — Requirements. International Organization for Standardization.</a:t>
            </a:r>
            <a:endParaRPr lang="en-US" sz="2400" dirty="0">
              <a:latin typeface="Arial"/>
              <a:ea typeface="Calibri"/>
              <a:cs typeface="Arial"/>
            </a:endParaRPr>
          </a:p>
          <a:p>
            <a:pPr lvl="1"/>
            <a:endParaRPr lang="en-US" sz="2800" dirty="0">
              <a:latin typeface="Raleway Light"/>
            </a:endParaRPr>
          </a:p>
          <a:p>
            <a:pPr marL="300990" lvl="1" algn="l">
              <a:lnSpc>
                <a:spcPts val="3904"/>
              </a:lnSpc>
              <a:buFont typeface="Arial"/>
            </a:pPr>
            <a:endParaRPr lang="en-US" sz="2750" dirty="0">
              <a:solidFill>
                <a:srgbClr val="000000"/>
              </a:solidFill>
              <a:latin typeface="Raleway Light"/>
              <a:ea typeface="Raleway Light"/>
              <a:cs typeface="Raleway Light"/>
            </a:endParaRPr>
          </a:p>
        </p:txBody>
      </p:sp>
    </p:spTree>
    <p:extLst>
      <p:ext uri="{BB962C8B-B14F-4D97-AF65-F5344CB8AC3E}">
        <p14:creationId xmlns:p14="http://schemas.microsoft.com/office/powerpoint/2010/main" val="2610867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1D746-369C-8676-17DF-DC91F7A777C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72BF5D5-650A-483D-2B12-B16BE11DAC4D}"/>
              </a:ext>
            </a:extLst>
          </p:cNvPr>
          <p:cNvSpPr/>
          <p:nvPr/>
        </p:nvSpPr>
        <p:spPr>
          <a:xfrm>
            <a:off x="0" y="0"/>
            <a:ext cx="18288000" cy="10287000"/>
          </a:xfrm>
          <a:custGeom>
            <a:avLst/>
            <a:gdLst/>
            <a:ahLst/>
            <a:cxnLst/>
            <a:rect l="l" t="t" r="r" b="b"/>
            <a:pathLst>
              <a:path w="13716000" h="10287000">
                <a:moveTo>
                  <a:pt x="0" y="0"/>
                </a:moveTo>
                <a:lnTo>
                  <a:pt x="13716000" y="0"/>
                </a:lnTo>
                <a:lnTo>
                  <a:pt x="13716000" y="10287000"/>
                </a:lnTo>
                <a:lnTo>
                  <a:pt x="0" y="10287000"/>
                </a:lnTo>
                <a:lnTo>
                  <a:pt x="0" y="0"/>
                </a:lnTo>
                <a:close/>
              </a:path>
            </a:pathLst>
          </a:custGeom>
          <a:blipFill>
            <a:blip r:embed="rId2"/>
            <a:stretch>
              <a:fillRect/>
            </a:stretch>
          </a:blipFill>
        </p:spPr>
        <p:txBody>
          <a:bodyPr/>
          <a:lstStyle/>
          <a:p>
            <a:endParaRPr lang="es-CO"/>
          </a:p>
        </p:txBody>
      </p:sp>
      <p:sp>
        <p:nvSpPr>
          <p:cNvPr id="4" name="TextBox 4">
            <a:extLst>
              <a:ext uri="{FF2B5EF4-FFF2-40B4-BE49-F238E27FC236}">
                <a16:creationId xmlns:a16="http://schemas.microsoft.com/office/drawing/2014/main" id="{BEA8366B-9B0B-B6EC-544A-0BB20DEFF1FD}"/>
              </a:ext>
            </a:extLst>
          </p:cNvPr>
          <p:cNvSpPr txBox="1"/>
          <p:nvPr/>
        </p:nvSpPr>
        <p:spPr>
          <a:xfrm>
            <a:off x="2944225" y="1903958"/>
            <a:ext cx="12413093" cy="6491905"/>
          </a:xfrm>
          <a:prstGeom prst="rect">
            <a:avLst/>
          </a:prstGeom>
        </p:spPr>
        <p:txBody>
          <a:bodyPr lIns="0" tIns="0" rIns="0" bIns="0" rtlCol="0" anchor="t">
            <a:spAutoFit/>
          </a:bodyPr>
          <a:lstStyle/>
          <a:p>
            <a:pPr marL="914400" lvl="1" indent="-457200">
              <a:buFont typeface="Arial"/>
              <a:buChar char="•"/>
            </a:pPr>
            <a:r>
              <a:rPr lang="en-US" sz="2400" dirty="0">
                <a:solidFill>
                  <a:srgbClr val="000000"/>
                </a:solidFill>
                <a:latin typeface="Arial"/>
                <a:cs typeface="Arial"/>
              </a:rPr>
              <a:t>ISO/IEC. (2017). ISO/IEC 12207: Systems and software engineering — Software life cycle processes.</a:t>
            </a:r>
            <a:endParaRPr lang="en-US" sz="2400">
              <a:latin typeface="Arial"/>
              <a:ea typeface="Calibri"/>
              <a:cs typeface="Arial"/>
            </a:endParaRPr>
          </a:p>
          <a:p>
            <a:pPr marL="914400" lvl="1" indent="-457200">
              <a:buFont typeface="Arial"/>
              <a:buChar char="•"/>
            </a:pPr>
            <a:endParaRPr lang="en-US" sz="2400" dirty="0">
              <a:solidFill>
                <a:srgbClr val="000000"/>
              </a:solidFill>
              <a:latin typeface="Arial"/>
              <a:cs typeface="Arial"/>
            </a:endParaRPr>
          </a:p>
          <a:p>
            <a:pPr marL="914400" lvl="1" indent="-457200">
              <a:buFont typeface="Arial"/>
              <a:buChar char="•"/>
            </a:pPr>
            <a:r>
              <a:rPr lang="en-US" sz="2400" dirty="0">
                <a:solidFill>
                  <a:srgbClr val="000000"/>
                </a:solidFill>
                <a:latin typeface="Arial"/>
                <a:cs typeface="Arial"/>
              </a:rPr>
              <a:t>Lara Medina, A. (2024). La </a:t>
            </a:r>
            <a:r>
              <a:rPr lang="en-US" sz="2400" err="1">
                <a:solidFill>
                  <a:srgbClr val="000000"/>
                </a:solidFill>
                <a:latin typeface="Arial"/>
                <a:cs typeface="Arial"/>
              </a:rPr>
              <a:t>Inteligencia</a:t>
            </a:r>
            <a:r>
              <a:rPr lang="en-US" sz="2400" dirty="0">
                <a:solidFill>
                  <a:srgbClr val="000000"/>
                </a:solidFill>
                <a:latin typeface="Arial"/>
                <a:cs typeface="Arial"/>
              </a:rPr>
              <a:t> Artificial </a:t>
            </a:r>
            <a:r>
              <a:rPr lang="en-US" sz="2400" err="1">
                <a:solidFill>
                  <a:srgbClr val="000000"/>
                </a:solidFill>
                <a:latin typeface="Arial"/>
                <a:cs typeface="Arial"/>
              </a:rPr>
              <a:t>aplicada</a:t>
            </a:r>
            <a:r>
              <a:rPr lang="en-US" sz="2400" dirty="0">
                <a:solidFill>
                  <a:srgbClr val="000000"/>
                </a:solidFill>
                <a:latin typeface="Arial"/>
                <a:cs typeface="Arial"/>
              </a:rPr>
              <a:t> a la </a:t>
            </a:r>
            <a:r>
              <a:rPr lang="en-US" sz="2400" err="1">
                <a:solidFill>
                  <a:srgbClr val="000000"/>
                </a:solidFill>
                <a:latin typeface="Arial"/>
                <a:cs typeface="Arial"/>
              </a:rPr>
              <a:t>Gestión</a:t>
            </a:r>
            <a:r>
              <a:rPr lang="en-US" sz="2400" dirty="0">
                <a:solidFill>
                  <a:srgbClr val="000000"/>
                </a:solidFill>
                <a:latin typeface="Arial"/>
                <a:cs typeface="Arial"/>
              </a:rPr>
              <a:t> de Proyectos. Un </a:t>
            </a:r>
            <a:r>
              <a:rPr lang="en-US" sz="2400" err="1">
                <a:solidFill>
                  <a:srgbClr val="000000"/>
                </a:solidFill>
                <a:latin typeface="Arial"/>
                <a:cs typeface="Arial"/>
              </a:rPr>
              <a:t>estudio</a:t>
            </a:r>
            <a:r>
              <a:rPr lang="en-US" sz="2400" dirty="0">
                <a:solidFill>
                  <a:srgbClr val="000000"/>
                </a:solidFill>
                <a:latin typeface="Arial"/>
                <a:cs typeface="Arial"/>
              </a:rPr>
              <a:t> del Estado del Arte [</a:t>
            </a:r>
            <a:r>
              <a:rPr lang="en-US" sz="2400" err="1">
                <a:solidFill>
                  <a:srgbClr val="000000"/>
                </a:solidFill>
                <a:latin typeface="Arial"/>
                <a:cs typeface="Arial"/>
              </a:rPr>
              <a:t>Trabajo</a:t>
            </a:r>
            <a:r>
              <a:rPr lang="en-US" sz="2400" dirty="0">
                <a:solidFill>
                  <a:srgbClr val="000000"/>
                </a:solidFill>
                <a:latin typeface="Arial"/>
                <a:cs typeface="Arial"/>
              </a:rPr>
              <a:t> Fin de </a:t>
            </a:r>
            <a:r>
              <a:rPr lang="en-US" sz="2400" err="1">
                <a:solidFill>
                  <a:srgbClr val="000000"/>
                </a:solidFill>
                <a:latin typeface="Arial"/>
                <a:cs typeface="Arial"/>
              </a:rPr>
              <a:t>Máster</a:t>
            </a:r>
            <a:r>
              <a:rPr lang="en-US" sz="2400" dirty="0">
                <a:solidFill>
                  <a:srgbClr val="000000"/>
                </a:solidFill>
                <a:latin typeface="Arial"/>
                <a:cs typeface="Arial"/>
              </a:rPr>
              <a:t>]. Universidad Politécnica de Valencia.</a:t>
            </a:r>
            <a:endParaRPr lang="en-US" sz="2400">
              <a:latin typeface="Arial"/>
              <a:ea typeface="Calibri"/>
              <a:cs typeface="Arial"/>
            </a:endParaRPr>
          </a:p>
          <a:p>
            <a:pPr marL="914400" lvl="1" indent="-457200">
              <a:buFont typeface="Arial"/>
              <a:buChar char="•"/>
            </a:pPr>
            <a:endParaRPr lang="en-US" sz="2400" dirty="0">
              <a:solidFill>
                <a:srgbClr val="000000"/>
              </a:solidFill>
              <a:latin typeface="Arial"/>
              <a:cs typeface="Arial"/>
            </a:endParaRPr>
          </a:p>
          <a:p>
            <a:pPr marL="914400" lvl="1" indent="-457200">
              <a:buFont typeface="Arial"/>
              <a:buChar char="•"/>
            </a:pPr>
            <a:r>
              <a:rPr lang="en-US" sz="2400" dirty="0">
                <a:solidFill>
                  <a:srgbClr val="000000"/>
                </a:solidFill>
                <a:latin typeface="Arial"/>
                <a:cs typeface="Arial"/>
              </a:rPr>
              <a:t>Paul, R., &amp; Elder, L. (2003). Una mini-</a:t>
            </a:r>
            <a:r>
              <a:rPr lang="en-US" sz="2400" err="1">
                <a:solidFill>
                  <a:srgbClr val="000000"/>
                </a:solidFill>
                <a:latin typeface="Arial"/>
                <a:cs typeface="Arial"/>
              </a:rPr>
              <a:t>guía</a:t>
            </a:r>
            <a:r>
              <a:rPr lang="en-US" sz="2400" dirty="0">
                <a:solidFill>
                  <a:srgbClr val="000000"/>
                </a:solidFill>
                <a:latin typeface="Arial"/>
                <a:cs typeface="Arial"/>
              </a:rPr>
              <a:t> para </a:t>
            </a:r>
            <a:r>
              <a:rPr lang="en-US" sz="2400" err="1">
                <a:solidFill>
                  <a:srgbClr val="000000"/>
                </a:solidFill>
                <a:latin typeface="Arial"/>
                <a:cs typeface="Arial"/>
              </a:rPr>
              <a:t>el</a:t>
            </a:r>
            <a:r>
              <a:rPr lang="en-US" sz="2400" dirty="0">
                <a:solidFill>
                  <a:srgbClr val="000000"/>
                </a:solidFill>
                <a:latin typeface="Arial"/>
                <a:cs typeface="Arial"/>
              </a:rPr>
              <a:t> </a:t>
            </a:r>
            <a:r>
              <a:rPr lang="en-US" sz="2400" err="1">
                <a:solidFill>
                  <a:srgbClr val="000000"/>
                </a:solidFill>
                <a:latin typeface="Arial"/>
                <a:cs typeface="Arial"/>
              </a:rPr>
              <a:t>pensamiento</a:t>
            </a:r>
            <a:r>
              <a:rPr lang="en-US" sz="2400" dirty="0">
                <a:solidFill>
                  <a:srgbClr val="000000"/>
                </a:solidFill>
                <a:latin typeface="Arial"/>
                <a:cs typeface="Arial"/>
              </a:rPr>
              <a:t> </a:t>
            </a:r>
            <a:r>
              <a:rPr lang="en-US" sz="2400" err="1">
                <a:solidFill>
                  <a:srgbClr val="000000"/>
                </a:solidFill>
                <a:latin typeface="Arial"/>
                <a:cs typeface="Arial"/>
              </a:rPr>
              <a:t>crítico</a:t>
            </a:r>
            <a:r>
              <a:rPr lang="en-US" sz="2400" dirty="0">
                <a:solidFill>
                  <a:srgbClr val="000000"/>
                </a:solidFill>
                <a:latin typeface="Arial"/>
                <a:cs typeface="Arial"/>
              </a:rPr>
              <a:t>: </a:t>
            </a:r>
            <a:r>
              <a:rPr lang="en-US" sz="2400" err="1">
                <a:solidFill>
                  <a:srgbClr val="000000"/>
                </a:solidFill>
                <a:latin typeface="Arial"/>
                <a:cs typeface="Arial"/>
              </a:rPr>
              <a:t>conceptos</a:t>
            </a:r>
            <a:r>
              <a:rPr lang="en-US" sz="2400" dirty="0">
                <a:solidFill>
                  <a:srgbClr val="000000"/>
                </a:solidFill>
                <a:latin typeface="Arial"/>
                <a:cs typeface="Arial"/>
              </a:rPr>
              <a:t> y </a:t>
            </a:r>
            <a:r>
              <a:rPr lang="en-US" sz="2400" err="1">
                <a:solidFill>
                  <a:srgbClr val="000000"/>
                </a:solidFill>
                <a:latin typeface="Arial"/>
                <a:cs typeface="Arial"/>
              </a:rPr>
              <a:t>herramientas</a:t>
            </a:r>
            <a:r>
              <a:rPr lang="en-US" sz="2400" dirty="0">
                <a:solidFill>
                  <a:srgbClr val="000000"/>
                </a:solidFill>
                <a:latin typeface="Arial"/>
                <a:cs typeface="Arial"/>
              </a:rPr>
              <a:t>. Foundation for Critical Thinking.</a:t>
            </a:r>
            <a:endParaRPr lang="en-US" sz="2400">
              <a:latin typeface="Arial"/>
              <a:ea typeface="Calibri"/>
              <a:cs typeface="Arial"/>
            </a:endParaRPr>
          </a:p>
          <a:p>
            <a:pPr marL="914400" lvl="1" indent="-457200">
              <a:buFont typeface="Arial"/>
              <a:buChar char="•"/>
            </a:pPr>
            <a:endParaRPr lang="en-US" sz="2400" dirty="0">
              <a:solidFill>
                <a:srgbClr val="000000"/>
              </a:solidFill>
              <a:latin typeface="Arial"/>
              <a:cs typeface="Arial"/>
            </a:endParaRPr>
          </a:p>
          <a:p>
            <a:pPr marL="914400" lvl="1" indent="-457200">
              <a:buFont typeface="Arial"/>
              <a:buChar char="•"/>
            </a:pPr>
            <a:r>
              <a:rPr lang="en-US" sz="2400" dirty="0">
                <a:solidFill>
                  <a:srgbClr val="000000"/>
                </a:solidFill>
                <a:latin typeface="Arial"/>
                <a:cs typeface="Arial"/>
              </a:rPr>
              <a:t>Pressman, R. S. (</a:t>
            </a:r>
            <a:r>
              <a:rPr lang="en-US" sz="2400" err="1">
                <a:solidFill>
                  <a:srgbClr val="000000"/>
                </a:solidFill>
                <a:latin typeface="Arial"/>
                <a:cs typeface="Arial"/>
              </a:rPr>
              <a:t>s.f.</a:t>
            </a:r>
            <a:r>
              <a:rPr lang="en-US" sz="2400" dirty="0">
                <a:solidFill>
                  <a:srgbClr val="000000"/>
                </a:solidFill>
                <a:latin typeface="Arial"/>
                <a:cs typeface="Arial"/>
              </a:rPr>
              <a:t>). Ingeniería de Software: Un </a:t>
            </a:r>
            <a:r>
              <a:rPr lang="en-US" sz="2400" err="1">
                <a:solidFill>
                  <a:srgbClr val="000000"/>
                </a:solidFill>
                <a:latin typeface="Arial"/>
                <a:cs typeface="Arial"/>
              </a:rPr>
              <a:t>Enfoque</a:t>
            </a:r>
            <a:r>
              <a:rPr lang="en-US" sz="2400" dirty="0">
                <a:solidFill>
                  <a:srgbClr val="000000"/>
                </a:solidFill>
                <a:latin typeface="Arial"/>
                <a:cs typeface="Arial"/>
              </a:rPr>
              <a:t> </a:t>
            </a:r>
            <a:r>
              <a:rPr lang="en-US" sz="2400" err="1">
                <a:solidFill>
                  <a:srgbClr val="000000"/>
                </a:solidFill>
                <a:latin typeface="Arial"/>
                <a:cs typeface="Arial"/>
              </a:rPr>
              <a:t>Práctico</a:t>
            </a:r>
            <a:r>
              <a:rPr lang="en-US" sz="2400" dirty="0">
                <a:solidFill>
                  <a:srgbClr val="000000"/>
                </a:solidFill>
                <a:latin typeface="Arial"/>
                <a:cs typeface="Arial"/>
              </a:rPr>
              <a:t> (7.ª ed.).</a:t>
            </a:r>
            <a:endParaRPr lang="en-US" sz="2400">
              <a:latin typeface="Arial"/>
              <a:ea typeface="Calibri"/>
              <a:cs typeface="Arial"/>
            </a:endParaRPr>
          </a:p>
          <a:p>
            <a:pPr marL="914400" lvl="1" indent="-457200">
              <a:buFont typeface="Arial"/>
              <a:buChar char="•"/>
            </a:pPr>
            <a:endParaRPr lang="en-US" sz="2400" dirty="0">
              <a:solidFill>
                <a:srgbClr val="000000"/>
              </a:solidFill>
              <a:latin typeface="Arial"/>
              <a:cs typeface="Arial"/>
            </a:endParaRPr>
          </a:p>
          <a:p>
            <a:pPr marL="914400" lvl="1" indent="-457200">
              <a:buFont typeface="Arial"/>
              <a:buChar char="•"/>
            </a:pPr>
            <a:r>
              <a:rPr lang="en-US" sz="2400" dirty="0">
                <a:solidFill>
                  <a:srgbClr val="000000"/>
                </a:solidFill>
                <a:latin typeface="Arial"/>
                <a:cs typeface="Arial"/>
              </a:rPr>
              <a:t>Project Management Institute. (2017). A Guide to the Project Management Body of Knowledge (PMBOK® Guide) (6th ed.).</a:t>
            </a:r>
            <a:endParaRPr lang="en-US" dirty="0">
              <a:latin typeface="Arial"/>
              <a:ea typeface="Calibri"/>
              <a:cs typeface="Arial"/>
            </a:endParaRPr>
          </a:p>
          <a:p>
            <a:pPr lvl="1"/>
            <a:endParaRPr lang="en-US" sz="2800" dirty="0">
              <a:latin typeface="Raleway Light"/>
            </a:endParaRPr>
          </a:p>
          <a:p>
            <a:pPr lvl="1"/>
            <a:endParaRPr lang="en-US" sz="2800" dirty="0">
              <a:latin typeface="Raleway Light"/>
            </a:endParaRPr>
          </a:p>
          <a:p>
            <a:pPr marL="300990" lvl="1" algn="l">
              <a:lnSpc>
                <a:spcPts val="3904"/>
              </a:lnSpc>
              <a:buFont typeface="Arial"/>
            </a:pPr>
            <a:endParaRPr lang="en-US" sz="2750" dirty="0">
              <a:solidFill>
                <a:srgbClr val="000000"/>
              </a:solidFill>
              <a:latin typeface="Raleway Light"/>
              <a:ea typeface="Raleway Light"/>
              <a:cs typeface="Raleway Light"/>
            </a:endParaRPr>
          </a:p>
        </p:txBody>
      </p:sp>
    </p:spTree>
    <p:extLst>
      <p:ext uri="{BB962C8B-B14F-4D97-AF65-F5344CB8AC3E}">
        <p14:creationId xmlns:p14="http://schemas.microsoft.com/office/powerpoint/2010/main" val="2797463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0160E-8AF4-59C7-4E73-D2861410CCE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0D5C6EE-3D90-54D4-559A-BF9CECDCA7B6}"/>
              </a:ext>
            </a:extLst>
          </p:cNvPr>
          <p:cNvSpPr/>
          <p:nvPr/>
        </p:nvSpPr>
        <p:spPr>
          <a:xfrm>
            <a:off x="0" y="0"/>
            <a:ext cx="18288000" cy="10287000"/>
          </a:xfrm>
          <a:custGeom>
            <a:avLst/>
            <a:gdLst/>
            <a:ahLst/>
            <a:cxnLst/>
            <a:rect l="l" t="t" r="r" b="b"/>
            <a:pathLst>
              <a:path w="13716000" h="10287000">
                <a:moveTo>
                  <a:pt x="0" y="0"/>
                </a:moveTo>
                <a:lnTo>
                  <a:pt x="13716000" y="0"/>
                </a:lnTo>
                <a:lnTo>
                  <a:pt x="13716000" y="10287000"/>
                </a:lnTo>
                <a:lnTo>
                  <a:pt x="0" y="10287000"/>
                </a:lnTo>
                <a:lnTo>
                  <a:pt x="0" y="0"/>
                </a:lnTo>
                <a:close/>
              </a:path>
            </a:pathLst>
          </a:custGeom>
          <a:blipFill>
            <a:blip r:embed="rId2"/>
            <a:stretch>
              <a:fillRect/>
            </a:stretch>
          </a:blipFill>
        </p:spPr>
        <p:txBody>
          <a:bodyPr/>
          <a:lstStyle/>
          <a:p>
            <a:endParaRPr lang="es-CO"/>
          </a:p>
        </p:txBody>
      </p:sp>
      <p:sp>
        <p:nvSpPr>
          <p:cNvPr id="4" name="TextBox 4">
            <a:extLst>
              <a:ext uri="{FF2B5EF4-FFF2-40B4-BE49-F238E27FC236}">
                <a16:creationId xmlns:a16="http://schemas.microsoft.com/office/drawing/2014/main" id="{B9ECD57E-D724-1E61-834A-68623CC67F03}"/>
              </a:ext>
            </a:extLst>
          </p:cNvPr>
          <p:cNvSpPr txBox="1"/>
          <p:nvPr/>
        </p:nvSpPr>
        <p:spPr>
          <a:xfrm>
            <a:off x="2944225" y="2557101"/>
            <a:ext cx="12413093" cy="5170646"/>
          </a:xfrm>
          <a:prstGeom prst="rect">
            <a:avLst/>
          </a:prstGeom>
        </p:spPr>
        <p:txBody>
          <a:bodyPr lIns="0" tIns="0" rIns="0" bIns="0" rtlCol="0" anchor="t">
            <a:spAutoFit/>
          </a:bodyPr>
          <a:lstStyle/>
          <a:p>
            <a:pPr marL="914400" lvl="1" indent="-457200">
              <a:buFont typeface="Arial"/>
              <a:buChar char="•"/>
            </a:pPr>
            <a:r>
              <a:rPr lang="en-US" sz="2400" dirty="0">
                <a:solidFill>
                  <a:srgbClr val="000000"/>
                </a:solidFill>
                <a:latin typeface="Arial"/>
                <a:cs typeface="Arial"/>
              </a:rPr>
              <a:t>Schwaber, K., &amp; Sutherland, J. (2020). The Scrum Guide: The Definitive Guide to Scrum. The Rules of the Game. Scrum.org.</a:t>
            </a:r>
            <a:endParaRPr lang="en-US" sz="2400">
              <a:latin typeface="Arial"/>
              <a:ea typeface="Calibri"/>
              <a:cs typeface="Arial"/>
            </a:endParaRPr>
          </a:p>
          <a:p>
            <a:pPr marL="914400" lvl="1" indent="-457200">
              <a:buFont typeface="Arial"/>
              <a:buChar char="•"/>
            </a:pPr>
            <a:r>
              <a:rPr lang="en-US" sz="2400" dirty="0">
                <a:solidFill>
                  <a:srgbClr val="000000"/>
                </a:solidFill>
                <a:latin typeface="Arial"/>
                <a:cs typeface="Arial"/>
              </a:rPr>
              <a:t>Shafiq, S., </a:t>
            </a:r>
            <a:r>
              <a:rPr lang="en-US" sz="2400" err="1">
                <a:solidFill>
                  <a:srgbClr val="000000"/>
                </a:solidFill>
                <a:latin typeface="Arial"/>
                <a:cs typeface="Arial"/>
              </a:rPr>
              <a:t>Mashkoor</a:t>
            </a:r>
            <a:r>
              <a:rPr lang="en-US" sz="2400" dirty="0">
                <a:solidFill>
                  <a:srgbClr val="000000"/>
                </a:solidFill>
                <a:latin typeface="Arial"/>
                <a:cs typeface="Arial"/>
              </a:rPr>
              <a:t>, A., Mayr-Dorn, C., &amp; Egyed, A. (2021). </a:t>
            </a:r>
            <a:r>
              <a:rPr lang="en-US" sz="2400" err="1">
                <a:solidFill>
                  <a:srgbClr val="000000"/>
                </a:solidFill>
                <a:latin typeface="Arial"/>
                <a:cs typeface="Arial"/>
              </a:rPr>
              <a:t>TaskAllocator</a:t>
            </a:r>
            <a:r>
              <a:rPr lang="en-US" sz="2400" dirty="0">
                <a:solidFill>
                  <a:srgbClr val="000000"/>
                </a:solidFill>
                <a:latin typeface="Arial"/>
                <a:cs typeface="Arial"/>
              </a:rPr>
              <a:t>: A Recommendation Approach for Role-based Tasks Allocation in Agile Software Development. In 2021 IEEE/ACM 1st International Conference on Software &amp; Systems Processes (ICSSP-ICGSE) (pp. 1–10). IEEE. </a:t>
            </a:r>
            <a:r>
              <a:rPr lang="en-US" sz="2400" dirty="0">
                <a:solidFill>
                  <a:srgbClr val="000000"/>
                </a:solidFill>
                <a:latin typeface="Arial"/>
                <a:cs typeface="Arial"/>
                <a:hlinkClick r:id="rId3"/>
              </a:rPr>
              <a:t>https://doi.org/10.1109/ICSSP-ICGSE52873.2021.00014</a:t>
            </a:r>
            <a:endParaRPr lang="en-US" sz="2400">
              <a:latin typeface="Arial"/>
              <a:ea typeface="Calibri"/>
              <a:cs typeface="Arial"/>
            </a:endParaRPr>
          </a:p>
          <a:p>
            <a:pPr marL="914400" lvl="1" indent="-457200">
              <a:buFont typeface="Arial"/>
              <a:buChar char="•"/>
            </a:pPr>
            <a:r>
              <a:rPr lang="en-US" sz="2400" dirty="0" err="1">
                <a:solidFill>
                  <a:srgbClr val="000000"/>
                </a:solidFill>
                <a:latin typeface="Arial"/>
                <a:cs typeface="Arial"/>
              </a:rPr>
              <a:t>Takerngsaksiri</a:t>
            </a:r>
            <a:r>
              <a:rPr lang="en-US" sz="2400" dirty="0">
                <a:solidFill>
                  <a:srgbClr val="000000"/>
                </a:solidFill>
                <a:latin typeface="Arial"/>
                <a:cs typeface="Arial"/>
              </a:rPr>
              <a:t>, W., </a:t>
            </a:r>
            <a:r>
              <a:rPr lang="en-US" sz="2400" dirty="0" err="1">
                <a:solidFill>
                  <a:srgbClr val="000000"/>
                </a:solidFill>
                <a:latin typeface="Arial"/>
                <a:cs typeface="Arial"/>
              </a:rPr>
              <a:t>Pasuksmit</a:t>
            </a:r>
            <a:r>
              <a:rPr lang="en-US" sz="2400" dirty="0">
                <a:solidFill>
                  <a:srgbClr val="000000"/>
                </a:solidFill>
                <a:latin typeface="Arial"/>
                <a:cs typeface="Arial"/>
              </a:rPr>
              <a:t>, J., </a:t>
            </a:r>
            <a:r>
              <a:rPr lang="en-US" sz="2400" dirty="0" err="1">
                <a:solidFill>
                  <a:srgbClr val="000000"/>
                </a:solidFill>
                <a:latin typeface="Arial"/>
                <a:cs typeface="Arial"/>
              </a:rPr>
              <a:t>Thongtanunam</a:t>
            </a:r>
            <a:r>
              <a:rPr lang="en-US" sz="2400" dirty="0">
                <a:solidFill>
                  <a:srgbClr val="000000"/>
                </a:solidFill>
                <a:latin typeface="Arial"/>
                <a:cs typeface="Arial"/>
              </a:rPr>
              <a:t>, P., </a:t>
            </a:r>
            <a:r>
              <a:rPr lang="en-US" sz="2400" dirty="0" err="1">
                <a:solidFill>
                  <a:srgbClr val="000000"/>
                </a:solidFill>
                <a:latin typeface="Arial"/>
                <a:cs typeface="Arial"/>
              </a:rPr>
              <a:t>Tantithamthavorn</a:t>
            </a:r>
            <a:r>
              <a:rPr lang="en-US" sz="2400" dirty="0">
                <a:solidFill>
                  <a:srgbClr val="000000"/>
                </a:solidFill>
                <a:latin typeface="Arial"/>
                <a:cs typeface="Arial"/>
              </a:rPr>
              <a:t>, C., Zhang, R., Jiang, F.,... &amp; Wu, M. (2025). Human-in-the-loop LLM-based Agents framework. </a:t>
            </a:r>
            <a:r>
              <a:rPr lang="en-US" sz="2400" dirty="0" err="1">
                <a:solidFill>
                  <a:srgbClr val="000000"/>
                </a:solidFill>
                <a:latin typeface="Arial"/>
                <a:cs typeface="Arial"/>
              </a:rPr>
              <a:t>arXiv</a:t>
            </a:r>
            <a:r>
              <a:rPr lang="en-US" sz="2400" dirty="0">
                <a:solidFill>
                  <a:srgbClr val="000000"/>
                </a:solidFill>
                <a:latin typeface="Arial"/>
                <a:cs typeface="Arial"/>
              </a:rPr>
              <a:t> preprint, arXiv:2411.12924. </a:t>
            </a:r>
            <a:r>
              <a:rPr lang="en-US" sz="2400" dirty="0">
                <a:solidFill>
                  <a:srgbClr val="000000"/>
                </a:solidFill>
                <a:latin typeface="Arial"/>
                <a:cs typeface="Arial"/>
                <a:hlinkClick r:id="rId4"/>
              </a:rPr>
              <a:t>https://doi.org/10.1109/msr66628.2025.00112</a:t>
            </a:r>
            <a:endParaRPr lang="en-US" sz="2400">
              <a:latin typeface="Arial"/>
              <a:ea typeface="Calibri"/>
              <a:cs typeface="Arial"/>
            </a:endParaRPr>
          </a:p>
          <a:p>
            <a:pPr marL="914400" indent="-457200">
              <a:buFont typeface="Arial"/>
              <a:buChar char="•"/>
            </a:pPr>
            <a:r>
              <a:rPr lang="en-US" sz="2400" dirty="0">
                <a:latin typeface="Arial"/>
                <a:ea typeface="Calibri"/>
                <a:cs typeface="Calibri"/>
              </a:rPr>
              <a:t>UNESCO. (2021). Recommendation on the Ethics of Artificial Intelligence. UNESCO Publishing.</a:t>
            </a:r>
          </a:p>
          <a:p>
            <a:pPr marL="914400" lvl="1" indent="-457200">
              <a:buFont typeface="Arial"/>
              <a:buChar char="•"/>
            </a:pPr>
            <a:r>
              <a:rPr lang="en-US" sz="2400" dirty="0">
                <a:latin typeface="Arial"/>
                <a:ea typeface="Calibri"/>
                <a:cs typeface="Calibri"/>
              </a:rPr>
              <a:t>Universidad Santiago de Cali. (2025). Circular </a:t>
            </a:r>
            <a:r>
              <a:rPr lang="en-US" sz="2400" dirty="0" err="1">
                <a:latin typeface="Arial"/>
                <a:ea typeface="Calibri"/>
                <a:cs typeface="Calibri"/>
              </a:rPr>
              <a:t>Normativa</a:t>
            </a:r>
            <a:r>
              <a:rPr lang="en-US" sz="2400" dirty="0">
                <a:latin typeface="Arial"/>
                <a:ea typeface="Calibri"/>
                <a:cs typeface="Calibri"/>
              </a:rPr>
              <a:t> DGI No. 001 – </a:t>
            </a:r>
            <a:r>
              <a:rPr lang="en-US" sz="2400" dirty="0" err="1">
                <a:latin typeface="Arial"/>
                <a:ea typeface="Calibri"/>
                <a:cs typeface="Calibri"/>
              </a:rPr>
              <a:t>Lineamientos</a:t>
            </a:r>
            <a:r>
              <a:rPr lang="en-US" sz="2400" dirty="0">
                <a:latin typeface="Arial"/>
                <a:ea typeface="Calibri"/>
                <a:cs typeface="Calibri"/>
              </a:rPr>
              <a:t> para </a:t>
            </a:r>
            <a:r>
              <a:rPr lang="en-US" sz="2400" dirty="0" err="1">
                <a:latin typeface="Arial"/>
                <a:ea typeface="Calibri"/>
                <a:cs typeface="Calibri"/>
              </a:rPr>
              <a:t>el</a:t>
            </a:r>
            <a:r>
              <a:rPr lang="en-US" sz="2400" dirty="0">
                <a:latin typeface="Arial"/>
                <a:ea typeface="Calibri"/>
                <a:cs typeface="Calibri"/>
              </a:rPr>
              <a:t> </a:t>
            </a:r>
            <a:r>
              <a:rPr lang="en-US" sz="2400" dirty="0" err="1">
                <a:latin typeface="Arial"/>
                <a:ea typeface="Calibri"/>
                <a:cs typeface="Calibri"/>
              </a:rPr>
              <a:t>uso</a:t>
            </a:r>
            <a:r>
              <a:rPr lang="en-US" sz="2400" dirty="0">
                <a:latin typeface="Arial"/>
                <a:ea typeface="Calibri"/>
                <a:cs typeface="Calibri"/>
              </a:rPr>
              <a:t> </a:t>
            </a:r>
            <a:r>
              <a:rPr lang="en-US" sz="2400" dirty="0" err="1">
                <a:latin typeface="Arial"/>
                <a:ea typeface="Calibri"/>
                <a:cs typeface="Calibri"/>
              </a:rPr>
              <a:t>responsable</a:t>
            </a:r>
            <a:r>
              <a:rPr lang="en-US" sz="2400" dirty="0">
                <a:latin typeface="Arial"/>
                <a:ea typeface="Calibri"/>
                <a:cs typeface="Calibri"/>
              </a:rPr>
              <a:t> de la IA </a:t>
            </a:r>
            <a:r>
              <a:rPr lang="en-US" sz="2400" dirty="0" err="1">
                <a:latin typeface="Arial"/>
                <a:ea typeface="Calibri"/>
                <a:cs typeface="Calibri"/>
              </a:rPr>
              <a:t>en</a:t>
            </a:r>
            <a:r>
              <a:rPr lang="en-US" sz="2400">
                <a:latin typeface="Arial"/>
                <a:ea typeface="Calibri"/>
                <a:cs typeface="Calibri"/>
              </a:rPr>
              <a:t> la USC.</a:t>
            </a:r>
          </a:p>
        </p:txBody>
      </p:sp>
    </p:spTree>
    <p:extLst>
      <p:ext uri="{BB962C8B-B14F-4D97-AF65-F5344CB8AC3E}">
        <p14:creationId xmlns:p14="http://schemas.microsoft.com/office/powerpoint/2010/main" val="33527631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26F39-BDAF-FCED-0699-D8BAC8DAF48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8D50CB0-990D-5754-791E-2D7CD1E5D8FF}"/>
              </a:ext>
            </a:extLst>
          </p:cNvPr>
          <p:cNvSpPr>
            <a:spLocks noGrp="1" noRot="1" noMove="1" noResize="1" noEditPoints="1" noAdjustHandles="1" noChangeArrowheads="1" noChangeShapeType="1"/>
          </p:cNvSpPr>
          <p:nvPr/>
        </p:nvSpPr>
        <p:spPr>
          <a:xfrm>
            <a:off x="0" y="-419100"/>
            <a:ext cx="18288000" cy="10706100"/>
          </a:xfrm>
          <a:custGeom>
            <a:avLst/>
            <a:gdLst/>
            <a:ahLst/>
            <a:cxnLst/>
            <a:rect l="l" t="t" r="r" b="b"/>
            <a:pathLst>
              <a:path w="13716000" h="10287000">
                <a:moveTo>
                  <a:pt x="0" y="0"/>
                </a:moveTo>
                <a:lnTo>
                  <a:pt x="13716000" y="0"/>
                </a:lnTo>
                <a:lnTo>
                  <a:pt x="13716000" y="10287000"/>
                </a:lnTo>
                <a:lnTo>
                  <a:pt x="0" y="10287000"/>
                </a:lnTo>
                <a:lnTo>
                  <a:pt x="0" y="0"/>
                </a:lnTo>
                <a:close/>
              </a:path>
            </a:pathLst>
          </a:custGeom>
          <a:blipFill>
            <a:blip r:embed="rId2"/>
            <a:stretch>
              <a:fillRect/>
            </a:stretch>
          </a:blipFill>
        </p:spPr>
        <p:txBody>
          <a:bodyPr/>
          <a:lstStyle/>
          <a:p>
            <a:endParaRPr lang="es-CO"/>
          </a:p>
        </p:txBody>
      </p:sp>
      <p:sp>
        <p:nvSpPr>
          <p:cNvPr id="3" name="TextBox 3">
            <a:extLst>
              <a:ext uri="{FF2B5EF4-FFF2-40B4-BE49-F238E27FC236}">
                <a16:creationId xmlns:a16="http://schemas.microsoft.com/office/drawing/2014/main" id="{6A47B445-3FD9-E843-6F51-21A18B6DA06B}"/>
              </a:ext>
            </a:extLst>
          </p:cNvPr>
          <p:cNvSpPr txBox="1"/>
          <p:nvPr/>
        </p:nvSpPr>
        <p:spPr>
          <a:xfrm>
            <a:off x="8653872" y="2964156"/>
            <a:ext cx="6738117" cy="2759410"/>
          </a:xfrm>
          <a:prstGeom prst="rect">
            <a:avLst/>
          </a:prstGeom>
        </p:spPr>
        <p:txBody>
          <a:bodyPr lIns="0" tIns="0" rIns="0" bIns="0" rtlCol="0" anchor="t">
            <a:spAutoFit/>
          </a:bodyPr>
          <a:lstStyle/>
          <a:p>
            <a:pPr algn="ctr">
              <a:lnSpc>
                <a:spcPts val="4319"/>
              </a:lnSpc>
            </a:pPr>
            <a:r>
              <a:rPr lang="en-US" sz="4800" b="1" err="1">
                <a:solidFill>
                  <a:srgbClr val="FFC000"/>
                </a:solidFill>
                <a:latin typeface="Arial"/>
                <a:cs typeface="Arial"/>
                <a:sym typeface="Arial Bold"/>
              </a:rPr>
              <a:t>Muchas</a:t>
            </a:r>
            <a:r>
              <a:rPr lang="en-US" sz="4800" b="1" dirty="0">
                <a:solidFill>
                  <a:srgbClr val="FFC000"/>
                </a:solidFill>
                <a:latin typeface="Arial"/>
                <a:cs typeface="Arial"/>
                <a:sym typeface="Arial Bold"/>
              </a:rPr>
              <a:t> Gracias </a:t>
            </a:r>
            <a:r>
              <a:rPr lang="en-US" sz="4800" b="1" err="1">
                <a:solidFill>
                  <a:srgbClr val="FFC000"/>
                </a:solidFill>
                <a:latin typeface="Arial"/>
                <a:cs typeface="Arial"/>
                <a:sym typeface="Arial Bold"/>
              </a:rPr>
              <a:t>por</a:t>
            </a:r>
            <a:r>
              <a:rPr lang="en-US" sz="4800" b="1" dirty="0">
                <a:solidFill>
                  <a:srgbClr val="FFC000"/>
                </a:solidFill>
                <a:latin typeface="Arial"/>
                <a:cs typeface="Arial"/>
                <a:sym typeface="Arial Bold"/>
              </a:rPr>
              <a:t> </a:t>
            </a:r>
            <a:r>
              <a:rPr lang="en-US" sz="4800" b="1" err="1">
                <a:solidFill>
                  <a:srgbClr val="FFC000"/>
                </a:solidFill>
                <a:latin typeface="Arial"/>
                <a:cs typeface="Arial"/>
                <a:sym typeface="Arial Bold"/>
              </a:rPr>
              <a:t>Escucharnos</a:t>
            </a:r>
            <a:r>
              <a:rPr lang="en-US" sz="4800" b="1" dirty="0">
                <a:solidFill>
                  <a:srgbClr val="FFC000"/>
                </a:solidFill>
                <a:latin typeface="Arial"/>
                <a:cs typeface="Arial"/>
                <a:sym typeface="Arial Bold"/>
              </a:rPr>
              <a:t>.</a:t>
            </a:r>
            <a:endParaRPr lang="en-US" sz="4800" b="1" dirty="0">
              <a:solidFill>
                <a:srgbClr val="FFC000"/>
              </a:solidFill>
              <a:latin typeface="Arial"/>
              <a:cs typeface="Arial"/>
            </a:endParaRPr>
          </a:p>
          <a:p>
            <a:pPr algn="ctr">
              <a:lnSpc>
                <a:spcPts val="4319"/>
              </a:lnSpc>
            </a:pPr>
            <a:endParaRPr lang="en-US" sz="4800" b="1" dirty="0">
              <a:solidFill>
                <a:srgbClr val="FFC000"/>
              </a:solidFill>
              <a:latin typeface="Arial"/>
              <a:cs typeface="Arial"/>
            </a:endParaRPr>
          </a:p>
          <a:p>
            <a:pPr algn="ctr">
              <a:lnSpc>
                <a:spcPts val="4319"/>
              </a:lnSpc>
            </a:pPr>
            <a:r>
              <a:rPr lang="en-US" sz="4800" b="1" dirty="0">
                <a:solidFill>
                  <a:srgbClr val="FFC000"/>
                </a:solidFill>
                <a:latin typeface="Arial"/>
                <a:cs typeface="Arial"/>
              </a:rPr>
              <a:t>POSDATA: </a:t>
            </a:r>
            <a:r>
              <a:rPr lang="en-US" sz="4800" b="1" err="1">
                <a:solidFill>
                  <a:srgbClr val="FFC000"/>
                </a:solidFill>
                <a:latin typeface="Arial"/>
                <a:cs typeface="Arial"/>
              </a:rPr>
              <a:t>profe</a:t>
            </a:r>
            <a:r>
              <a:rPr lang="en-US" sz="4800" b="1" dirty="0">
                <a:solidFill>
                  <a:srgbClr val="FFC000"/>
                </a:solidFill>
                <a:latin typeface="Arial"/>
                <a:cs typeface="Arial"/>
              </a:rPr>
              <a:t> </a:t>
            </a:r>
            <a:r>
              <a:rPr lang="en-US" sz="4800" b="1" err="1">
                <a:solidFill>
                  <a:srgbClr val="FFC000"/>
                </a:solidFill>
                <a:latin typeface="Arial"/>
                <a:cs typeface="Arial"/>
              </a:rPr>
              <a:t>ayudenos</a:t>
            </a:r>
            <a:r>
              <a:rPr lang="en-US" sz="4800" b="1" dirty="0">
                <a:solidFill>
                  <a:srgbClr val="FFC000"/>
                </a:solidFill>
                <a:latin typeface="Arial"/>
                <a:cs typeface="Arial"/>
              </a:rPr>
              <a:t> </a:t>
            </a:r>
            <a:r>
              <a:rPr lang="en-US" sz="4800" b="1" err="1">
                <a:solidFill>
                  <a:srgbClr val="FFC000"/>
                </a:solidFill>
                <a:latin typeface="Arial"/>
                <a:cs typeface="Arial"/>
              </a:rPr>
              <a:t>plis</a:t>
            </a:r>
            <a:r>
              <a:rPr lang="en-US" sz="4800" b="1" dirty="0">
                <a:solidFill>
                  <a:srgbClr val="FFC000"/>
                </a:solidFill>
                <a:latin typeface="Arial"/>
                <a:cs typeface="Arial"/>
              </a:rPr>
              <a:t> :)</a:t>
            </a:r>
          </a:p>
        </p:txBody>
      </p:sp>
    </p:spTree>
    <p:extLst>
      <p:ext uri="{BB962C8B-B14F-4D97-AF65-F5344CB8AC3E}">
        <p14:creationId xmlns:p14="http://schemas.microsoft.com/office/powerpoint/2010/main" val="13536665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55A3B9E296FD4D8701C2EEB82AB600" ma:contentTypeVersion="16" ma:contentTypeDescription="Create a new document." ma:contentTypeScope="" ma:versionID="a4a30d96936a3a05c05ec1218c4cdc76">
  <xsd:schema xmlns:xsd="http://www.w3.org/2001/XMLSchema" xmlns:xs="http://www.w3.org/2001/XMLSchema" xmlns:p="http://schemas.microsoft.com/office/2006/metadata/properties" xmlns:ns3="de05c574-f744-49c4-b0b8-5af15bed54e9" xmlns:ns4="9061903b-1700-489f-a9f3-0eda68d9223f" targetNamespace="http://schemas.microsoft.com/office/2006/metadata/properties" ma:root="true" ma:fieldsID="1e0de01fadc2a7c13ec8dd7e226af65f" ns3:_="" ns4:_="">
    <xsd:import namespace="de05c574-f744-49c4-b0b8-5af15bed54e9"/>
    <xsd:import namespace="9061903b-1700-489f-a9f3-0eda68d9223f"/>
    <xsd:element name="properties">
      <xsd:complexType>
        <xsd:sequence>
          <xsd:element name="documentManagement">
            <xsd:complexType>
              <xsd:all>
                <xsd:element ref="ns3:_activity" minOccurs="0"/>
                <xsd:element ref="ns3:MediaServiceMetadata" minOccurs="0"/>
                <xsd:element ref="ns3:MediaServiceFastMetadata" minOccurs="0"/>
                <xsd:element ref="ns3:MediaServiceDateTaken" minOccurs="0"/>
                <xsd:element ref="ns3:MediaServiceAutoTags" minOccurs="0"/>
                <xsd:element ref="ns3:MediaLengthInSeconds"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e05c574-f744-49c4-b0b8-5af15bed54e9"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AutoTags" ma:index="12" nillable="true" ma:displayName="Tags" ma:internalName="MediaServiceAutoTags"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SystemTags" ma:index="16" nillable="true" ma:displayName="MediaServiceSystemTags" ma:hidden="true" ma:internalName="MediaServiceSystemTags" ma:readOnly="true">
      <xsd:simpleType>
        <xsd:restriction base="dms:Note"/>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061903b-1700-489f-a9f3-0eda68d9223f"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SharingHintHash" ma:index="2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de05c574-f744-49c4-b0b8-5af15bed54e9" xsi:nil="true"/>
  </documentManagement>
</p:properties>
</file>

<file path=customXml/itemProps1.xml><?xml version="1.0" encoding="utf-8"?>
<ds:datastoreItem xmlns:ds="http://schemas.openxmlformats.org/officeDocument/2006/customXml" ds:itemID="{286A879B-BB8B-494B-AAD4-5F51237857D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e05c574-f744-49c4-b0b8-5af15bed54e9"/>
    <ds:schemaRef ds:uri="9061903b-1700-489f-a9f3-0eda68d9223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BB89BB6-A7FE-4132-92FE-099E30D85D63}">
  <ds:schemaRefs>
    <ds:schemaRef ds:uri="http://schemas.microsoft.com/sharepoint/v3/contenttype/forms"/>
  </ds:schemaRefs>
</ds:datastoreItem>
</file>

<file path=customXml/itemProps3.xml><?xml version="1.0" encoding="utf-8"?>
<ds:datastoreItem xmlns:ds="http://schemas.openxmlformats.org/officeDocument/2006/customXml" ds:itemID="{D7001BC9-6EBB-40DF-AA2D-40CF7C0E8AB6}">
  <ds:schemaRefs>
    <ds:schemaRef ds:uri="http://schemas.microsoft.com/office/infopath/2007/PartnerControls"/>
    <ds:schemaRef ds:uri="de05c574-f744-49c4-b0b8-5af15bed54e9"/>
    <ds:schemaRef ds:uri="http://purl.org/dc/elements/1.1/"/>
    <ds:schemaRef ds:uri="http://purl.org/dc/terms/"/>
    <ds:schemaRef ds:uri="http://purl.org/dc/dcmitype/"/>
    <ds:schemaRef ds:uri="9061903b-1700-489f-a9f3-0eda68d9223f"/>
    <ds:schemaRef ds:uri="http://schemas.microsoft.com/office/2006/metadata/properties"/>
    <ds:schemaRef ds:uri="http://schemas.microsoft.com/office/2006/documentManagement/type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223</TotalTime>
  <Words>1568</Words>
  <Application>Microsoft Office PowerPoint</Application>
  <PresentationFormat>Personalizado</PresentationFormat>
  <Paragraphs>108</Paragraphs>
  <Slides>19</Slides>
  <Notes>0</Notes>
  <HiddenSlides>0</HiddenSlides>
  <MMClips>0</MMClips>
  <ScaleCrop>false</ScaleCrop>
  <HeadingPairs>
    <vt:vector size="4" baseType="variant">
      <vt:variant>
        <vt:lpstr>Tema</vt:lpstr>
      </vt:variant>
      <vt:variant>
        <vt:i4>1</vt:i4>
      </vt:variant>
      <vt:variant>
        <vt:lpstr>Títulos de diapositiva</vt:lpstr>
      </vt:variant>
      <vt:variant>
        <vt:i4>19</vt:i4>
      </vt:variant>
    </vt:vector>
  </HeadingPairs>
  <TitlesOfParts>
    <vt:vector size="20" baseType="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automatizacion de proyectos de gestion ti</dc:title>
  <cp:lastModifiedBy>Hilan Eduardo  Alegría Yate</cp:lastModifiedBy>
  <cp:revision>118</cp:revision>
  <dcterms:created xsi:type="dcterms:W3CDTF">2006-08-16T00:00:00Z</dcterms:created>
  <dcterms:modified xsi:type="dcterms:W3CDTF">2025-09-05T20:31:10Z</dcterms:modified>
  <dc:identifier>DAGxqbMPkgI</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0x0101001255A3B9E296FD4D8701C2EEB82AB600</vt:lpwstr>
  </property>
</Properties>
</file>